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70" r:id="rId7"/>
    <p:sldId id="259" r:id="rId8"/>
    <p:sldId id="271" r:id="rId9"/>
    <p:sldId id="273" r:id="rId10"/>
    <p:sldId id="281" r:id="rId11"/>
    <p:sldId id="260" r:id="rId12"/>
    <p:sldId id="276" r:id="rId13"/>
    <p:sldId id="279" r:id="rId14"/>
    <p:sldId id="261" r:id="rId15"/>
    <p:sldId id="262" r:id="rId16"/>
    <p:sldId id="286" r:id="rId17"/>
    <p:sldId id="287" r:id="rId18"/>
    <p:sldId id="320" r:id="rId19"/>
    <p:sldId id="319" r:id="rId20"/>
    <p:sldId id="293" r:id="rId21"/>
    <p:sldId id="294" r:id="rId22"/>
    <p:sldId id="295" r:id="rId23"/>
    <p:sldId id="302" r:id="rId24"/>
    <p:sldId id="309" r:id="rId25"/>
    <p:sldId id="310" r:id="rId26"/>
    <p:sldId id="337" r:id="rId27"/>
    <p:sldId id="311" r:id="rId28"/>
    <p:sldId id="324" r:id="rId29"/>
    <p:sldId id="313" r:id="rId30"/>
    <p:sldId id="316" r:id="rId31"/>
    <p:sldId id="264" r:id="rId32"/>
    <p:sldId id="308" r:id="rId33"/>
    <p:sldId id="325" r:id="rId34"/>
    <p:sldId id="265" r:id="rId35"/>
    <p:sldId id="307" r:id="rId36"/>
    <p:sldId id="306" r:id="rId37"/>
    <p:sldId id="299" r:id="rId38"/>
    <p:sldId id="300" r:id="rId39"/>
    <p:sldId id="301" r:id="rId40"/>
    <p:sldId id="303" r:id="rId41"/>
    <p:sldId id="304" r:id="rId42"/>
    <p:sldId id="305" r:id="rId43"/>
    <p:sldId id="267" r:id="rId44"/>
    <p:sldId id="318" r:id="rId45"/>
  </p:sldIdLst>
  <p:sldSz cx="12192000" cy="6858000"/>
  <p:notesSz cx="6858000" cy="9144000"/>
  <p:embeddedFontLst>
    <p:embeddedFont>
      <p:font typeface="Calibri" panose="020F0502020204030204"/>
      <p:regular r:id="rId49"/>
      <p:bold r:id="rId50"/>
      <p:italic r:id="rId51"/>
      <p:boldItalic r:id="rId52"/>
    </p:embeddedFont>
    <p:embeddedFont>
      <p:font typeface="Inter SemiBold" panose="02000503000000020004"/>
      <p:bold r:id="rId53"/>
    </p:embeddedFont>
    <p:embeddedFont>
      <p:font typeface="Urbanist" panose="020B0A04040200000203"/>
      <p:regular r:id="rId54"/>
      <p:bold r:id="rId55"/>
      <p:italic r:id="rId56"/>
      <p:boldItalic r:id="rId57"/>
    </p:embeddedFont>
    <p:embeddedFont>
      <p:font typeface="Inter Medium" panose="02000503000000020004"/>
      <p:bold r:id="rId58"/>
    </p:embeddedFont>
    <p:embeddedFont>
      <p:font typeface="Inter" panose="02000503000000020004"/>
      <p:bold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59" userDrawn="1">
          <p15:clr>
            <a:srgbClr val="000000"/>
          </p15:clr>
        </p15:guide>
        <p15:guide id="2" pos="292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EA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63BAAE7-5AD5-439F-8A98-D4DF17002F6F}"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59"/>
        <p:guide pos="292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font" Target="fonts/font11.fntdata"/><Relationship Id="rId58" Type="http://schemas.openxmlformats.org/officeDocument/2006/relationships/font" Target="fonts/font10.fntdata"/><Relationship Id="rId57" Type="http://schemas.openxmlformats.org/officeDocument/2006/relationships/font" Target="fonts/font9.fntdata"/><Relationship Id="rId56" Type="http://schemas.openxmlformats.org/officeDocument/2006/relationships/font" Target="fonts/font8.fntdata"/><Relationship Id="rId55" Type="http://schemas.openxmlformats.org/officeDocument/2006/relationships/font" Target="fonts/font7.fntdata"/><Relationship Id="rId54" Type="http://schemas.openxmlformats.org/officeDocument/2006/relationships/font" Target="fonts/font6.fntdata"/><Relationship Id="rId53" Type="http://schemas.openxmlformats.org/officeDocument/2006/relationships/font" Target="fonts/font5.fntdata"/><Relationship Id="rId52" Type="http://schemas.openxmlformats.org/officeDocument/2006/relationships/font" Target="fonts/font4.fntdata"/><Relationship Id="rId51" Type="http://schemas.openxmlformats.org/officeDocument/2006/relationships/font" Target="fonts/font3.fntdata"/><Relationship Id="rId50" Type="http://schemas.openxmlformats.org/officeDocument/2006/relationships/font" Target="fonts/font2.fntdata"/><Relationship Id="rId5" Type="http://schemas.openxmlformats.org/officeDocument/2006/relationships/slide" Target="slides/slide2.xml"/><Relationship Id="rId49" Type="http://schemas.openxmlformats.org/officeDocument/2006/relationships/font" Target="fonts/font1.fntdata"/><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1" name="Google Shape;91;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97"/>
        <p:cNvGrpSpPr/>
        <p:nvPr/>
      </p:nvGrpSpPr>
      <p:grpSpPr>
        <a:xfrm>
          <a:off x="0" y="0"/>
          <a:ext cx="0" cy="0"/>
          <a:chOff x="0" y="0"/>
          <a:chExt cx="0" cy="0"/>
        </a:xfrm>
      </p:grpSpPr>
      <p:sp>
        <p:nvSpPr>
          <p:cNvPr id="98" name="Google Shape;98;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9" name="Google Shape;99;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97"/>
        <p:cNvGrpSpPr/>
        <p:nvPr/>
      </p:nvGrpSpPr>
      <p:grpSpPr>
        <a:xfrm>
          <a:off x="0" y="0"/>
          <a:ext cx="0" cy="0"/>
          <a:chOff x="0" y="0"/>
          <a:chExt cx="0" cy="0"/>
        </a:xfrm>
      </p:grpSpPr>
      <p:sp>
        <p:nvSpPr>
          <p:cNvPr id="98" name="Google Shape;98;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9" name="Google Shape;99;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1" name="Google Shape;131;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1" name="Google Shape;131;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1" name="Google Shape;131;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6" name="Google Shape;146;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4" name="Google Shape;154;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7" name="Shape 177"/>
        <p:cNvGrpSpPr/>
        <p:nvPr/>
      </p:nvGrpSpPr>
      <p:grpSpPr>
        <a:xfrm>
          <a:off x="0" y="0"/>
          <a:ext cx="0" cy="0"/>
          <a:chOff x="0" y="0"/>
          <a:chExt cx="0" cy="0"/>
        </a:xfrm>
      </p:grpSpPr>
      <p:sp>
        <p:nvSpPr>
          <p:cNvPr id="178" name="Google Shape;178;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9" name="Google Shape;179;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 name="Shape 215"/>
        <p:cNvGrpSpPr/>
        <p:nvPr/>
      </p:nvGrpSpPr>
      <p:grpSpPr>
        <a:xfrm>
          <a:off x="0" y="0"/>
          <a:ext cx="0" cy="0"/>
          <a:chOff x="0" y="0"/>
          <a:chExt cx="0" cy="0"/>
        </a:xfrm>
      </p:grpSpPr>
      <p:sp>
        <p:nvSpPr>
          <p:cNvPr id="216" name="Google Shape;216;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7" name="Google Shape;217;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3.png"/><Relationship Id="rId4" Type="http://schemas.openxmlformats.org/officeDocument/2006/relationships/tags" Target="../tags/tag2.xml"/><Relationship Id="rId3" Type="http://schemas.openxmlformats.org/officeDocument/2006/relationships/image" Target="../media/image2.png"/><Relationship Id="rId2" Type="http://schemas.openxmlformats.org/officeDocument/2006/relationships/tags" Target="../tags/tag1.xml"/><Relationship Id="rId11" Type="http://schemas.openxmlformats.org/officeDocument/2006/relationships/notesSlide" Target="../notesSlides/notesSlide3.xml"/><Relationship Id="rId10"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image" Target="../media/image2.png"/><Relationship Id="rId2" Type="http://schemas.openxmlformats.org/officeDocument/2006/relationships/tags" Target="../tags/tag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image" Target="../media/image6.png"/><Relationship Id="rId6" Type="http://schemas.openxmlformats.org/officeDocument/2006/relationships/tags" Target="../tags/tag12.xml"/><Relationship Id="rId5" Type="http://schemas.openxmlformats.org/officeDocument/2006/relationships/image" Target="../media/image5.png"/><Relationship Id="rId4" Type="http://schemas.openxmlformats.org/officeDocument/2006/relationships/tags" Target="../tags/tag11.xml"/><Relationship Id="rId3" Type="http://schemas.openxmlformats.org/officeDocument/2006/relationships/image" Target="../media/image4.png"/><Relationship Id="rId2" Type="http://schemas.openxmlformats.org/officeDocument/2006/relationships/tags" Target="../tags/tag10.xml"/><Relationship Id="rId15" Type="http://schemas.openxmlformats.org/officeDocument/2006/relationships/notesSlide" Target="../notesSlides/notesSlide5.xml"/><Relationship Id="rId14" Type="http://schemas.openxmlformats.org/officeDocument/2006/relationships/slideLayout" Target="../slideLayouts/slideLayout1.xml"/><Relationship Id="rId13" Type="http://schemas.openxmlformats.org/officeDocument/2006/relationships/image" Target="../media/image9.png"/><Relationship Id="rId12" Type="http://schemas.openxmlformats.org/officeDocument/2006/relationships/image" Target="../media/image8.png"/><Relationship Id="rId11" Type="http://schemas.openxmlformats.org/officeDocument/2006/relationships/image" Target="../media/image7.png"/><Relationship Id="rId10" Type="http://schemas.openxmlformats.org/officeDocument/2006/relationships/tags" Target="../tags/tag15.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image" Target="../media/image15.png"/><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image" Target="../media/image14.png"/><Relationship Id="rId2" Type="http://schemas.openxmlformats.org/officeDocument/2006/relationships/image" Target="../media/image13.png"/><Relationship Id="rId12" Type="http://schemas.openxmlformats.org/officeDocument/2006/relationships/notesSlide" Target="../notesSlides/notesSlide9.xml"/><Relationship Id="rId11" Type="http://schemas.openxmlformats.org/officeDocument/2006/relationships/slideLayout" Target="../slideLayouts/slideLayout1.xml"/><Relationship Id="rId10" Type="http://schemas.openxmlformats.org/officeDocument/2006/relationships/tags" Target="../tags/tag2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1" Type="http://schemas.openxmlformats.org/officeDocument/2006/relationships/notesSlide" Target="../notesSlides/notesSlide10.xml"/><Relationship Id="rId10"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5.png"/><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tags" Target="../tags/tag31.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tags" Target="../tags/tag33.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xml"/><Relationship Id="rId4" Type="http://schemas.openxmlformats.org/officeDocument/2006/relationships/image" Target="../media/image32.png"/><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tags" Target="../tags/tag37.xml"/><Relationship Id="rId2" Type="http://schemas.openxmlformats.org/officeDocument/2006/relationships/image" Target="../media/image33.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tags" Target="../tags/tag38.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35.pn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tags" Target="../tags/tag39.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xml"/><Relationship Id="rId3" Type="http://schemas.openxmlformats.org/officeDocument/2006/relationships/image" Target="../media/image36.png"/><Relationship Id="rId2" Type="http://schemas.openxmlformats.org/officeDocument/2006/relationships/tags" Target="../tags/tag40.xml"/><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1.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tags" Target="../tags/tag41.xml"/><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tags" Target="../tags/tag42.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tags" Target="../tags/tag43.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1.xml"/><Relationship Id="rId3" Type="http://schemas.openxmlformats.org/officeDocument/2006/relationships/image" Target="../media/image40.png"/><Relationship Id="rId2" Type="http://schemas.openxmlformats.org/officeDocument/2006/relationships/tags" Target="../tags/tag44.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tags" Target="../tags/tag45.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xml"/><Relationship Id="rId2" Type="http://schemas.openxmlformats.org/officeDocument/2006/relationships/tags" Target="../tags/tag46.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hyperlink" Target="https://www.youtube.com/watch?v=kW8ot0YEB9c" TargetMode="Externa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image" Target="../media/image41.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83" name="Shape 83"/>
        <p:cNvGrpSpPr/>
        <p:nvPr/>
      </p:nvGrpSpPr>
      <p:grpSpPr>
        <a:xfrm>
          <a:off x="0" y="0"/>
          <a:ext cx="0" cy="0"/>
          <a:chOff x="0" y="0"/>
          <a:chExt cx="0" cy="0"/>
        </a:xfrm>
      </p:grpSpPr>
      <p:pic>
        <p:nvPicPr>
          <p:cNvPr id="84" name="Google Shape;84;p13"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85" name="Google Shape;85;p13"/>
          <p:cNvSpPr txBox="1"/>
          <p:nvPr/>
        </p:nvSpPr>
        <p:spPr>
          <a:xfrm>
            <a:off x="581025" y="1569690"/>
            <a:ext cx="11029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B7791F"/>
                </a:solidFill>
                <a:latin typeface="Inter SemiBold" panose="02000503000000020004"/>
                <a:ea typeface="Inter SemiBold" panose="02000503000000020004"/>
                <a:cs typeface="Inter SemiBold" panose="02000503000000020004"/>
                <a:sym typeface="Inter SemiBold" panose="02000503000000020004"/>
              </a:rPr>
              <a:t>KHOA HỌC MÁY TÍNH | MÃ NGÀNH: 8480101</a:t>
            </a:r>
            <a:endParaRPr lang="en-US" sz="1800" b="0" i="0" u="none" strike="noStrike" cap="none">
              <a:solidFill>
                <a:srgbClr val="B7791F"/>
              </a:solidFill>
              <a:latin typeface="Inter SemiBold" panose="02000503000000020004"/>
              <a:ea typeface="Inter SemiBold" panose="02000503000000020004"/>
              <a:cs typeface="Inter SemiBold" panose="02000503000000020004"/>
              <a:sym typeface="Inter SemiBold" panose="02000503000000020004"/>
            </a:endParaRPr>
          </a:p>
        </p:txBody>
      </p:sp>
      <p:sp>
        <p:nvSpPr>
          <p:cNvPr id="86" name="Google Shape;86;p13"/>
          <p:cNvSpPr txBox="1"/>
          <p:nvPr/>
        </p:nvSpPr>
        <p:spPr>
          <a:xfrm>
            <a:off x="305276" y="2515115"/>
            <a:ext cx="11581447" cy="18465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i="0" u="none" strike="noStrike" cap="none">
                <a:solidFill>
                  <a:srgbClr val="1A202C"/>
                </a:solidFill>
                <a:latin typeface="Urbanist" panose="020B0A04040200000203"/>
                <a:ea typeface="Urbanist" panose="020B0A04040200000203"/>
                <a:cs typeface="Urbanist" panose="020B0A04040200000203"/>
                <a:sym typeface="Urbanist" panose="020B0A04040200000203"/>
              </a:rPr>
              <a:t>Thuyết minh giải pháp ứng dụng các kỹ thuật AI hỗ trợ giải đáp thắc mắc cho người dùng trong website thương mại</a:t>
            </a:r>
            <a:endParaRPr lang="en-US" sz="4000" b="1" i="0" u="none" strike="noStrike" cap="none">
              <a:solidFill>
                <a:srgbClr val="1A202C"/>
              </a:solidFill>
              <a:latin typeface="Urbanist" panose="020B0A04040200000203"/>
              <a:ea typeface="Urbanist" panose="020B0A04040200000203"/>
              <a:cs typeface="Urbanist" panose="020B0A04040200000203"/>
              <a:sym typeface="Urbanist" panose="020B0A04040200000203"/>
            </a:endParaRPr>
          </a:p>
        </p:txBody>
      </p:sp>
      <p:sp>
        <p:nvSpPr>
          <p:cNvPr id="88" name="Google Shape;88;p13"/>
          <p:cNvSpPr txBox="1"/>
          <p:nvPr/>
        </p:nvSpPr>
        <p:spPr>
          <a:xfrm>
            <a:off x="581025" y="5021460"/>
            <a:ext cx="11029950" cy="110744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5A6275"/>
                </a:solidFill>
                <a:latin typeface="Inter Medium" panose="02000503000000020004"/>
                <a:ea typeface="Inter Medium" panose="02000503000000020004"/>
                <a:cs typeface="Inter Medium" panose="02000503000000020004"/>
                <a:sym typeface="Inter Medium" panose="02000503000000020004"/>
              </a:rPr>
              <a:t>Người trình bày: Nguyễn Trung Tín</a:t>
            </a:r>
            <a:endParaRPr lang="en-US" sz="1500" b="0" i="0" u="none" strike="noStrike" cap="none">
              <a:solidFill>
                <a:srgbClr val="5A6275"/>
              </a:solidFill>
              <a:latin typeface="Inter Medium" panose="02000503000000020004"/>
              <a:ea typeface="Inter Medium" panose="02000503000000020004"/>
              <a:cs typeface="Inter Medium" panose="02000503000000020004"/>
              <a:sym typeface="Inter Medium" panose="02000503000000020004"/>
            </a:endParaRPr>
          </a:p>
          <a:p>
            <a:pPr marL="0" marR="0" lvl="0" indent="0" algn="ctr" rtl="0">
              <a:lnSpc>
                <a:spcPct val="160000"/>
              </a:lnSpc>
              <a:spcBef>
                <a:spcPts val="0"/>
              </a:spcBef>
              <a:spcAft>
                <a:spcPts val="0"/>
              </a:spcAft>
              <a:buNone/>
            </a:pPr>
            <a:r>
              <a:rPr lang="en-US" sz="1500" b="0" i="0" u="none" strike="noStrike" cap="none">
                <a:solidFill>
                  <a:srgbClr val="5A6275"/>
                </a:solidFill>
                <a:latin typeface="Inter Medium" panose="02000503000000020004"/>
                <a:ea typeface="Inter Medium" panose="02000503000000020004"/>
                <a:cs typeface="Inter Medium" panose="02000503000000020004"/>
                <a:sym typeface="Inter Medium" panose="02000503000000020004"/>
              </a:rPr>
              <a:t>Email: nguyentrungtin1002@gmail.com</a:t>
            </a:r>
            <a:endParaRPr lang="en-US" sz="1500" b="0" i="0" u="none" strike="noStrike" cap="none">
              <a:solidFill>
                <a:srgbClr val="5A6275"/>
              </a:solidFill>
              <a:latin typeface="Inter Medium" panose="02000503000000020004"/>
              <a:ea typeface="Inter Medium" panose="02000503000000020004"/>
              <a:cs typeface="Inter Medium" panose="02000503000000020004"/>
              <a:sym typeface="Inter Medium" panose="02000503000000020004"/>
            </a:endParaRPr>
          </a:p>
          <a:p>
            <a:pPr marL="0" marR="0" lvl="0" indent="0" algn="ctr" rtl="0">
              <a:lnSpc>
                <a:spcPct val="160000"/>
              </a:lnSpc>
              <a:spcBef>
                <a:spcPts val="0"/>
              </a:spcBef>
              <a:spcAft>
                <a:spcPts val="0"/>
              </a:spcAft>
              <a:buNone/>
            </a:pPr>
            <a:r>
              <a:rPr lang="en-US" sz="1500" b="0" i="0" u="none" strike="noStrike" cap="none">
                <a:solidFill>
                  <a:srgbClr val="5A6275"/>
                </a:solidFill>
                <a:latin typeface="Inter Medium" panose="02000503000000020004"/>
                <a:ea typeface="Inter Medium" panose="02000503000000020004"/>
                <a:cs typeface="Inter Medium" panose="02000503000000020004"/>
                <a:sym typeface="Inter Medium" panose="02000503000000020004"/>
              </a:rPr>
              <a:t>Số điện thoại: 0826780002</a:t>
            </a:r>
            <a:endParaRPr lang="en-US" sz="1500" b="0" i="0" u="none" strike="noStrike" cap="none">
              <a:solidFill>
                <a:srgbClr val="5A6275"/>
              </a:solidFill>
              <a:latin typeface="Inter Medium" panose="02000503000000020004"/>
              <a:ea typeface="Inter Medium" panose="02000503000000020004"/>
              <a:cs typeface="Inter Medium" panose="02000503000000020004"/>
              <a:sym typeface="Inter Medium" panose="0200050300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92" name="Shape 92"/>
        <p:cNvGrpSpPr/>
        <p:nvPr/>
      </p:nvGrpSpPr>
      <p:grpSpPr>
        <a:xfrm>
          <a:off x="0" y="0"/>
          <a:ext cx="0" cy="0"/>
          <a:chOff x="0" y="0"/>
          <a:chExt cx="0" cy="0"/>
        </a:xfrm>
      </p:grpSpPr>
      <p:pic>
        <p:nvPicPr>
          <p:cNvPr id="93" name="Google Shape;93;p14"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94" name="Google Shape;94;p14"/>
          <p:cNvSpPr/>
          <p:nvPr/>
        </p:nvSpPr>
        <p:spPr>
          <a:xfrm>
            <a:off x="5715000" y="2695575"/>
            <a:ext cx="762000" cy="47625"/>
          </a:xfrm>
          <a:prstGeom prst="rect">
            <a:avLst/>
          </a:prstGeom>
          <a:solidFill>
            <a:srgbClr val="B7791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5" name="Google Shape;95;p14"/>
          <p:cNvSpPr txBox="1"/>
          <p:nvPr/>
        </p:nvSpPr>
        <p:spPr>
          <a:xfrm>
            <a:off x="305276" y="3028950"/>
            <a:ext cx="11581447" cy="733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1A202C"/>
                </a:solidFill>
                <a:latin typeface="Urbanist" panose="020B0A04040200000203"/>
                <a:ea typeface="Urbanist" panose="020B0A04040200000203"/>
                <a:cs typeface="Urbanist" panose="020B0A04040200000203"/>
                <a:sym typeface="Urbanist" panose="020B0A04040200000203"/>
              </a:rPr>
              <a:t>PHẦN 1: TỔNG QUAN HỆ THỐNG</a:t>
            </a:r>
            <a:endParaRPr lang="en-US" sz="4800" b="1" i="0" u="none" strike="noStrike" cap="none">
              <a:solidFill>
                <a:srgbClr val="1A202C"/>
              </a:solidFill>
              <a:latin typeface="Urbanist" panose="020B0A04040200000203"/>
              <a:ea typeface="Urbanist" panose="020B0A04040200000203"/>
              <a:cs typeface="Urbanist" panose="020B0A04040200000203"/>
              <a:sym typeface="Urbanist" panose="020B0A04040200000203"/>
            </a:endParaRPr>
          </a:p>
        </p:txBody>
      </p:sp>
      <p:sp>
        <p:nvSpPr>
          <p:cNvPr id="96" name="Google Shape;96;p14"/>
          <p:cNvSpPr txBox="1"/>
          <p:nvPr/>
        </p:nvSpPr>
        <p:spPr>
          <a:xfrm>
            <a:off x="581025" y="3952875"/>
            <a:ext cx="1102995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Phân tích nhu cầu thực tế và kiến trúc giải pháp</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00" name="Shape 100"/>
        <p:cNvGrpSpPr/>
        <p:nvPr/>
      </p:nvGrpSpPr>
      <p:grpSpPr>
        <a:xfrm>
          <a:off x="0" y="0"/>
          <a:ext cx="0" cy="0"/>
          <a:chOff x="0" y="0"/>
          <a:chExt cx="0" cy="0"/>
        </a:xfrm>
      </p:grpSpPr>
      <p:pic>
        <p:nvPicPr>
          <p:cNvPr id="101" name="Google Shape;101;p1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02" name="Google Shape;102;p15" descr="image.png"/>
          <p:cNvPicPr preferRelativeResize="0"/>
          <p:nvPr>
            <p:custDataLst>
              <p:tags r:id="rId2"/>
            </p:custDataLst>
          </p:nvPr>
        </p:nvPicPr>
        <p:blipFill rotWithShape="1">
          <a:blip r:embed="rId3"/>
          <a:srcRect/>
          <a:stretch>
            <a:fillRect/>
          </a:stretch>
        </p:blipFill>
        <p:spPr>
          <a:xfrm>
            <a:off x="581025" y="1464310"/>
            <a:ext cx="5372100" cy="4761230"/>
          </a:xfrm>
          <a:prstGeom prst="rect">
            <a:avLst/>
          </a:prstGeom>
          <a:noFill/>
          <a:ln>
            <a:noFill/>
          </a:ln>
        </p:spPr>
      </p:pic>
      <p:pic>
        <p:nvPicPr>
          <p:cNvPr id="103" name="Google Shape;103;p15" descr="image.png"/>
          <p:cNvPicPr preferRelativeResize="0"/>
          <p:nvPr>
            <p:custDataLst>
              <p:tags r:id="rId4"/>
            </p:custDataLst>
          </p:nvPr>
        </p:nvPicPr>
        <p:blipFill rotWithShape="1">
          <a:blip r:embed="rId5"/>
          <a:srcRect/>
          <a:stretch>
            <a:fillRect/>
          </a:stretch>
        </p:blipFill>
        <p:spPr>
          <a:xfrm>
            <a:off x="6238875" y="1464310"/>
            <a:ext cx="5372100" cy="4761230"/>
          </a:xfrm>
          <a:prstGeom prst="rect">
            <a:avLst/>
          </a:prstGeom>
          <a:noFill/>
          <a:ln>
            <a:noFill/>
          </a:ln>
        </p:spPr>
      </p:pic>
      <p:sp>
        <p:nvSpPr>
          <p:cNvPr id="104" name="Google Shape;104;p15"/>
          <p:cNvSpPr txBox="1"/>
          <p:nvPr/>
        </p:nvSpPr>
        <p:spPr>
          <a:xfrm>
            <a:off x="581025" y="581025"/>
            <a:ext cx="11581447"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Vấn đề &amp; Nhu cầu thực tế</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05" name="Google Shape;105;p15"/>
          <p:cNvSpPr/>
          <p:nvPr/>
        </p:nvSpPr>
        <p:spPr>
          <a:xfrm>
            <a:off x="581025" y="118110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 name="Google Shape;106;p15"/>
          <p:cNvSpPr txBox="1"/>
          <p:nvPr>
            <p:custDataLst>
              <p:tags r:id="rId6"/>
            </p:custDataLst>
          </p:nvPr>
        </p:nvSpPr>
        <p:spPr>
          <a:xfrm>
            <a:off x="971550" y="1696720"/>
            <a:ext cx="4820602"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5"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Thực trạng hiện nay</a:t>
            </a:r>
            <a:endParaRPr lang="en-US" sz="1405"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07" name="Google Shape;107;p15"/>
          <p:cNvSpPr txBox="1"/>
          <p:nvPr>
            <p:custDataLst>
              <p:tags r:id="rId7"/>
            </p:custDataLst>
          </p:nvPr>
        </p:nvSpPr>
        <p:spPr>
          <a:xfrm>
            <a:off x="971550" y="2044700"/>
            <a:ext cx="4591050" cy="376872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 Khối lượng các thắc mắc của khách hàng ngày càng lớn khiến nhân lực chăm sóc khách hàng khó phản hồi nhanh chóng và đồng nhất.</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 Thông tin phân tán ở nhiều nguồn, dẫn đến việc tốn thời gian tra cứu, dễ bỏ sót thông tin.</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 Một số Chatbot truyền thống còn nhiều hạn chế, gặp khó khăn với các ngữ cảnh phức tạp, thiếu sự linh hoạt trong tư vấn bán hàng.</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 Các mô hình AI ngôn ngữ lớn (LLM) như GPT tuy có thể đáp ứng về hội thoại tự nhiên, nhưng gặp vấn đề về thông tin nội bộ.</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
        <p:nvSpPr>
          <p:cNvPr id="108" name="Google Shape;108;p15"/>
          <p:cNvSpPr txBox="1"/>
          <p:nvPr>
            <p:custDataLst>
              <p:tags r:id="rId8"/>
            </p:custDataLst>
          </p:nvPr>
        </p:nvSpPr>
        <p:spPr>
          <a:xfrm>
            <a:off x="6629400" y="1696720"/>
            <a:ext cx="4820602"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5" b="1" i="0" u="none" strike="noStrike" cap="none">
                <a:solidFill>
                  <a:srgbClr val="B7791F"/>
                </a:solidFill>
                <a:latin typeface="Urbanist" panose="020B0A04040200000203"/>
                <a:ea typeface="Urbanist" panose="020B0A04040200000203"/>
                <a:cs typeface="Urbanist" panose="020B0A04040200000203"/>
                <a:sym typeface="Urbanist" panose="020B0A04040200000203"/>
              </a:rPr>
              <a:t>Nhu cầu cấp thiết</a:t>
            </a:r>
            <a:endParaRPr lang="en-US" sz="1405" b="1" i="0" u="none" strike="noStrike" cap="none">
              <a:solidFill>
                <a:srgbClr val="B7791F"/>
              </a:solidFill>
              <a:latin typeface="Urbanist" panose="020B0A04040200000203"/>
              <a:ea typeface="Urbanist" panose="020B0A04040200000203"/>
              <a:cs typeface="Urbanist" panose="020B0A04040200000203"/>
              <a:sym typeface="Urbanist" panose="020B0A04040200000203"/>
            </a:endParaRPr>
          </a:p>
        </p:txBody>
      </p:sp>
      <p:sp>
        <p:nvSpPr>
          <p:cNvPr id="109" name="Google Shape;109;p15"/>
          <p:cNvSpPr txBox="1"/>
          <p:nvPr>
            <p:custDataLst>
              <p:tags r:id="rId9"/>
            </p:custDataLst>
          </p:nvPr>
        </p:nvSpPr>
        <p:spPr>
          <a:xfrm>
            <a:off x="6555740" y="1915795"/>
            <a:ext cx="4735830" cy="418020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 Nhu cầu tự động hóa hỗ trợ tư vấn khách hàng  24/7, giúp giảm tải cho nhân viên CSKH, trả lời nhanh các hội thoại phổ biến.</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 Hệ thống đảm bảo độ chính xác của các câu trả lời, dựa trên thông tin nội bộ chính thức thay vì chỉ dựa trên mô hình ngôn ngữ lớn có sẵn.</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 Hệ thống có thể hỗ trợ đa ngôn ngữ với người dùng mà vẫn đảm bảo trả lời chính xác, hợp ngữ cảnh.</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 Khả năng mở rộng và cập nhập thông tin nhanh chóng, không phải huấn luyện từ đầu.</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00" name="Shape 100"/>
        <p:cNvGrpSpPr/>
        <p:nvPr/>
      </p:nvGrpSpPr>
      <p:grpSpPr>
        <a:xfrm>
          <a:off x="0" y="0"/>
          <a:ext cx="0" cy="0"/>
          <a:chOff x="0" y="0"/>
          <a:chExt cx="0" cy="0"/>
        </a:xfrm>
      </p:grpSpPr>
      <p:pic>
        <p:nvPicPr>
          <p:cNvPr id="101" name="Google Shape;101;p1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02" name="Google Shape;102;p15" descr="image.png"/>
          <p:cNvPicPr preferRelativeResize="0"/>
          <p:nvPr>
            <p:custDataLst>
              <p:tags r:id="rId2"/>
            </p:custDataLst>
          </p:nvPr>
        </p:nvPicPr>
        <p:blipFill rotWithShape="1">
          <a:blip r:embed="rId3"/>
          <a:srcRect/>
          <a:stretch>
            <a:fillRect/>
          </a:stretch>
        </p:blipFill>
        <p:spPr>
          <a:xfrm>
            <a:off x="581025" y="1460500"/>
            <a:ext cx="11029315" cy="4761230"/>
          </a:xfrm>
          <a:prstGeom prst="rect">
            <a:avLst/>
          </a:prstGeom>
          <a:noFill/>
          <a:ln>
            <a:noFill/>
          </a:ln>
        </p:spPr>
      </p:pic>
      <p:sp>
        <p:nvSpPr>
          <p:cNvPr id="104" name="Google Shape;104;p15"/>
          <p:cNvSpPr txBox="1"/>
          <p:nvPr/>
        </p:nvSpPr>
        <p:spPr>
          <a:xfrm>
            <a:off x="581025" y="581025"/>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Định hướng giải pháp</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05" name="Google Shape;105;p15"/>
          <p:cNvSpPr/>
          <p:nvPr/>
        </p:nvSpPr>
        <p:spPr>
          <a:xfrm>
            <a:off x="581025" y="118110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 name="Google Shape;106;p15"/>
          <p:cNvSpPr txBox="1"/>
          <p:nvPr>
            <p:custDataLst>
              <p:tags r:id="rId4"/>
            </p:custDataLst>
          </p:nvPr>
        </p:nvSpPr>
        <p:spPr>
          <a:xfrm>
            <a:off x="1104265" y="1762125"/>
            <a:ext cx="9982200" cy="3803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Hệ thống Chatbot ứng dụng Retrieval-Augmented Generation (RAG) với mô hình ngôn ngữ lớn (LLM)</a:t>
            </a:r>
            <a:endParaRPr lang="en-US" sz="16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07" name="Google Shape;107;p15"/>
          <p:cNvSpPr txBox="1"/>
          <p:nvPr>
            <p:custDataLst>
              <p:tags r:id="rId5"/>
            </p:custDataLst>
          </p:nvPr>
        </p:nvSpPr>
        <p:spPr>
          <a:xfrm>
            <a:off x="1104265" y="2334895"/>
            <a:ext cx="9982200" cy="357632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500">
                <a:solidFill>
                  <a:srgbClr val="5A6275"/>
                </a:solidFill>
                <a:latin typeface="Inter" panose="02000503000000020004"/>
                <a:ea typeface="Inter" panose="02000503000000020004"/>
                <a:cs typeface="Inter" panose="02000503000000020004"/>
                <a:sym typeface="Inter" panose="02000503000000020004"/>
              </a:rPr>
              <a:t>- Xây dựng hệ thống hỏi đáp tự động dựa trên Retrieval-Augmented Generation kết hợp ngôn mô hình ngôn ngữ lớn GPT.</a:t>
            </a:r>
            <a:endParaRPr lang="en-US" sz="1500">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endParaRPr lang="en-US" sz="1500">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500">
                <a:solidFill>
                  <a:srgbClr val="5A6275"/>
                </a:solidFill>
                <a:latin typeface="Inter" panose="02000503000000020004"/>
                <a:ea typeface="Inter" panose="02000503000000020004"/>
                <a:cs typeface="Inter" panose="02000503000000020004"/>
                <a:sym typeface="Inter" panose="02000503000000020004"/>
              </a:rPr>
              <a:t>- Sử dụng cơ sở tri thức nội bộ để cung cấp thông tin chính xác và cập nhật cho người dùng.</a:t>
            </a:r>
            <a:endParaRPr lang="en-US" sz="1500">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endParaRPr lang="en-US" sz="1500">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500">
                <a:solidFill>
                  <a:srgbClr val="5A6275"/>
                </a:solidFill>
                <a:latin typeface="Inter" panose="02000503000000020004"/>
                <a:ea typeface="Inter" panose="02000503000000020004"/>
                <a:cs typeface="Inter" panose="02000503000000020004"/>
                <a:sym typeface="Inter" panose="02000503000000020004"/>
              </a:rPr>
              <a:t>- Kết hợp dữ liệu truy xuất với khả năng suy luận của LLM để tạo câu trả lời tự động, dễ hiểu.</a:t>
            </a:r>
            <a:endParaRPr lang="en-US" sz="1500">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endParaRPr lang="en-US" sz="1500">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500">
                <a:solidFill>
                  <a:srgbClr val="5A6275"/>
                </a:solidFill>
                <a:latin typeface="Inter" panose="02000503000000020004"/>
                <a:ea typeface="Inter" panose="02000503000000020004"/>
                <a:cs typeface="Inter" panose="02000503000000020004"/>
                <a:sym typeface="Inter" panose="02000503000000020004"/>
              </a:rPr>
              <a:t>- Hỗ trợ đa ngôn ngữ và khả năng mở rộng trong tương lai.</a:t>
            </a:r>
            <a:endParaRPr lang="en-US" sz="1500">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endParaRPr lang="en-US" sz="1500" b="1" i="0" u="none" strike="noStrike" cap="none">
              <a:solidFill>
                <a:schemeClr val="tx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13" name="Shape 113"/>
        <p:cNvGrpSpPr/>
        <p:nvPr/>
      </p:nvGrpSpPr>
      <p:grpSpPr>
        <a:xfrm>
          <a:off x="0" y="0"/>
          <a:ext cx="0" cy="0"/>
          <a:chOff x="0" y="0"/>
          <a:chExt cx="0" cy="0"/>
        </a:xfrm>
      </p:grpSpPr>
      <p:pic>
        <p:nvPicPr>
          <p:cNvPr id="114" name="Google Shape;114;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15" name="Google Shape;115;p16" descr="image.png"/>
          <p:cNvPicPr preferRelativeResize="0"/>
          <p:nvPr>
            <p:custDataLst>
              <p:tags r:id="rId2"/>
            </p:custDataLst>
          </p:nvPr>
        </p:nvPicPr>
        <p:blipFill rotWithShape="1">
          <a:blip r:embed="rId3"/>
          <a:srcRect/>
          <a:stretch>
            <a:fillRect/>
          </a:stretch>
        </p:blipFill>
        <p:spPr>
          <a:xfrm>
            <a:off x="581025" y="2428875"/>
            <a:ext cx="3549699" cy="3000375"/>
          </a:xfrm>
          <a:prstGeom prst="rect">
            <a:avLst/>
          </a:prstGeom>
          <a:noFill/>
          <a:ln>
            <a:noFill/>
          </a:ln>
        </p:spPr>
      </p:pic>
      <p:pic>
        <p:nvPicPr>
          <p:cNvPr id="116" name="Google Shape;116;p16" descr="image.png"/>
          <p:cNvPicPr preferRelativeResize="0"/>
          <p:nvPr>
            <p:custDataLst>
              <p:tags r:id="rId4"/>
            </p:custDataLst>
          </p:nvPr>
        </p:nvPicPr>
        <p:blipFill rotWithShape="1">
          <a:blip r:embed="rId5"/>
          <a:srcRect/>
          <a:stretch>
            <a:fillRect/>
          </a:stretch>
        </p:blipFill>
        <p:spPr>
          <a:xfrm>
            <a:off x="4321224" y="2428875"/>
            <a:ext cx="3549699" cy="3000375"/>
          </a:xfrm>
          <a:prstGeom prst="rect">
            <a:avLst/>
          </a:prstGeom>
          <a:noFill/>
          <a:ln>
            <a:noFill/>
          </a:ln>
        </p:spPr>
      </p:pic>
      <p:pic>
        <p:nvPicPr>
          <p:cNvPr id="117" name="Google Shape;117;p16" descr="image.png"/>
          <p:cNvPicPr preferRelativeResize="0"/>
          <p:nvPr>
            <p:custDataLst>
              <p:tags r:id="rId6"/>
            </p:custDataLst>
          </p:nvPr>
        </p:nvPicPr>
        <p:blipFill rotWithShape="1">
          <a:blip r:embed="rId7"/>
          <a:srcRect/>
          <a:stretch>
            <a:fillRect/>
          </a:stretch>
        </p:blipFill>
        <p:spPr>
          <a:xfrm>
            <a:off x="8061424" y="2428875"/>
            <a:ext cx="3549699" cy="3000375"/>
          </a:xfrm>
          <a:prstGeom prst="rect">
            <a:avLst/>
          </a:prstGeom>
          <a:noFill/>
          <a:ln>
            <a:noFill/>
          </a:ln>
        </p:spPr>
      </p:pic>
      <p:sp>
        <p:nvSpPr>
          <p:cNvPr id="118" name="Google Shape;118;p16"/>
          <p:cNvSpPr txBox="1"/>
          <p:nvPr/>
        </p:nvSpPr>
        <p:spPr>
          <a:xfrm>
            <a:off x="581025" y="581025"/>
            <a:ext cx="11581447"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Kiến trúc tổng quát hệ thống</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19" name="Google Shape;119;p16"/>
          <p:cNvSpPr/>
          <p:nvPr/>
        </p:nvSpPr>
        <p:spPr>
          <a:xfrm>
            <a:off x="581025" y="118110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2" name="Google Shape;122;p16"/>
          <p:cNvSpPr txBox="1"/>
          <p:nvPr>
            <p:custDataLst>
              <p:tags r:id="rId8"/>
            </p:custDataLst>
          </p:nvPr>
        </p:nvSpPr>
        <p:spPr>
          <a:xfrm>
            <a:off x="971550" y="4617720"/>
            <a:ext cx="2768649" cy="36893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Sơ đồ ngữ cảnh của hệ thống</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
        <p:nvSpPr>
          <p:cNvPr id="125" name="Google Shape;125;p16"/>
          <p:cNvSpPr txBox="1"/>
          <p:nvPr>
            <p:custDataLst>
              <p:tags r:id="rId9"/>
            </p:custDataLst>
          </p:nvPr>
        </p:nvSpPr>
        <p:spPr>
          <a:xfrm>
            <a:off x="4711749" y="4617720"/>
            <a:ext cx="2768649" cy="36893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Sơ đồ kiến trúc của hệ thống</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
        <p:nvSpPr>
          <p:cNvPr id="128" name="Google Shape;128;p16"/>
          <p:cNvSpPr txBox="1"/>
          <p:nvPr>
            <p:custDataLst>
              <p:tags r:id="rId10"/>
            </p:custDataLst>
          </p:nvPr>
        </p:nvSpPr>
        <p:spPr>
          <a:xfrm>
            <a:off x="8451949" y="4432935"/>
            <a:ext cx="2768649" cy="73850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Sơ đồ kiến trúc của kỹ thuật AI cho ứng dụng</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pic>
        <p:nvPicPr>
          <p:cNvPr id="2" name="Picture 1"/>
          <p:cNvPicPr>
            <a:picLocks noChangeAspect="1"/>
          </p:cNvPicPr>
          <p:nvPr/>
        </p:nvPicPr>
        <p:blipFill>
          <a:blip r:embed="rId11"/>
          <a:stretch>
            <a:fillRect/>
          </a:stretch>
        </p:blipFill>
        <p:spPr>
          <a:xfrm>
            <a:off x="5034915" y="2941320"/>
            <a:ext cx="2122170" cy="1622425"/>
          </a:xfrm>
          <a:prstGeom prst="rect">
            <a:avLst/>
          </a:prstGeom>
        </p:spPr>
      </p:pic>
      <p:pic>
        <p:nvPicPr>
          <p:cNvPr id="3" name="Picture 2"/>
          <p:cNvPicPr>
            <a:picLocks noChangeAspect="1"/>
          </p:cNvPicPr>
          <p:nvPr/>
        </p:nvPicPr>
        <p:blipFill>
          <a:blip r:embed="rId12"/>
          <a:stretch>
            <a:fillRect/>
          </a:stretch>
        </p:blipFill>
        <p:spPr>
          <a:xfrm>
            <a:off x="8451850" y="2941320"/>
            <a:ext cx="2801620" cy="1492885"/>
          </a:xfrm>
          <a:prstGeom prst="rect">
            <a:avLst/>
          </a:prstGeom>
        </p:spPr>
      </p:pic>
      <p:pic>
        <p:nvPicPr>
          <p:cNvPr id="4" name="Picture 3"/>
          <p:cNvPicPr>
            <a:picLocks noChangeAspect="1"/>
          </p:cNvPicPr>
          <p:nvPr/>
        </p:nvPicPr>
        <p:blipFill>
          <a:blip r:embed="rId13"/>
          <a:stretch>
            <a:fillRect/>
          </a:stretch>
        </p:blipFill>
        <p:spPr>
          <a:xfrm>
            <a:off x="1470025" y="2794635"/>
            <a:ext cx="1771650" cy="17691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13" name="Shape 113"/>
        <p:cNvGrpSpPr/>
        <p:nvPr/>
      </p:nvGrpSpPr>
      <p:grpSpPr>
        <a:xfrm>
          <a:off x="0" y="0"/>
          <a:ext cx="0" cy="0"/>
          <a:chOff x="0" y="0"/>
          <a:chExt cx="0" cy="0"/>
        </a:xfrm>
      </p:grpSpPr>
      <p:pic>
        <p:nvPicPr>
          <p:cNvPr id="114" name="Google Shape;114;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18" name="Google Shape;118;p16"/>
          <p:cNvSpPr txBox="1"/>
          <p:nvPr/>
        </p:nvSpPr>
        <p:spPr>
          <a:xfrm>
            <a:off x="581025" y="581025"/>
            <a:ext cx="11581447"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Kiến trúc tổng quát hệ thống</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19" name="Google Shape;119;p16"/>
          <p:cNvSpPr/>
          <p:nvPr/>
        </p:nvSpPr>
        <p:spPr>
          <a:xfrm>
            <a:off x="581025" y="118110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Text Box 2"/>
          <p:cNvSpPr txBox="1"/>
          <p:nvPr/>
        </p:nvSpPr>
        <p:spPr>
          <a:xfrm>
            <a:off x="3966845" y="6377940"/>
            <a:ext cx="4258945" cy="306705"/>
          </a:xfrm>
          <a:prstGeom prst="rect">
            <a:avLst/>
          </a:prstGeom>
          <a:noFill/>
        </p:spPr>
        <p:txBody>
          <a:bodyPr wrap="square" rtlCol="0">
            <a:spAutoFit/>
          </a:bodyPr>
          <a:p>
            <a:r>
              <a:rPr lang="en-US"/>
              <a:t>Sơ đồ ngữ cảnh của hệ thống </a:t>
            </a:r>
            <a:r>
              <a:rPr lang="en-US">
                <a:sym typeface="+mn-ea"/>
              </a:rPr>
              <a:t>website thương mại</a:t>
            </a:r>
            <a:endParaRPr lang="en-US"/>
          </a:p>
        </p:txBody>
      </p:sp>
      <p:pic>
        <p:nvPicPr>
          <p:cNvPr id="2" name="Picture 1"/>
          <p:cNvPicPr>
            <a:picLocks noChangeAspect="1"/>
          </p:cNvPicPr>
          <p:nvPr/>
        </p:nvPicPr>
        <p:blipFill>
          <a:blip r:embed="rId2"/>
          <a:stretch>
            <a:fillRect/>
          </a:stretch>
        </p:blipFill>
        <p:spPr>
          <a:xfrm>
            <a:off x="2063750" y="1284605"/>
            <a:ext cx="8064500" cy="5008880"/>
          </a:xfrm>
          <a:prstGeom prst="rect">
            <a:avLst/>
          </a:prstGeom>
          <a:ln w="19050">
            <a:solidFill>
              <a:schemeClr val="accent4">
                <a:lumMod val="75000"/>
              </a:schemeClr>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13" name="Shape 113"/>
        <p:cNvGrpSpPr/>
        <p:nvPr/>
      </p:nvGrpSpPr>
      <p:grpSpPr>
        <a:xfrm>
          <a:off x="0" y="0"/>
          <a:ext cx="0" cy="0"/>
          <a:chOff x="0" y="0"/>
          <a:chExt cx="0" cy="0"/>
        </a:xfrm>
      </p:grpSpPr>
      <p:pic>
        <p:nvPicPr>
          <p:cNvPr id="114" name="Google Shape;114;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18" name="Google Shape;118;p16"/>
          <p:cNvSpPr txBox="1"/>
          <p:nvPr/>
        </p:nvSpPr>
        <p:spPr>
          <a:xfrm>
            <a:off x="581025" y="581025"/>
            <a:ext cx="11581447"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Kiến trúc tổng quát hệ thống</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19" name="Google Shape;119;p16"/>
          <p:cNvSpPr/>
          <p:nvPr/>
        </p:nvSpPr>
        <p:spPr>
          <a:xfrm>
            <a:off x="581025" y="118110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 name="Text Box 5"/>
          <p:cNvSpPr txBox="1"/>
          <p:nvPr/>
        </p:nvSpPr>
        <p:spPr>
          <a:xfrm>
            <a:off x="3955415" y="6445250"/>
            <a:ext cx="4176395" cy="306705"/>
          </a:xfrm>
          <a:prstGeom prst="rect">
            <a:avLst/>
          </a:prstGeom>
          <a:noFill/>
        </p:spPr>
        <p:txBody>
          <a:bodyPr wrap="square" rtlCol="0">
            <a:spAutoFit/>
          </a:bodyPr>
          <a:p>
            <a:r>
              <a:rPr lang="en-US"/>
              <a:t>Sơ đồ kiến trúc của hệ thống website thương mại</a:t>
            </a:r>
            <a:endParaRPr lang="en-US"/>
          </a:p>
        </p:txBody>
      </p:sp>
      <p:pic>
        <p:nvPicPr>
          <p:cNvPr id="2" name="Picture 1"/>
          <p:cNvPicPr>
            <a:picLocks noChangeAspect="1"/>
          </p:cNvPicPr>
          <p:nvPr/>
        </p:nvPicPr>
        <p:blipFill>
          <a:blip r:embed="rId2"/>
          <a:stretch>
            <a:fillRect/>
          </a:stretch>
        </p:blipFill>
        <p:spPr>
          <a:xfrm>
            <a:off x="1690370" y="1276350"/>
            <a:ext cx="8615680" cy="5168900"/>
          </a:xfrm>
          <a:prstGeom prst="rect">
            <a:avLst/>
          </a:prstGeom>
          <a:ln w="19050">
            <a:solidFill>
              <a:schemeClr val="accent4">
                <a:lumMod val="75000"/>
              </a:schemeClr>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13" name="Shape 113"/>
        <p:cNvGrpSpPr/>
        <p:nvPr/>
      </p:nvGrpSpPr>
      <p:grpSpPr>
        <a:xfrm>
          <a:off x="0" y="0"/>
          <a:ext cx="0" cy="0"/>
          <a:chOff x="0" y="0"/>
          <a:chExt cx="0" cy="0"/>
        </a:xfrm>
      </p:grpSpPr>
      <p:pic>
        <p:nvPicPr>
          <p:cNvPr id="114" name="Google Shape;114;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18" name="Google Shape;118;p16"/>
          <p:cNvSpPr txBox="1"/>
          <p:nvPr/>
        </p:nvSpPr>
        <p:spPr>
          <a:xfrm>
            <a:off x="581025" y="184785"/>
            <a:ext cx="11581447"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Kiến trúc tổng quát hệ thống</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19" name="Google Shape;119;p16"/>
          <p:cNvSpPr/>
          <p:nvPr/>
        </p:nvSpPr>
        <p:spPr>
          <a:xfrm>
            <a:off x="581025" y="78486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 name="Text Box 5"/>
          <p:cNvSpPr txBox="1"/>
          <p:nvPr/>
        </p:nvSpPr>
        <p:spPr>
          <a:xfrm>
            <a:off x="3700780" y="6016625"/>
            <a:ext cx="4789170" cy="306705"/>
          </a:xfrm>
          <a:prstGeom prst="rect">
            <a:avLst/>
          </a:prstGeom>
          <a:noFill/>
        </p:spPr>
        <p:txBody>
          <a:bodyPr wrap="square" rtlCol="0">
            <a:spAutoFit/>
          </a:bodyPr>
          <a:p>
            <a:pPr algn="ctr"/>
            <a:r>
              <a:rPr lang="en-US"/>
              <a:t>Sơ đồ kiến trúc ứng dụng kỹ thuật AI</a:t>
            </a:r>
            <a:endParaRPr lang="en-US"/>
          </a:p>
        </p:txBody>
      </p:sp>
      <p:pic>
        <p:nvPicPr>
          <p:cNvPr id="3" name="Picture 2"/>
          <p:cNvPicPr>
            <a:picLocks noChangeAspect="1"/>
          </p:cNvPicPr>
          <p:nvPr/>
        </p:nvPicPr>
        <p:blipFill>
          <a:blip r:embed="rId2"/>
          <a:stretch>
            <a:fillRect/>
          </a:stretch>
        </p:blipFill>
        <p:spPr>
          <a:xfrm>
            <a:off x="0" y="1258570"/>
            <a:ext cx="12191365" cy="4554855"/>
          </a:xfrm>
          <a:prstGeom prst="rect">
            <a:avLst/>
          </a:prstGeom>
          <a:ln w="19050">
            <a:solidFill>
              <a:schemeClr val="accent4">
                <a:lumMod val="75000"/>
              </a:schemeClr>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32" name="Shape 132"/>
        <p:cNvGrpSpPr/>
        <p:nvPr/>
      </p:nvGrpSpPr>
      <p:grpSpPr>
        <a:xfrm>
          <a:off x="0" y="0"/>
          <a:ext cx="0" cy="0"/>
          <a:chOff x="0" y="0"/>
          <a:chExt cx="0" cy="0"/>
        </a:xfrm>
      </p:grpSpPr>
      <p:pic>
        <p:nvPicPr>
          <p:cNvPr id="133" name="Google Shape;133;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34" name="Google Shape;134;p17" descr="image.png"/>
          <p:cNvPicPr preferRelativeResize="0"/>
          <p:nvPr/>
        </p:nvPicPr>
        <p:blipFill rotWithShape="1">
          <a:blip r:embed="rId2"/>
          <a:srcRect/>
          <a:stretch>
            <a:fillRect/>
          </a:stretch>
        </p:blipFill>
        <p:spPr>
          <a:xfrm>
            <a:off x="6334125" y="2024062"/>
            <a:ext cx="5276850" cy="3810000"/>
          </a:xfrm>
          <a:prstGeom prst="rect">
            <a:avLst/>
          </a:prstGeom>
          <a:noFill/>
          <a:ln>
            <a:noFill/>
          </a:ln>
        </p:spPr>
      </p:pic>
      <p:sp>
        <p:nvSpPr>
          <p:cNvPr id="135" name="Google Shape;135;p17"/>
          <p:cNvSpPr txBox="1"/>
          <p:nvPr/>
        </p:nvSpPr>
        <p:spPr>
          <a:xfrm>
            <a:off x="581025" y="581025"/>
            <a:ext cx="11581447"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Mô hình hóa với sơ đồ UML</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36" name="Google Shape;136;p17"/>
          <p:cNvSpPr/>
          <p:nvPr/>
        </p:nvSpPr>
        <p:spPr>
          <a:xfrm>
            <a:off x="581025" y="118110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37" name="Google Shape;137;p17" descr="image.png"/>
          <p:cNvPicPr preferRelativeResize="0"/>
          <p:nvPr/>
        </p:nvPicPr>
        <p:blipFill rotWithShape="1">
          <a:blip r:embed="rId3"/>
          <a:srcRect/>
          <a:stretch>
            <a:fillRect/>
          </a:stretch>
        </p:blipFill>
        <p:spPr>
          <a:xfrm>
            <a:off x="6343650" y="2033587"/>
            <a:ext cx="5257800" cy="3790950"/>
          </a:xfrm>
          <a:prstGeom prst="rect">
            <a:avLst/>
          </a:prstGeom>
          <a:noFill/>
          <a:ln>
            <a:noFill/>
          </a:ln>
        </p:spPr>
      </p:pic>
      <p:sp>
        <p:nvSpPr>
          <p:cNvPr id="138" name="Google Shape;138;p17"/>
          <p:cNvSpPr txBox="1"/>
          <p:nvPr>
            <p:custDataLst>
              <p:tags r:id="rId4"/>
            </p:custDataLst>
          </p:nvPr>
        </p:nvSpPr>
        <p:spPr>
          <a:xfrm>
            <a:off x="581025" y="3233737"/>
            <a:ext cx="5276850" cy="738505"/>
          </a:xfrm>
          <a:prstGeom prst="rect">
            <a:avLst/>
          </a:prstGeom>
          <a:noFill/>
          <a:ln>
            <a:noFill/>
          </a:ln>
        </p:spPr>
        <p:txBody>
          <a:bodyPr spcFirstLastPara="1" wrap="square" lIns="28575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A202C"/>
                </a:solidFill>
                <a:latin typeface="Inter" panose="02000503000000020004"/>
                <a:ea typeface="Inter" panose="02000503000000020004"/>
                <a:cs typeface="Inter" panose="02000503000000020004"/>
                <a:sym typeface="Inter" panose="02000503000000020004"/>
              </a:rPr>
              <a:t>Use case Diagram:</a:t>
            </a:r>
            <a:r>
              <a:rPr lang="en-US" sz="1500" b="0" i="0" u="none" strike="noStrike" cap="none">
                <a:solidFill>
                  <a:srgbClr val="1A202C"/>
                </a:solidFill>
                <a:latin typeface="Inter" panose="02000503000000020004"/>
                <a:ea typeface="Inter" panose="02000503000000020004"/>
                <a:cs typeface="Inter" panose="02000503000000020004"/>
                <a:sym typeface="Inter" panose="02000503000000020004"/>
              </a:rPr>
              <a:t> </a:t>
            </a:r>
            <a:r>
              <a:rPr lang="en-US" sz="1500">
                <a:solidFill>
                  <a:srgbClr val="1A202C"/>
                </a:solidFill>
                <a:latin typeface="Inter" panose="02000503000000020004"/>
                <a:ea typeface="Inter" panose="02000503000000020004"/>
                <a:cs typeface="Inter" panose="02000503000000020004"/>
                <a:sym typeface="Inter" panose="02000503000000020004"/>
              </a:rPr>
              <a:t>Mô tả vai trò sử dụng hệ thống.</a:t>
            </a:r>
            <a:endParaRPr lang="en-US" sz="1500" i="0" u="none" strike="noStrike" cap="none">
              <a:solidFill>
                <a:srgbClr val="1A202C"/>
              </a:solidFill>
              <a:latin typeface="Inter" panose="02000503000000020004"/>
              <a:ea typeface="Inter" panose="02000503000000020004"/>
              <a:cs typeface="Inter" panose="02000503000000020004"/>
              <a:sym typeface="Inter" panose="02000503000000020004"/>
            </a:endParaRPr>
          </a:p>
          <a:p>
            <a:pPr marL="0" marR="0" lvl="0" indent="0" algn="l" rtl="0">
              <a:lnSpc>
                <a:spcPct val="160000"/>
              </a:lnSpc>
              <a:spcBef>
                <a:spcPts val="0"/>
              </a:spcBef>
              <a:spcAft>
                <a:spcPts val="0"/>
              </a:spcAft>
              <a:buNone/>
            </a:pPr>
            <a:endParaRPr lang="en-US" sz="1500" i="0" u="none" strike="noStrike" cap="none">
              <a:solidFill>
                <a:srgbClr val="1A202C"/>
              </a:solidFill>
              <a:latin typeface="Inter" panose="02000503000000020004"/>
              <a:ea typeface="Inter" panose="02000503000000020004"/>
              <a:cs typeface="Inter" panose="02000503000000020004"/>
              <a:sym typeface="Inter" panose="02000503000000020004"/>
            </a:endParaRPr>
          </a:p>
        </p:txBody>
      </p:sp>
      <p:sp>
        <p:nvSpPr>
          <p:cNvPr id="139" name="Google Shape;139;p17"/>
          <p:cNvSpPr txBox="1"/>
          <p:nvPr>
            <p:custDataLst>
              <p:tags r:id="rId5"/>
            </p:custDataLst>
          </p:nvPr>
        </p:nvSpPr>
        <p:spPr>
          <a:xfrm>
            <a:off x="581025" y="3776662"/>
            <a:ext cx="5276850" cy="368935"/>
          </a:xfrm>
          <a:prstGeom prst="rect">
            <a:avLst/>
          </a:prstGeom>
          <a:noFill/>
          <a:ln>
            <a:noFill/>
          </a:ln>
        </p:spPr>
        <p:txBody>
          <a:bodyPr spcFirstLastPara="1" wrap="square" lIns="28575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A202C"/>
                </a:solidFill>
                <a:latin typeface="Inter" panose="02000503000000020004"/>
                <a:ea typeface="Inter" panose="02000503000000020004"/>
                <a:cs typeface="Inter" panose="02000503000000020004"/>
                <a:sym typeface="Inter" panose="02000503000000020004"/>
              </a:rPr>
              <a:t>Sequence Diagram:</a:t>
            </a:r>
            <a:r>
              <a:rPr lang="en-US" sz="1500" b="0" i="0" u="none" strike="noStrike" cap="none">
                <a:solidFill>
                  <a:srgbClr val="1A202C"/>
                </a:solidFill>
                <a:latin typeface="Inter" panose="02000503000000020004"/>
                <a:ea typeface="Inter" panose="02000503000000020004"/>
                <a:cs typeface="Inter" panose="02000503000000020004"/>
                <a:sym typeface="Inter" panose="02000503000000020004"/>
              </a:rPr>
              <a:t> </a:t>
            </a:r>
            <a:r>
              <a:rPr lang="en-US" sz="1500" i="0" u="none" strike="noStrike" cap="none">
                <a:solidFill>
                  <a:srgbClr val="1A202C"/>
                </a:solidFill>
                <a:latin typeface="Inter" panose="02000503000000020004"/>
                <a:ea typeface="Inter" panose="02000503000000020004"/>
                <a:cs typeface="Inter" panose="02000503000000020004"/>
                <a:sym typeface="Inter" panose="02000503000000020004"/>
              </a:rPr>
              <a:t>Luồng tương tác thời gian thực.</a:t>
            </a:r>
            <a:endParaRPr lang="en-US" sz="1500" i="0" u="none" strike="noStrike" cap="none">
              <a:solidFill>
                <a:srgbClr val="1A202C"/>
              </a:solidFill>
              <a:latin typeface="Inter" panose="02000503000000020004"/>
              <a:ea typeface="Inter" panose="02000503000000020004"/>
              <a:cs typeface="Inter" panose="02000503000000020004"/>
              <a:sym typeface="Inter" panose="02000503000000020004"/>
            </a:endParaRPr>
          </a:p>
        </p:txBody>
      </p:sp>
      <p:sp>
        <p:nvSpPr>
          <p:cNvPr id="140" name="Google Shape;140;p17"/>
          <p:cNvSpPr txBox="1"/>
          <p:nvPr>
            <p:custDataLst>
              <p:tags r:id="rId6"/>
            </p:custDataLst>
          </p:nvPr>
        </p:nvSpPr>
        <p:spPr>
          <a:xfrm>
            <a:off x="581025" y="4319587"/>
            <a:ext cx="5276850" cy="368935"/>
          </a:xfrm>
          <a:prstGeom prst="rect">
            <a:avLst/>
          </a:prstGeom>
          <a:noFill/>
          <a:ln>
            <a:noFill/>
          </a:ln>
        </p:spPr>
        <p:txBody>
          <a:bodyPr spcFirstLastPara="1" wrap="square" lIns="28575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A202C"/>
                </a:solidFill>
                <a:latin typeface="Inter" panose="02000503000000020004"/>
                <a:ea typeface="Inter" panose="02000503000000020004"/>
                <a:cs typeface="Inter" panose="02000503000000020004"/>
                <a:sym typeface="Inter" panose="02000503000000020004"/>
              </a:rPr>
              <a:t>Activity Diagram:</a:t>
            </a:r>
            <a:r>
              <a:rPr lang="en-US" sz="1500" b="0" i="0" u="none" strike="noStrike" cap="none">
                <a:solidFill>
                  <a:srgbClr val="1A202C"/>
                </a:solidFill>
                <a:latin typeface="Inter" panose="02000503000000020004"/>
                <a:ea typeface="Inter" panose="02000503000000020004"/>
                <a:cs typeface="Inter" panose="02000503000000020004"/>
                <a:sym typeface="Inter" panose="02000503000000020004"/>
              </a:rPr>
              <a:t> </a:t>
            </a:r>
            <a:r>
              <a:rPr lang="en-US" sz="1500" i="0" u="none" strike="noStrike" cap="none">
                <a:solidFill>
                  <a:srgbClr val="1A202C"/>
                </a:solidFill>
                <a:latin typeface="Inter" panose="02000503000000020004"/>
                <a:ea typeface="Inter" panose="02000503000000020004"/>
                <a:cs typeface="Inter" panose="02000503000000020004"/>
                <a:sym typeface="Inter" panose="02000503000000020004"/>
              </a:rPr>
              <a:t>Mô tả quy trình hoạt động.</a:t>
            </a:r>
            <a:endParaRPr lang="en-US" sz="1500" i="0" u="none" strike="noStrike" cap="none">
              <a:solidFill>
                <a:srgbClr val="1A202C"/>
              </a:solidFill>
              <a:latin typeface="Inter" panose="02000503000000020004"/>
              <a:ea typeface="Inter" panose="02000503000000020004"/>
              <a:cs typeface="Inter" panose="02000503000000020004"/>
              <a:sym typeface="Inter" panose="02000503000000020004"/>
            </a:endParaRPr>
          </a:p>
        </p:txBody>
      </p:sp>
      <p:pic>
        <p:nvPicPr>
          <p:cNvPr id="141" name="Google Shape;141;p17" descr="image.png"/>
          <p:cNvPicPr preferRelativeResize="0"/>
          <p:nvPr>
            <p:custDataLst>
              <p:tags r:id="rId7"/>
            </p:custDataLst>
          </p:nvPr>
        </p:nvPicPr>
        <p:blipFill rotWithShape="1">
          <a:blip r:embed="rId8"/>
          <a:srcRect/>
          <a:stretch>
            <a:fillRect/>
          </a:stretch>
        </p:blipFill>
        <p:spPr>
          <a:xfrm>
            <a:off x="581025" y="3286125"/>
            <a:ext cx="190500" cy="200025"/>
          </a:xfrm>
          <a:prstGeom prst="rect">
            <a:avLst/>
          </a:prstGeom>
          <a:noFill/>
          <a:ln>
            <a:noFill/>
          </a:ln>
        </p:spPr>
      </p:pic>
      <p:pic>
        <p:nvPicPr>
          <p:cNvPr id="142" name="Google Shape;142;p17" descr="image.png"/>
          <p:cNvPicPr preferRelativeResize="0"/>
          <p:nvPr>
            <p:custDataLst>
              <p:tags r:id="rId9"/>
            </p:custDataLst>
          </p:nvPr>
        </p:nvPicPr>
        <p:blipFill rotWithShape="1">
          <a:blip r:embed="rId8"/>
          <a:srcRect/>
          <a:stretch>
            <a:fillRect/>
          </a:stretch>
        </p:blipFill>
        <p:spPr>
          <a:xfrm>
            <a:off x="581025" y="3829050"/>
            <a:ext cx="190500" cy="200025"/>
          </a:xfrm>
          <a:prstGeom prst="rect">
            <a:avLst/>
          </a:prstGeom>
          <a:noFill/>
          <a:ln>
            <a:noFill/>
          </a:ln>
        </p:spPr>
      </p:pic>
      <p:pic>
        <p:nvPicPr>
          <p:cNvPr id="143" name="Google Shape;143;p17" descr="image.png"/>
          <p:cNvPicPr preferRelativeResize="0"/>
          <p:nvPr>
            <p:custDataLst>
              <p:tags r:id="rId10"/>
            </p:custDataLst>
          </p:nvPr>
        </p:nvPicPr>
        <p:blipFill rotWithShape="1">
          <a:blip r:embed="rId8"/>
          <a:srcRect/>
          <a:stretch>
            <a:fillRect/>
          </a:stretch>
        </p:blipFill>
        <p:spPr>
          <a:xfrm>
            <a:off x="581025" y="4371975"/>
            <a:ext cx="190500" cy="200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32" name="Shape 132"/>
        <p:cNvGrpSpPr/>
        <p:nvPr/>
      </p:nvGrpSpPr>
      <p:grpSpPr>
        <a:xfrm>
          <a:off x="0" y="0"/>
          <a:ext cx="0" cy="0"/>
          <a:chOff x="0" y="0"/>
          <a:chExt cx="0" cy="0"/>
        </a:xfrm>
      </p:grpSpPr>
      <p:pic>
        <p:nvPicPr>
          <p:cNvPr id="133" name="Google Shape;133;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35" name="Google Shape;135;p17"/>
          <p:cNvSpPr txBox="1"/>
          <p:nvPr/>
        </p:nvSpPr>
        <p:spPr>
          <a:xfrm>
            <a:off x="581025" y="170180"/>
            <a:ext cx="11581447"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Mô hình hóa với sơ đồ UML</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36" name="Google Shape;136;p17"/>
          <p:cNvSpPr/>
          <p:nvPr>
            <p:custDataLst>
              <p:tags r:id="rId2"/>
            </p:custDataLst>
          </p:nvPr>
        </p:nvSpPr>
        <p:spPr>
          <a:xfrm>
            <a:off x="581025" y="77025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8" name="Google Shape;138;p17"/>
          <p:cNvSpPr txBox="1"/>
          <p:nvPr>
            <p:custDataLst>
              <p:tags r:id="rId3"/>
            </p:custDataLst>
          </p:nvPr>
        </p:nvSpPr>
        <p:spPr>
          <a:xfrm>
            <a:off x="78740" y="694372"/>
            <a:ext cx="5276850" cy="368935"/>
          </a:xfrm>
          <a:prstGeom prst="rect">
            <a:avLst/>
          </a:prstGeom>
          <a:noFill/>
          <a:ln>
            <a:noFill/>
          </a:ln>
        </p:spPr>
        <p:txBody>
          <a:bodyPr spcFirstLastPara="1" wrap="square" lIns="28575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1A202C"/>
                </a:solidFill>
                <a:latin typeface="Inter" panose="02000503000000020004"/>
                <a:ea typeface="Inter" panose="02000503000000020004"/>
                <a:cs typeface="Inter" panose="02000503000000020004"/>
                <a:sym typeface="Inter" panose="02000503000000020004"/>
              </a:rPr>
              <a:t>Use Case Diagram:</a:t>
            </a:r>
            <a:r>
              <a:rPr lang="en-US" sz="1500" b="0" i="0" u="none" strike="noStrike" cap="none">
                <a:solidFill>
                  <a:srgbClr val="1A202C"/>
                </a:solidFill>
                <a:latin typeface="Inter" panose="02000503000000020004"/>
                <a:ea typeface="Inter" panose="02000503000000020004"/>
                <a:cs typeface="Inter" panose="02000503000000020004"/>
                <a:sym typeface="Inter" panose="02000503000000020004"/>
              </a:rPr>
              <a:t> </a:t>
            </a:r>
            <a:r>
              <a:rPr lang="en-US" sz="1500" i="0" u="none" strike="noStrike" cap="none">
                <a:solidFill>
                  <a:srgbClr val="1A202C"/>
                </a:solidFill>
                <a:latin typeface="Inter" panose="02000503000000020004"/>
                <a:ea typeface="Inter" panose="02000503000000020004"/>
                <a:cs typeface="Inter" panose="02000503000000020004"/>
                <a:sym typeface="Inter" panose="02000503000000020004"/>
              </a:rPr>
              <a:t>Mô tả vai trò sử dụng hệ thống.</a:t>
            </a:r>
            <a:endParaRPr lang="en-US" sz="1500" i="0" u="none" strike="noStrike" cap="none">
              <a:solidFill>
                <a:srgbClr val="1A202C"/>
              </a:solidFill>
              <a:latin typeface="Inter" panose="02000503000000020004"/>
              <a:ea typeface="Inter" panose="02000503000000020004"/>
              <a:cs typeface="Inter" panose="02000503000000020004"/>
              <a:sym typeface="Inter" panose="02000503000000020004"/>
            </a:endParaRPr>
          </a:p>
        </p:txBody>
      </p:sp>
      <p:pic>
        <p:nvPicPr>
          <p:cNvPr id="141" name="Google Shape;141;p17" descr="image.png"/>
          <p:cNvPicPr preferRelativeResize="0"/>
          <p:nvPr>
            <p:custDataLst>
              <p:tags r:id="rId4"/>
            </p:custDataLst>
          </p:nvPr>
        </p:nvPicPr>
        <p:blipFill rotWithShape="1">
          <a:blip r:embed="rId5"/>
          <a:srcRect/>
          <a:stretch>
            <a:fillRect/>
          </a:stretch>
        </p:blipFill>
        <p:spPr>
          <a:xfrm>
            <a:off x="257175" y="789305"/>
            <a:ext cx="190500" cy="200025"/>
          </a:xfrm>
          <a:prstGeom prst="rect">
            <a:avLst/>
          </a:prstGeom>
          <a:noFill/>
          <a:ln>
            <a:noFill/>
          </a:ln>
        </p:spPr>
      </p:pic>
      <p:pic>
        <p:nvPicPr>
          <p:cNvPr id="2" name="Picture 1"/>
          <p:cNvPicPr>
            <a:picLocks noChangeAspect="1"/>
          </p:cNvPicPr>
          <p:nvPr/>
        </p:nvPicPr>
        <p:blipFill>
          <a:blip r:embed="rId6"/>
          <a:stretch>
            <a:fillRect/>
          </a:stretch>
        </p:blipFill>
        <p:spPr>
          <a:xfrm>
            <a:off x="1041400" y="1185545"/>
            <a:ext cx="3351530" cy="5672455"/>
          </a:xfrm>
          <a:prstGeom prst="rect">
            <a:avLst/>
          </a:prstGeom>
          <a:ln w="19050">
            <a:solidFill>
              <a:schemeClr val="accent4">
                <a:lumMod val="75000"/>
              </a:schemeClr>
            </a:solidFill>
          </a:ln>
        </p:spPr>
      </p:pic>
      <p:sp>
        <p:nvSpPr>
          <p:cNvPr id="5" name="Google Shape;138;p17"/>
          <p:cNvSpPr txBox="1"/>
          <p:nvPr>
            <p:custDataLst>
              <p:tags r:id="rId7"/>
            </p:custDataLst>
          </p:nvPr>
        </p:nvSpPr>
        <p:spPr>
          <a:xfrm>
            <a:off x="5428615" y="681672"/>
            <a:ext cx="5276850" cy="368935"/>
          </a:xfrm>
          <a:prstGeom prst="rect">
            <a:avLst/>
          </a:prstGeom>
          <a:noFill/>
          <a:ln>
            <a:noFill/>
          </a:ln>
        </p:spPr>
        <p:txBody>
          <a:bodyPr spcFirstLastPara="1" wrap="square" lIns="28575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A202C"/>
                </a:solidFill>
                <a:latin typeface="Inter" panose="02000503000000020004"/>
                <a:ea typeface="Inter" panose="02000503000000020004"/>
                <a:cs typeface="Inter" panose="02000503000000020004"/>
                <a:sym typeface="Inter" panose="02000503000000020004"/>
              </a:rPr>
              <a:t>Sequence Digram: </a:t>
            </a:r>
            <a:r>
              <a:rPr lang="en-US" sz="1500" i="0" u="none" strike="noStrike" cap="none">
                <a:solidFill>
                  <a:srgbClr val="1A202C"/>
                </a:solidFill>
                <a:latin typeface="Inter" panose="02000503000000020004"/>
                <a:ea typeface="Inter" panose="02000503000000020004"/>
                <a:cs typeface="Inter" panose="02000503000000020004"/>
                <a:sym typeface="Inter" panose="02000503000000020004"/>
              </a:rPr>
              <a:t>Mô tả luồng tương tác</a:t>
            </a:r>
            <a:endParaRPr lang="en-US" sz="1500" i="0" u="none" strike="noStrike" cap="none">
              <a:solidFill>
                <a:srgbClr val="1A202C"/>
              </a:solidFill>
              <a:latin typeface="Inter" panose="02000503000000020004"/>
              <a:ea typeface="Inter" panose="02000503000000020004"/>
              <a:cs typeface="Inter" panose="02000503000000020004"/>
              <a:sym typeface="Inter" panose="02000503000000020004"/>
            </a:endParaRPr>
          </a:p>
        </p:txBody>
      </p:sp>
      <p:pic>
        <p:nvPicPr>
          <p:cNvPr id="6" name="Google Shape;141;p17" descr="image.png"/>
          <p:cNvPicPr preferRelativeResize="0"/>
          <p:nvPr>
            <p:custDataLst>
              <p:tags r:id="rId8"/>
            </p:custDataLst>
          </p:nvPr>
        </p:nvPicPr>
        <p:blipFill rotWithShape="1">
          <a:blip r:embed="rId5"/>
          <a:srcRect/>
          <a:stretch>
            <a:fillRect/>
          </a:stretch>
        </p:blipFill>
        <p:spPr>
          <a:xfrm>
            <a:off x="5431155" y="789305"/>
            <a:ext cx="190500" cy="200025"/>
          </a:xfrm>
          <a:prstGeom prst="rect">
            <a:avLst/>
          </a:prstGeom>
          <a:noFill/>
          <a:ln>
            <a:noFill/>
          </a:ln>
        </p:spPr>
      </p:pic>
      <p:pic>
        <p:nvPicPr>
          <p:cNvPr id="3" name="Picture 2"/>
          <p:cNvPicPr>
            <a:picLocks noChangeAspect="1"/>
          </p:cNvPicPr>
          <p:nvPr/>
        </p:nvPicPr>
        <p:blipFill>
          <a:blip r:embed="rId9"/>
          <a:stretch>
            <a:fillRect/>
          </a:stretch>
        </p:blipFill>
        <p:spPr>
          <a:xfrm>
            <a:off x="5585460" y="1084580"/>
            <a:ext cx="6439535" cy="5773420"/>
          </a:xfrm>
          <a:prstGeom prst="rect">
            <a:avLst/>
          </a:prstGeom>
          <a:ln w="19050">
            <a:solidFill>
              <a:schemeClr val="accent4">
                <a:lumMod val="75000"/>
              </a:schemeClr>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32" name="Shape 132"/>
        <p:cNvGrpSpPr/>
        <p:nvPr/>
      </p:nvGrpSpPr>
      <p:grpSpPr>
        <a:xfrm>
          <a:off x="0" y="0"/>
          <a:ext cx="0" cy="0"/>
          <a:chOff x="0" y="0"/>
          <a:chExt cx="0" cy="0"/>
        </a:xfrm>
      </p:grpSpPr>
      <p:pic>
        <p:nvPicPr>
          <p:cNvPr id="133" name="Google Shape;133;p17" descr="image.png"/>
          <p:cNvPicPr preferRelativeResize="0"/>
          <p:nvPr/>
        </p:nvPicPr>
        <p:blipFill rotWithShape="1">
          <a:blip r:embed="rId1"/>
          <a:srcRect/>
          <a:stretch>
            <a:fillRect/>
          </a:stretch>
        </p:blipFill>
        <p:spPr>
          <a:xfrm>
            <a:off x="0" y="6985"/>
            <a:ext cx="12192000" cy="6858000"/>
          </a:xfrm>
          <a:prstGeom prst="rect">
            <a:avLst/>
          </a:prstGeom>
          <a:noFill/>
          <a:ln>
            <a:noFill/>
          </a:ln>
        </p:spPr>
      </p:pic>
      <p:sp>
        <p:nvSpPr>
          <p:cNvPr id="135" name="Google Shape;135;p17"/>
          <p:cNvSpPr txBox="1"/>
          <p:nvPr/>
        </p:nvSpPr>
        <p:spPr>
          <a:xfrm>
            <a:off x="581025" y="581025"/>
            <a:ext cx="11581447"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Mô hình hóa với sơ đồ UML</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36" name="Google Shape;136;p17"/>
          <p:cNvSpPr/>
          <p:nvPr/>
        </p:nvSpPr>
        <p:spPr>
          <a:xfrm>
            <a:off x="581025" y="118110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8" name="Google Shape;138;p17"/>
          <p:cNvSpPr txBox="1"/>
          <p:nvPr>
            <p:custDataLst>
              <p:tags r:id="rId2"/>
            </p:custDataLst>
          </p:nvPr>
        </p:nvSpPr>
        <p:spPr>
          <a:xfrm>
            <a:off x="626110" y="1347787"/>
            <a:ext cx="5276850" cy="368935"/>
          </a:xfrm>
          <a:prstGeom prst="rect">
            <a:avLst/>
          </a:prstGeom>
          <a:noFill/>
          <a:ln>
            <a:noFill/>
          </a:ln>
        </p:spPr>
        <p:txBody>
          <a:bodyPr spcFirstLastPara="1" wrap="square" lIns="28575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A202C"/>
                </a:solidFill>
                <a:latin typeface="Inter" panose="02000503000000020004"/>
                <a:ea typeface="Inter" panose="02000503000000020004"/>
                <a:cs typeface="Inter" panose="02000503000000020004"/>
                <a:sym typeface="Inter" panose="02000503000000020004"/>
              </a:rPr>
              <a:t>Activity Digram cho quy trình RAG</a:t>
            </a:r>
            <a:endParaRPr lang="en-US" sz="1500" b="1" i="0" u="none" strike="noStrike" cap="none">
              <a:solidFill>
                <a:srgbClr val="1A202C"/>
              </a:solidFill>
              <a:latin typeface="Inter" panose="02000503000000020004"/>
              <a:ea typeface="Inter" panose="02000503000000020004"/>
              <a:cs typeface="Inter" panose="02000503000000020004"/>
              <a:sym typeface="Inter" panose="02000503000000020004"/>
            </a:endParaRPr>
          </a:p>
        </p:txBody>
      </p:sp>
      <p:pic>
        <p:nvPicPr>
          <p:cNvPr id="141" name="Google Shape;141;p17" descr="image.png"/>
          <p:cNvPicPr preferRelativeResize="0"/>
          <p:nvPr>
            <p:custDataLst>
              <p:tags r:id="rId3"/>
            </p:custDataLst>
          </p:nvPr>
        </p:nvPicPr>
        <p:blipFill rotWithShape="1">
          <a:blip r:embed="rId4"/>
          <a:srcRect/>
          <a:stretch>
            <a:fillRect/>
          </a:stretch>
        </p:blipFill>
        <p:spPr>
          <a:xfrm>
            <a:off x="581025" y="1431925"/>
            <a:ext cx="190500" cy="200025"/>
          </a:xfrm>
          <a:prstGeom prst="rect">
            <a:avLst/>
          </a:prstGeom>
          <a:noFill/>
          <a:ln>
            <a:noFill/>
          </a:ln>
        </p:spPr>
      </p:pic>
      <p:pic>
        <p:nvPicPr>
          <p:cNvPr id="2" name="Picture 1"/>
          <p:cNvPicPr>
            <a:picLocks noChangeAspect="1"/>
          </p:cNvPicPr>
          <p:nvPr/>
        </p:nvPicPr>
        <p:blipFill>
          <a:blip r:embed="rId5"/>
          <a:stretch>
            <a:fillRect/>
          </a:stretch>
        </p:blipFill>
        <p:spPr>
          <a:xfrm>
            <a:off x="0" y="2753360"/>
            <a:ext cx="12192000" cy="1350645"/>
          </a:xfrm>
          <a:prstGeom prst="rect">
            <a:avLst/>
          </a:prstGeom>
          <a:ln w="19050">
            <a:solidFill>
              <a:schemeClr val="accent4">
                <a:lumMod val="75000"/>
              </a:schemeClr>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47" name="Shape 147"/>
        <p:cNvGrpSpPr/>
        <p:nvPr/>
      </p:nvGrpSpPr>
      <p:grpSpPr>
        <a:xfrm>
          <a:off x="0" y="0"/>
          <a:ext cx="0" cy="0"/>
          <a:chOff x="0" y="0"/>
          <a:chExt cx="0" cy="0"/>
        </a:xfrm>
      </p:grpSpPr>
      <p:pic>
        <p:nvPicPr>
          <p:cNvPr id="148" name="Google Shape;148;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49" name="Google Shape;149;p18"/>
          <p:cNvSpPr/>
          <p:nvPr/>
        </p:nvSpPr>
        <p:spPr>
          <a:xfrm>
            <a:off x="5715000" y="2695575"/>
            <a:ext cx="762000" cy="47625"/>
          </a:xfrm>
          <a:prstGeom prst="rect">
            <a:avLst/>
          </a:prstGeom>
          <a:solidFill>
            <a:srgbClr val="B7791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0" name="Google Shape;150;p18"/>
          <p:cNvSpPr txBox="1"/>
          <p:nvPr/>
        </p:nvSpPr>
        <p:spPr>
          <a:xfrm>
            <a:off x="305276" y="3028950"/>
            <a:ext cx="11581447" cy="733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1A202C"/>
                </a:solidFill>
                <a:latin typeface="Urbanist" panose="020B0A04040200000203"/>
                <a:ea typeface="Urbanist" panose="020B0A04040200000203"/>
                <a:cs typeface="Urbanist" panose="020B0A04040200000203"/>
                <a:sym typeface="Urbanist" panose="020B0A04040200000203"/>
              </a:rPr>
              <a:t>PHẦN 2: CHỦ ĐỀ CHUYÊN SÂU</a:t>
            </a:r>
            <a:endParaRPr lang="en-US" sz="4800" b="1" i="0" u="none" strike="noStrike" cap="none">
              <a:solidFill>
                <a:srgbClr val="1A202C"/>
              </a:solidFill>
              <a:latin typeface="Urbanist" panose="020B0A04040200000203"/>
              <a:ea typeface="Urbanist" panose="020B0A04040200000203"/>
              <a:cs typeface="Urbanist" panose="020B0A04040200000203"/>
              <a:sym typeface="Urbanist" panose="020B0A04040200000203"/>
            </a:endParaRPr>
          </a:p>
        </p:txBody>
      </p:sp>
      <p:sp>
        <p:nvSpPr>
          <p:cNvPr id="151" name="Google Shape;151;p18"/>
          <p:cNvSpPr txBox="1"/>
          <p:nvPr/>
        </p:nvSpPr>
        <p:spPr>
          <a:xfrm>
            <a:off x="979170" y="3952875"/>
            <a:ext cx="10233660" cy="73850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Ứng dụng kỹ thuật RAG để nâng cao chất lượng phản hồi của Chatbot cho hệ thống tự động phản hồi thắc mắc người dùng</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581025" y="19050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Kỹ thuật RAG là gì?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2" name="Google Shape;162;p19"/>
          <p:cNvSpPr txBox="1"/>
          <p:nvPr/>
        </p:nvSpPr>
        <p:spPr>
          <a:xfrm>
            <a:off x="581025" y="874395"/>
            <a:ext cx="11029950" cy="274447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2000" b="1" i="0" u="none" strike="noStrike" cap="none">
                <a:solidFill>
                  <a:srgbClr val="5A6275"/>
                </a:solidFill>
                <a:latin typeface="Inter" panose="02000503000000020004"/>
                <a:ea typeface="Inter" panose="02000503000000020004"/>
                <a:cs typeface="Inter" panose="02000503000000020004"/>
                <a:sym typeface="Inter" panose="02000503000000020004"/>
              </a:rPr>
              <a:t>RAG (Retrieval-Augmented Generation)</a:t>
            </a:r>
            <a:r>
              <a:rPr lang="en-US" sz="2000" b="0" i="0" u="none" strike="noStrike" cap="none">
                <a:solidFill>
                  <a:srgbClr val="5A6275"/>
                </a:solidFill>
                <a:latin typeface="Inter" panose="02000503000000020004"/>
                <a:ea typeface="Inter" panose="02000503000000020004"/>
                <a:cs typeface="Inter" panose="02000503000000020004"/>
                <a:sym typeface="Inter" panose="02000503000000020004"/>
              </a:rPr>
              <a:t> </a:t>
            </a: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là một kỹ thuật AI giúp cải thiện đầu ra của các mô hình ngôn ngữ lớn bằng cách truy xuất thông tin bên ngoài có liên quan như những tài liệu, cơ sở dữ liệu hay báo cáo trong những lĩnh vực chuyên biệt và đưa nó vào ngữ cảnh của mô hình trước khi tạo ra phản hồi. Kỹ thuật này giúp giảm thiểu các sai lệch, cung cấp các dữ kiện cập nhật và cho phép đưa ra các câu trả lời chuyên sâu và cụ thể bằng cách kết hợp hệ thống truy xuất với các mô hình ngôn ngữ lớn.</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pic>
        <p:nvPicPr>
          <p:cNvPr id="5" name="Picture 4"/>
          <p:cNvPicPr>
            <a:picLocks noChangeAspect="1"/>
          </p:cNvPicPr>
          <p:nvPr/>
        </p:nvPicPr>
        <p:blipFill>
          <a:blip r:embed="rId2"/>
          <a:stretch>
            <a:fillRect/>
          </a:stretch>
        </p:blipFill>
        <p:spPr>
          <a:xfrm>
            <a:off x="869315" y="2990850"/>
            <a:ext cx="10454005" cy="3173730"/>
          </a:xfrm>
          <a:prstGeom prst="rect">
            <a:avLst/>
          </a:prstGeom>
          <a:ln w="19050">
            <a:solidFill>
              <a:schemeClr val="accent4">
                <a:lumMod val="75000"/>
              </a:schemeClr>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581025" y="19050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Các khối xử lý của kỹ thuật RAG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Google Shape;162;p19"/>
          <p:cNvSpPr txBox="1"/>
          <p:nvPr/>
        </p:nvSpPr>
        <p:spPr>
          <a:xfrm>
            <a:off x="8546465" y="1754505"/>
            <a:ext cx="3306445" cy="334899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rPr>
              <a:t>Các khối xử lý chính của kỹ thuật RAG</a:t>
            </a:r>
            <a:endPar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rPr>
              <a:t>1. Khối xử lý dữ liệu cơ sở</a:t>
            </a:r>
            <a:endPar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rPr>
              <a:t>2. Khối phân đoạn dữ liệu (Chunking)</a:t>
            </a:r>
            <a:endPar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rPr>
              <a:t>3. Khối mã hóa số dữ liệu (Embedding)</a:t>
            </a:r>
            <a:endPar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rPr>
              <a:t>4. Khối lưu trữ dữ liệu được mã hóa số (Vector Database)</a:t>
            </a:r>
            <a:endPar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rPr>
              <a:t>5. Khối đặt câu lệnh cho AI (prompting)</a:t>
            </a:r>
            <a:endPar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r>
              <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rPr>
              <a:t>6. Khối kết nối tới mô hình ngôn ngữ lớn (LLM)</a:t>
            </a:r>
            <a:endPar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endParaRPr>
          </a:p>
          <a:p>
            <a:pPr marL="0" marR="0" lvl="0" indent="0" algn="just" rtl="0">
              <a:lnSpc>
                <a:spcPct val="160000"/>
              </a:lnSpc>
              <a:spcBef>
                <a:spcPts val="0"/>
              </a:spcBef>
              <a:spcAft>
                <a:spcPts val="0"/>
              </a:spcAft>
              <a:buNone/>
            </a:pPr>
            <a:endPar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pic>
        <p:nvPicPr>
          <p:cNvPr id="4" name="Picture 3"/>
          <p:cNvPicPr>
            <a:picLocks noChangeAspect="1"/>
          </p:cNvPicPr>
          <p:nvPr/>
        </p:nvPicPr>
        <p:blipFill>
          <a:blip r:embed="rId2"/>
          <a:stretch>
            <a:fillRect/>
          </a:stretch>
        </p:blipFill>
        <p:spPr>
          <a:xfrm>
            <a:off x="125730" y="1156335"/>
            <a:ext cx="8275320" cy="4747260"/>
          </a:xfrm>
          <a:prstGeom prst="rect">
            <a:avLst/>
          </a:prstGeom>
          <a:ln w="19050">
            <a:solidFill>
              <a:schemeClr val="accent4">
                <a:lumMod val="75000"/>
              </a:schemeClr>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581025" y="19050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1. Khối xử lý dữ liệu cơ sở (lý thuyết)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Google Shape;162;p19"/>
          <p:cNvSpPr txBox="1"/>
          <p:nvPr/>
        </p:nvSpPr>
        <p:spPr>
          <a:xfrm>
            <a:off x="581025" y="901700"/>
            <a:ext cx="11029950" cy="117983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rPr>
              <a:t>Trong thực tế, các loại dữ liệu có thể ở nhiều định dạng khác nhau, do đó việc xác định các kiểu dữ liệu muốn tham gia trong hệ thống hỏi đáp là bước tiên quyết và nó sẽ ảnh hưởng đến các bước tiếp theo và đến kết quả cuối cùng của hệ thống</a:t>
            </a:r>
            <a:endPar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pic>
        <p:nvPicPr>
          <p:cNvPr id="2" name="Picture 1"/>
          <p:cNvPicPr>
            <a:picLocks noChangeAspect="1"/>
          </p:cNvPicPr>
          <p:nvPr/>
        </p:nvPicPr>
        <p:blipFill>
          <a:blip r:embed="rId2"/>
          <a:stretch>
            <a:fillRect/>
          </a:stretch>
        </p:blipFill>
        <p:spPr>
          <a:xfrm>
            <a:off x="2923540" y="1937385"/>
            <a:ext cx="6344285" cy="4851400"/>
          </a:xfrm>
          <a:prstGeom prst="rect">
            <a:avLst/>
          </a:prstGeom>
          <a:ln w="28575">
            <a:solidFill>
              <a:schemeClr val="accent4">
                <a:lumMod val="75000"/>
              </a:schemeClr>
            </a:solidFill>
          </a:ln>
        </p:spPr>
      </p:pic>
      <p:sp>
        <p:nvSpPr>
          <p:cNvPr id="5" name="Google Shape;162;p19"/>
          <p:cNvSpPr txBox="1"/>
          <p:nvPr/>
        </p:nvSpPr>
        <p:spPr>
          <a:xfrm>
            <a:off x="581025" y="1607185"/>
            <a:ext cx="3709035" cy="47434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Phân loại các thể loại dữ liệu và đặc trưng</a:t>
            </a:r>
            <a:endPar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581025" y="19050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1. Khối xử lý dữ liệu cơ sở (ứng dụng)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 name="Google Shape;162;p19"/>
          <p:cNvSpPr txBox="1"/>
          <p:nvPr/>
        </p:nvSpPr>
        <p:spPr>
          <a:xfrm>
            <a:off x="581025" y="800100"/>
            <a:ext cx="11029950" cy="38227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500" b="1" i="0" u="none" strike="noStrike" cap="none">
                <a:solidFill>
                  <a:schemeClr val="tx1"/>
                </a:solidFill>
                <a:latin typeface="Inter" panose="02000503000000020004"/>
                <a:ea typeface="Inter" panose="02000503000000020004"/>
                <a:cs typeface="Inter" panose="02000503000000020004"/>
                <a:sym typeface="Inter" panose="02000503000000020004"/>
              </a:rPr>
              <a:t>Các dạng dữ liệu trong dự án và ảnh hưởng đến quá trình phân đoạn (Chunking)</a:t>
            </a:r>
            <a:endParaRPr lang="en-US" sz="1500" b="1"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graphicFrame>
        <p:nvGraphicFramePr>
          <p:cNvPr id="2" name="Table 1"/>
          <p:cNvGraphicFramePr/>
          <p:nvPr>
            <p:custDataLst>
              <p:tags r:id="rId2"/>
            </p:custDataLst>
          </p:nvPr>
        </p:nvGraphicFramePr>
        <p:xfrm>
          <a:off x="1025525" y="1479550"/>
          <a:ext cx="10141585" cy="4203065"/>
        </p:xfrm>
        <a:graphic>
          <a:graphicData uri="http://schemas.openxmlformats.org/drawingml/2006/table">
            <a:tbl>
              <a:tblPr firstRow="1" bandRow="1">
                <a:tableStyleId>{5C22544A-7EE6-4342-B048-85BDC9FD1C3A}</a:tableStyleId>
              </a:tblPr>
              <a:tblGrid>
                <a:gridCol w="2807970"/>
                <a:gridCol w="1098550"/>
                <a:gridCol w="3687445"/>
                <a:gridCol w="2547620"/>
              </a:tblGrid>
              <a:tr h="447675">
                <a:tc>
                  <a:txBody>
                    <a:bodyPr/>
                    <a:p>
                      <a:pPr algn="ctr">
                        <a:buNone/>
                      </a:pPr>
                      <a:r>
                        <a:rPr lang="en-US" sz="1200"/>
                        <a:t>Tên tài liệu</a:t>
                      </a:r>
                      <a:endParaRPr lang="en-US" sz="1200"/>
                    </a:p>
                  </a:txBody>
                  <a:tcPr/>
                </a:tc>
                <a:tc>
                  <a:txBody>
                    <a:bodyPr/>
                    <a:p>
                      <a:pPr algn="ctr">
                        <a:buNone/>
                      </a:pPr>
                      <a:r>
                        <a:rPr lang="en-US" sz="1200"/>
                        <a:t>Kiểu dữ liệu</a:t>
                      </a:r>
                      <a:endParaRPr lang="en-US" sz="1200"/>
                    </a:p>
                  </a:txBody>
                  <a:tcPr/>
                </a:tc>
                <a:tc>
                  <a:txBody>
                    <a:bodyPr/>
                    <a:p>
                      <a:pPr algn="ctr">
                        <a:buNone/>
                      </a:pPr>
                      <a:r>
                        <a:rPr lang="en-US" sz="1200"/>
                        <a:t>Đặc trưng trong RAG</a:t>
                      </a:r>
                      <a:endParaRPr lang="en-US" sz="1200"/>
                    </a:p>
                  </a:txBody>
                  <a:tcPr/>
                </a:tc>
                <a:tc>
                  <a:txBody>
                    <a:bodyPr/>
                    <a:p>
                      <a:pPr algn="ctr">
                        <a:buNone/>
                      </a:pPr>
                      <a:r>
                        <a:rPr lang="en-US" sz="1200"/>
                        <a:t>Xử lý trước phân đoạn</a:t>
                      </a:r>
                      <a:endParaRPr lang="en-US" sz="1200"/>
                    </a:p>
                  </a:txBody>
                  <a:tcPr/>
                </a:tc>
              </a:tr>
              <a:tr h="1005840">
                <a:tc>
                  <a:txBody>
                    <a:bodyPr/>
                    <a:p>
                      <a:pPr>
                        <a:buNone/>
                      </a:pPr>
                      <a:r>
                        <a:rPr lang="en-US" altLang="en-US" sz="1200" b="1"/>
                        <a:t>1.</a:t>
                      </a:r>
                      <a:r>
                        <a:rPr lang="en-US" altLang="en-US" sz="1200"/>
                        <a:t>Candle_benefit.docx</a:t>
                      </a:r>
                      <a:endParaRPr lang="en-US" altLang="en-US" sz="1200"/>
                    </a:p>
                    <a:p>
                      <a:pPr>
                        <a:buNone/>
                      </a:pPr>
                      <a:r>
                        <a:rPr lang="en-US" altLang="en-US" sz="1200" b="1">
                          <a:sym typeface="+mn-ea"/>
                        </a:rPr>
                        <a:t>2.</a:t>
                      </a:r>
                      <a:r>
                        <a:rPr lang="en-US" altLang="en-US" sz="1200">
                          <a:sym typeface="+mn-ea"/>
                        </a:rPr>
                        <a:t>Some_Fragrance_layers_of_scented_candles.docx</a:t>
                      </a:r>
                      <a:endParaRPr lang="en-US" altLang="en-US" sz="1200">
                        <a:sym typeface="+mn-ea"/>
                      </a:endParaRPr>
                    </a:p>
                    <a:p>
                      <a:pPr>
                        <a:buNone/>
                      </a:pPr>
                      <a:r>
                        <a:rPr lang="en-US" altLang="en-US" sz="1200" b="1">
                          <a:sym typeface="+mn-ea"/>
                        </a:rPr>
                        <a:t>3.</a:t>
                      </a:r>
                      <a:r>
                        <a:rPr lang="en-US" altLang="en-US" sz="1200">
                          <a:sym typeface="+mn-ea"/>
                        </a:rPr>
                        <a:t>Chinh_sach_mua_hang.docx</a:t>
                      </a:r>
                      <a:endParaRPr lang="en-US" altLang="en-US" sz="1200">
                        <a:sym typeface="+mn-ea"/>
                      </a:endParaRPr>
                    </a:p>
                    <a:p>
                      <a:pPr>
                        <a:buNone/>
                      </a:pPr>
                      <a:r>
                        <a:rPr lang="en-US" altLang="en-US" sz="1200" b="1">
                          <a:sym typeface="+mn-ea"/>
                        </a:rPr>
                        <a:t>4.</a:t>
                      </a:r>
                      <a:r>
                        <a:rPr lang="en-US" altLang="en-US" sz="1200">
                          <a:sym typeface="+mn-ea"/>
                        </a:rPr>
                        <a:t>Safe_Usage_guidance.docx</a:t>
                      </a:r>
                      <a:endParaRPr lang="en-US" altLang="en-US" sz="1200">
                        <a:sym typeface="+mn-ea"/>
                      </a:endParaRPr>
                    </a:p>
                  </a:txBody>
                  <a:tcPr/>
                </a:tc>
                <a:tc>
                  <a:txBody>
                    <a:bodyPr/>
                    <a:p>
                      <a:pPr>
                        <a:buNone/>
                      </a:pPr>
                      <a:r>
                        <a:rPr lang="en-US" sz="1200">
                          <a:sym typeface="+mn-ea"/>
                        </a:rPr>
                        <a:t>Word (.docx)</a:t>
                      </a:r>
                      <a:endParaRPr lang="en-US" sz="1200">
                        <a:sym typeface="+mn-ea"/>
                      </a:endParaRPr>
                    </a:p>
                  </a:txBody>
                  <a:tcPr/>
                </a:tc>
                <a:tc>
                  <a:txBody>
                    <a:bodyPr/>
                    <a:p>
                      <a:pPr>
                        <a:buNone/>
                      </a:pPr>
                      <a:r>
                        <a:rPr lang="en-US" sz="1200"/>
                        <a:t>Các file word này trong dự án được tổ chức theo cấu trúc markdown với các tiêu đề cụ thể, nội dung bao gồm các đoạn text đơn thuần</a:t>
                      </a:r>
                      <a:endParaRPr lang="en-US" sz="1200"/>
                    </a:p>
                  </a:txBody>
                  <a:tcPr/>
                </a:tc>
                <a:tc>
                  <a:txBody>
                    <a:bodyPr/>
                    <a:p>
                      <a:pPr>
                        <a:buNone/>
                      </a:pPr>
                      <a:r>
                        <a:rPr lang="en-US" sz="1200"/>
                        <a:t>Ưu tiên phân đoạn theo tiêu đề để đảm bảo về ngữ nghĩa, tiếp đến theo số lượng token giới hạn được cấu hình sẵn</a:t>
                      </a:r>
                      <a:endParaRPr lang="en-US" sz="1200"/>
                    </a:p>
                  </a:txBody>
                  <a:tcPr/>
                </a:tc>
              </a:tr>
              <a:tr h="1554480">
                <a:tc>
                  <a:txBody>
                    <a:bodyPr/>
                    <a:p>
                      <a:pPr>
                        <a:buNone/>
                      </a:pPr>
                      <a:r>
                        <a:rPr lang="en-US" altLang="en-US" sz="1200" b="1"/>
                        <a:t>1.</a:t>
                      </a:r>
                      <a:r>
                        <a:rPr lang="en-US" altLang="en-US" sz="1200"/>
                        <a:t>FAQ_Candle_knowledge.json</a:t>
                      </a:r>
                      <a:endParaRPr lang="en-US" altLang="en-US" sz="1200"/>
                    </a:p>
                    <a:p>
                      <a:pPr>
                        <a:buNone/>
                      </a:pPr>
                      <a:r>
                        <a:rPr lang="en-US" altLang="en-US" sz="1200" b="1">
                          <a:sym typeface="+mn-ea"/>
                        </a:rPr>
                        <a:t>2.</a:t>
                      </a:r>
                      <a:r>
                        <a:rPr lang="en-US" altLang="en-US" sz="1200">
                          <a:sym typeface="+mn-ea"/>
                        </a:rPr>
                        <a:t>FAQ_Discount_program.json</a:t>
                      </a:r>
                      <a:endParaRPr lang="en-US" altLang="en-US" sz="1200">
                        <a:sym typeface="+mn-ea"/>
                      </a:endParaRPr>
                    </a:p>
                    <a:p>
                      <a:pPr>
                        <a:buNone/>
                      </a:pPr>
                      <a:r>
                        <a:rPr lang="en-US" altLang="en-US" sz="1200" b="1">
                          <a:sym typeface="+mn-ea"/>
                        </a:rPr>
                        <a:t>3.</a:t>
                      </a:r>
                      <a:r>
                        <a:rPr lang="en-US" altLang="en-US" sz="1200">
                          <a:sym typeface="+mn-ea"/>
                        </a:rPr>
                        <a:t>FAQ_Policies.json</a:t>
                      </a:r>
                      <a:endParaRPr lang="en-US" altLang="en-US" sz="1200">
                        <a:sym typeface="+mn-ea"/>
                      </a:endParaRPr>
                    </a:p>
                    <a:p>
                      <a:pPr>
                        <a:buNone/>
                      </a:pPr>
                      <a:r>
                        <a:rPr lang="en-US" altLang="en-US" sz="1200" b="1">
                          <a:sym typeface="+mn-ea"/>
                        </a:rPr>
                        <a:t>4.</a:t>
                      </a:r>
                      <a:r>
                        <a:rPr lang="en-US" altLang="en-US" sz="1200">
                          <a:sym typeface="+mn-ea"/>
                        </a:rPr>
                        <a:t>FAQ_Candle_product.json</a:t>
                      </a:r>
                      <a:endParaRPr lang="en-US" altLang="en-US" sz="1200"/>
                    </a:p>
                    <a:p>
                      <a:pPr>
                        <a:buNone/>
                      </a:pPr>
                      <a:r>
                        <a:rPr lang="en-US" altLang="en-US" sz="1200" b="1">
                          <a:sym typeface="+mn-ea"/>
                        </a:rPr>
                        <a:t>5.</a:t>
                      </a:r>
                      <a:r>
                        <a:rPr lang="en-US" altLang="en-US" sz="1200">
                          <a:sym typeface="+mn-ea"/>
                        </a:rPr>
                        <a:t>FAQ_Accesories_product.json</a:t>
                      </a:r>
                      <a:endParaRPr lang="en-US" altLang="en-US" sz="1200"/>
                    </a:p>
                    <a:p>
                      <a:pPr>
                        <a:buNone/>
                      </a:pPr>
                      <a:r>
                        <a:rPr lang="en-US" altLang="en-US" sz="1200" b="1">
                          <a:sym typeface="+mn-ea"/>
                        </a:rPr>
                        <a:t>6.</a:t>
                      </a:r>
                      <a:r>
                        <a:rPr lang="en-US" altLang="en-US" sz="1200">
                          <a:sym typeface="+mn-ea"/>
                        </a:rPr>
                        <a:t>FAQ_Lumos_product.json</a:t>
                      </a:r>
                      <a:endParaRPr lang="en-US" altLang="en-US" sz="1200"/>
                    </a:p>
                    <a:p>
                      <a:pPr>
                        <a:buNone/>
                      </a:pPr>
                      <a:r>
                        <a:rPr lang="en-US" altLang="en-US" sz="1200" b="1">
                          <a:sym typeface="+mn-ea"/>
                        </a:rPr>
                        <a:t>7.</a:t>
                      </a:r>
                      <a:r>
                        <a:rPr lang="en-US" altLang="en-US" sz="1200">
                          <a:sym typeface="+mn-ea"/>
                        </a:rPr>
                        <a:t>FAQ_Product_Catalog.json</a:t>
                      </a:r>
                      <a:endParaRPr lang="en-US" altLang="en-US" sz="1200">
                        <a:sym typeface="+mn-ea"/>
                      </a:endParaRPr>
                    </a:p>
                    <a:p>
                      <a:pPr>
                        <a:buNone/>
                      </a:pPr>
                      <a:r>
                        <a:rPr lang="en-US" altLang="en-US" sz="1200" b="1">
                          <a:sym typeface="+mn-ea"/>
                        </a:rPr>
                        <a:t>8.</a:t>
                      </a:r>
                      <a:r>
                        <a:rPr lang="en-US" altLang="en-US" sz="1200">
                          <a:sym typeface="+mn-ea"/>
                        </a:rPr>
                        <a:t>FAQ_User_guidance.json</a:t>
                      </a:r>
                      <a:endParaRPr lang="en-US" altLang="en-US" sz="1200">
                        <a:sym typeface="+mn-ea"/>
                      </a:endParaRPr>
                    </a:p>
                  </a:txBody>
                  <a:tcPr/>
                </a:tc>
                <a:tc>
                  <a:txBody>
                    <a:bodyPr/>
                    <a:p>
                      <a:pPr>
                        <a:buNone/>
                      </a:pPr>
                      <a:r>
                        <a:rPr lang="en-US" sz="1200">
                          <a:sym typeface="+mn-ea"/>
                        </a:rPr>
                        <a:t>JSON (.json)</a:t>
                      </a:r>
                      <a:endParaRPr lang="en-US" sz="1200">
                        <a:sym typeface="+mn-ea"/>
                      </a:endParaRPr>
                    </a:p>
                  </a:txBody>
                  <a:tcPr/>
                </a:tc>
                <a:tc>
                  <a:txBody>
                    <a:bodyPr/>
                    <a:p>
                      <a:pPr>
                        <a:buNone/>
                      </a:pPr>
                      <a:r>
                        <a:rPr lang="en-US" sz="1200"/>
                        <a:t>Dạng thuộc tính, từng đoạn ghi chia theo dạng câu hỏi - trả lời rõ ràng</a:t>
                      </a:r>
                      <a:endParaRPr lang="en-US" sz="1200"/>
                    </a:p>
                  </a:txBody>
                  <a:tcPr/>
                </a:tc>
                <a:tc>
                  <a:txBody>
                    <a:bodyPr/>
                    <a:p>
                      <a:pPr>
                        <a:buNone/>
                      </a:pPr>
                      <a:r>
                        <a:rPr lang="en-US" sz="1200"/>
                        <a:t>Chia theo mỗi cặp hỏi - đáp là 1 đoạn rõ ràng. </a:t>
                      </a:r>
                      <a:endParaRPr lang="en-US" sz="1200"/>
                    </a:p>
                  </a:txBody>
                  <a:tcPr/>
                </a:tc>
              </a:tr>
              <a:tr h="457200">
                <a:tc>
                  <a:txBody>
                    <a:bodyPr/>
                    <a:p>
                      <a:pPr>
                        <a:buNone/>
                      </a:pPr>
                      <a:r>
                        <a:rPr lang="en-US" altLang="en-US" sz="1200"/>
                        <a:t>coupons.csv</a:t>
                      </a:r>
                      <a:endParaRPr lang="en-US" altLang="en-US" sz="1200"/>
                    </a:p>
                  </a:txBody>
                  <a:tcPr/>
                </a:tc>
                <a:tc>
                  <a:txBody>
                    <a:bodyPr/>
                    <a:p>
                      <a:pPr>
                        <a:buNone/>
                      </a:pPr>
                      <a:r>
                        <a:rPr lang="en-US" sz="1200">
                          <a:sym typeface="+mn-ea"/>
                        </a:rPr>
                        <a:t>CSV (.csv)</a:t>
                      </a:r>
                      <a:endParaRPr lang="en-US" sz="1200"/>
                    </a:p>
                    <a:p>
                      <a:pPr>
                        <a:buNone/>
                      </a:pPr>
                      <a:endParaRPr lang="en-US" sz="1200"/>
                    </a:p>
                  </a:txBody>
                  <a:tcPr/>
                </a:tc>
                <a:tc>
                  <a:txBody>
                    <a:bodyPr/>
                    <a:p>
                      <a:pPr>
                        <a:buNone/>
                      </a:pPr>
                      <a:r>
                        <a:rPr lang="en-US" sz="1200"/>
                        <a:t>Dữ liệu có cấu trúc dạng bảng với các trường cụ thể</a:t>
                      </a:r>
                      <a:endParaRPr lang="en-US" sz="1200"/>
                    </a:p>
                  </a:txBody>
                  <a:tcPr/>
                </a:tc>
                <a:tc>
                  <a:txBody>
                    <a:bodyPr/>
                    <a:p>
                      <a:pPr>
                        <a:buNone/>
                      </a:pPr>
                      <a:r>
                        <a:rPr lang="en-US" sz="1200">
                          <a:sym typeface="+mn-ea"/>
                        </a:rPr>
                        <a:t>Mỗi bản ghi là một đoạn và không cần phân đoạn thêm</a:t>
                      </a:r>
                      <a:endParaRPr lang="en-US" sz="1200">
                        <a:sym typeface="+mn-ea"/>
                      </a:endParaRPr>
                    </a:p>
                  </a:txBody>
                  <a:tcPr/>
                </a:tc>
              </a:tr>
              <a:tr h="737870">
                <a:tc>
                  <a:txBody>
                    <a:bodyPr/>
                    <a:p>
                      <a:pPr>
                        <a:buNone/>
                      </a:pPr>
                      <a:r>
                        <a:rPr lang="en-US" altLang="en-US" sz="1200"/>
                        <a:t>3_Day_WKND.md (Tương tự file cho các sản phẩm khác)</a:t>
                      </a:r>
                      <a:endParaRPr lang="en-US" altLang="en-US" sz="1200"/>
                    </a:p>
                  </a:txBody>
                  <a:tcPr/>
                </a:tc>
                <a:tc>
                  <a:txBody>
                    <a:bodyPr/>
                    <a:p>
                      <a:pPr>
                        <a:buNone/>
                      </a:pPr>
                      <a:r>
                        <a:rPr lang="en-US" sz="1200">
                          <a:sym typeface="+mn-ea"/>
                        </a:rPr>
                        <a:t>Markdown (.md)</a:t>
                      </a:r>
                      <a:endParaRPr lang="en-US" sz="1200"/>
                    </a:p>
                    <a:p>
                      <a:pPr>
                        <a:buNone/>
                      </a:pPr>
                      <a:endParaRPr lang="en-US" sz="1200"/>
                    </a:p>
                  </a:txBody>
                  <a:tcPr/>
                </a:tc>
                <a:tc>
                  <a:txBody>
                    <a:bodyPr/>
                    <a:p>
                      <a:pPr>
                        <a:buNone/>
                      </a:pPr>
                      <a:r>
                        <a:rPr lang="en-US" sz="1200"/>
                        <a:t>Từng sản phẩm sẽ có 1 file riêng chứa thông tin riêng biệt, mô tả rõ ràng và linh động</a:t>
                      </a:r>
                      <a:endParaRPr lang="en-US" sz="1200"/>
                    </a:p>
                  </a:txBody>
                  <a:tcPr/>
                </a:tc>
                <a:tc>
                  <a:txBody>
                    <a:bodyPr/>
                    <a:p>
                      <a:pPr>
                        <a:buNone/>
                      </a:pPr>
                      <a:r>
                        <a:rPr lang="en-US" sz="1200"/>
                        <a:t>Mỗi file mardown cho sản phẩm là 1 đoạn và không cần phân đoạn thêm</a:t>
                      </a:r>
                      <a:endParaRPr lang="en-US" sz="1200"/>
                    </a:p>
                  </a:txBody>
                  <a:tcPr/>
                </a:tc>
              </a:tr>
            </a:tbl>
          </a:graphicData>
        </a:graphic>
      </p:graphicFrame>
      <p:sp>
        <p:nvSpPr>
          <p:cNvPr id="5" name="Text Box 4"/>
          <p:cNvSpPr txBox="1"/>
          <p:nvPr/>
        </p:nvSpPr>
        <p:spPr>
          <a:xfrm>
            <a:off x="459740" y="5732145"/>
            <a:ext cx="11207750" cy="391795"/>
          </a:xfrm>
          <a:prstGeom prst="rect">
            <a:avLst/>
          </a:prstGeom>
          <a:noFill/>
        </p:spPr>
        <p:txBody>
          <a:bodyPr wrap="square" rtlCol="0">
            <a:noAutofit/>
          </a:bodyPr>
          <a:p>
            <a:pPr algn="ctr"/>
            <a:r>
              <a:rPr lang="en-US" b="1" i="1">
                <a:sym typeface="+mn-ea"/>
              </a:rPr>
              <a:t>Lưu ý:</a:t>
            </a:r>
            <a:r>
              <a:rPr lang="en-US">
                <a:sym typeface="+mn-ea"/>
              </a:rPr>
              <a:t> Đính kèm các thông tin metadata để lưu về nguồn tài liệu và thể loại thông tin, giúp cải tiến về sau như re-ranking, hybrid search</a:t>
            </a:r>
            <a:endParaRPr lang="en-US"/>
          </a:p>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581025" y="19050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1. Khối xử lý dữ liệu cơ sở (kết quả)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2"/>
          <a:stretch>
            <a:fillRect/>
          </a:stretch>
        </p:blipFill>
        <p:spPr>
          <a:xfrm>
            <a:off x="581025" y="955675"/>
            <a:ext cx="5274945" cy="2303780"/>
          </a:xfrm>
          <a:prstGeom prst="rect">
            <a:avLst/>
          </a:prstGeom>
          <a:ln w="19050">
            <a:solidFill>
              <a:schemeClr val="accent4">
                <a:lumMod val="75000"/>
              </a:schemeClr>
            </a:solidFill>
          </a:ln>
        </p:spPr>
      </p:pic>
      <p:sp>
        <p:nvSpPr>
          <p:cNvPr id="3" name="Text Box 2"/>
          <p:cNvSpPr txBox="1"/>
          <p:nvPr/>
        </p:nvSpPr>
        <p:spPr>
          <a:xfrm>
            <a:off x="1174115" y="3356610"/>
            <a:ext cx="4088765" cy="306705"/>
          </a:xfrm>
          <a:prstGeom prst="rect">
            <a:avLst/>
          </a:prstGeom>
          <a:noFill/>
        </p:spPr>
        <p:txBody>
          <a:bodyPr wrap="square" rtlCol="0">
            <a:spAutoFit/>
          </a:bodyPr>
          <a:p>
            <a:r>
              <a:rPr lang="en-US" b="1" i="1"/>
              <a:t>File</a:t>
            </a:r>
            <a:r>
              <a:rPr lang="en-US"/>
              <a:t>: Lợi ích của nến (Candle_Benefit.docx)</a:t>
            </a:r>
            <a:endParaRPr lang="en-US"/>
          </a:p>
        </p:txBody>
      </p:sp>
      <p:sp>
        <p:nvSpPr>
          <p:cNvPr id="7" name="Text Box 6"/>
          <p:cNvSpPr txBox="1"/>
          <p:nvPr/>
        </p:nvSpPr>
        <p:spPr>
          <a:xfrm>
            <a:off x="6336030" y="3389630"/>
            <a:ext cx="5640705" cy="275590"/>
          </a:xfrm>
          <a:prstGeom prst="rect">
            <a:avLst/>
          </a:prstGeom>
          <a:noFill/>
        </p:spPr>
        <p:txBody>
          <a:bodyPr wrap="square" rtlCol="0">
            <a:spAutoFit/>
          </a:bodyPr>
          <a:p>
            <a:r>
              <a:rPr lang="en-US" sz="1200" b="1" i="1"/>
              <a:t>File</a:t>
            </a:r>
            <a:r>
              <a:rPr lang="en-US" sz="1200"/>
              <a:t>: Những câu hỏi phổ biến về kiến thức nến (FAQ_Candle_knowledge.json)</a:t>
            </a:r>
            <a:endParaRPr lang="en-US" sz="1200"/>
          </a:p>
        </p:txBody>
      </p:sp>
      <p:pic>
        <p:nvPicPr>
          <p:cNvPr id="9" name="Picture 8"/>
          <p:cNvPicPr>
            <a:picLocks noChangeAspect="1"/>
          </p:cNvPicPr>
          <p:nvPr/>
        </p:nvPicPr>
        <p:blipFill>
          <a:blip r:embed="rId3"/>
          <a:stretch>
            <a:fillRect/>
          </a:stretch>
        </p:blipFill>
        <p:spPr>
          <a:xfrm>
            <a:off x="731520" y="4195445"/>
            <a:ext cx="4973955" cy="1550670"/>
          </a:xfrm>
          <a:prstGeom prst="rect">
            <a:avLst/>
          </a:prstGeom>
          <a:ln w="19050">
            <a:solidFill>
              <a:schemeClr val="accent4">
                <a:lumMod val="75000"/>
              </a:schemeClr>
            </a:solidFill>
          </a:ln>
        </p:spPr>
      </p:pic>
      <p:sp>
        <p:nvSpPr>
          <p:cNvPr id="10" name="Text Box 9"/>
          <p:cNvSpPr txBox="1"/>
          <p:nvPr/>
        </p:nvSpPr>
        <p:spPr>
          <a:xfrm>
            <a:off x="1100455" y="6136005"/>
            <a:ext cx="4516120" cy="306705"/>
          </a:xfrm>
          <a:prstGeom prst="rect">
            <a:avLst/>
          </a:prstGeom>
          <a:noFill/>
        </p:spPr>
        <p:txBody>
          <a:bodyPr wrap="square" rtlCol="0">
            <a:spAutoFit/>
          </a:bodyPr>
          <a:p>
            <a:r>
              <a:rPr lang="en-US" b="1" i="1"/>
              <a:t>File</a:t>
            </a:r>
            <a:r>
              <a:rPr lang="en-US"/>
              <a:t>: Chương trình khuyến mãi (coupons.csv)</a:t>
            </a:r>
            <a:endParaRPr lang="en-US"/>
          </a:p>
        </p:txBody>
      </p:sp>
      <p:sp>
        <p:nvSpPr>
          <p:cNvPr id="13" name="Text Box 12"/>
          <p:cNvSpPr txBox="1"/>
          <p:nvPr/>
        </p:nvSpPr>
        <p:spPr>
          <a:xfrm>
            <a:off x="6641465" y="6167120"/>
            <a:ext cx="4516120" cy="306705"/>
          </a:xfrm>
          <a:prstGeom prst="rect">
            <a:avLst/>
          </a:prstGeom>
          <a:noFill/>
        </p:spPr>
        <p:txBody>
          <a:bodyPr wrap="square" rtlCol="0">
            <a:spAutoFit/>
          </a:bodyPr>
          <a:p>
            <a:r>
              <a:rPr lang="en-US" b="1" i="1"/>
              <a:t>File</a:t>
            </a:r>
            <a:r>
              <a:rPr lang="en-US"/>
              <a:t>: Thông tin chi tiết sản phẩm (3_Day_WKND.md)</a:t>
            </a:r>
            <a:endParaRPr lang="en-US"/>
          </a:p>
        </p:txBody>
      </p:sp>
      <p:cxnSp>
        <p:nvCxnSpPr>
          <p:cNvPr id="14" name="Straight Connector 13"/>
          <p:cNvCxnSpPr/>
          <p:nvPr/>
        </p:nvCxnSpPr>
        <p:spPr>
          <a:xfrm>
            <a:off x="6096000" y="896620"/>
            <a:ext cx="0" cy="5488305"/>
          </a:xfrm>
          <a:prstGeom prst="line">
            <a:avLst/>
          </a:prstGeom>
          <a:ln w="12700"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cxnSp>
      <p:cxnSp>
        <p:nvCxnSpPr>
          <p:cNvPr id="15" name="Straight Connector 14"/>
          <p:cNvCxnSpPr/>
          <p:nvPr/>
        </p:nvCxnSpPr>
        <p:spPr>
          <a:xfrm>
            <a:off x="560705" y="3665220"/>
            <a:ext cx="11253470" cy="0"/>
          </a:xfrm>
          <a:prstGeom prst="line">
            <a:avLst/>
          </a:prstGeom>
          <a:ln w="12700"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cxnSp>
      <p:pic>
        <p:nvPicPr>
          <p:cNvPr id="5" name="Picture 4"/>
          <p:cNvPicPr>
            <a:picLocks noChangeAspect="1"/>
          </p:cNvPicPr>
          <p:nvPr/>
        </p:nvPicPr>
        <p:blipFill>
          <a:blip r:embed="rId4"/>
          <a:stretch>
            <a:fillRect/>
          </a:stretch>
        </p:blipFill>
        <p:spPr>
          <a:xfrm>
            <a:off x="6809740" y="857885"/>
            <a:ext cx="4410710" cy="2467610"/>
          </a:xfrm>
          <a:prstGeom prst="rect">
            <a:avLst/>
          </a:prstGeom>
          <a:ln w="19050">
            <a:solidFill>
              <a:schemeClr val="accent1"/>
            </a:solidFill>
          </a:ln>
        </p:spPr>
      </p:pic>
      <p:pic>
        <p:nvPicPr>
          <p:cNvPr id="4" name="Picture 3"/>
          <p:cNvPicPr>
            <a:picLocks noChangeAspect="1"/>
          </p:cNvPicPr>
          <p:nvPr/>
        </p:nvPicPr>
        <p:blipFill>
          <a:blip r:embed="rId5"/>
          <a:stretch>
            <a:fillRect/>
          </a:stretch>
        </p:blipFill>
        <p:spPr>
          <a:xfrm>
            <a:off x="6667500" y="3816350"/>
            <a:ext cx="4695825" cy="2319655"/>
          </a:xfrm>
          <a:prstGeom prst="rect">
            <a:avLst/>
          </a:prstGeom>
          <a:ln w="19050">
            <a:solidFill>
              <a:schemeClr val="accent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581025" y="19050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2. Khối phân đoạn dữ liệu - Chunking (lý thuyết)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Google Shape;162;p19"/>
          <p:cNvSpPr txBox="1"/>
          <p:nvPr/>
        </p:nvSpPr>
        <p:spPr>
          <a:xfrm>
            <a:off x="581025" y="809625"/>
            <a:ext cx="11029950" cy="16541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2000" b="0" i="0" u="none" strike="noStrike" cap="none">
                <a:solidFill>
                  <a:srgbClr val="5A6275"/>
                </a:solidFill>
                <a:latin typeface="Inter" panose="02000503000000020004"/>
                <a:ea typeface="Inter" panose="02000503000000020004"/>
                <a:cs typeface="Inter" panose="02000503000000020004"/>
                <a:sym typeface="Inter" panose="02000503000000020004"/>
              </a:rPr>
              <a:t>Phân đoạn dữ liệu (Chunking)</a:t>
            </a:r>
            <a:r>
              <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rPr>
              <a:t> </a:t>
            </a: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là quá trình chia tài liệu gốc thành nhiều đoạn văn bản nhỏ (chunks) trước khi thực hiện quá trình mã hóa số (embedding) và lưu trữ vào Cơ sở dữ liệu (Vector Database). Mỗi Chunks là đơn vị nhỏ nhất mà hệ thông Truy xuất (Retrieval) có thể tìm kiếm và trả về cho mô hình ngôn ngữ lớn (LLM). Chính vì thế chất lượng quá trình phân đoạn sẽ ảnh hưởng trực tiếp đến hiệu quả truy xuất thông tin và độ chính xác của câu trả lời</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
        <p:nvSpPr>
          <p:cNvPr id="2" name="Google Shape;162;p19"/>
          <p:cNvSpPr txBox="1"/>
          <p:nvPr/>
        </p:nvSpPr>
        <p:spPr>
          <a:xfrm>
            <a:off x="581025" y="2463800"/>
            <a:ext cx="3709035" cy="3587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Các phương thức phân đoạn phổ biến</a:t>
            </a:r>
            <a:endPar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graphicFrame>
        <p:nvGraphicFramePr>
          <p:cNvPr id="6" name="Table 5"/>
          <p:cNvGraphicFramePr/>
          <p:nvPr>
            <p:custDataLst>
              <p:tags r:id="rId2"/>
            </p:custDataLst>
          </p:nvPr>
        </p:nvGraphicFramePr>
        <p:xfrm>
          <a:off x="581025" y="2863850"/>
          <a:ext cx="11031220" cy="3394075"/>
        </p:xfrm>
        <a:graphic>
          <a:graphicData uri="http://schemas.openxmlformats.org/drawingml/2006/table">
            <a:tbl>
              <a:tblPr firstRow="1" bandRow="1">
                <a:tableStyleId>{5C22544A-7EE6-4342-B048-85BDC9FD1C3A}</a:tableStyleId>
              </a:tblPr>
              <a:tblGrid>
                <a:gridCol w="2230755"/>
                <a:gridCol w="4222750"/>
                <a:gridCol w="2104390"/>
                <a:gridCol w="2473325"/>
              </a:tblGrid>
              <a:tr h="316865">
                <a:tc>
                  <a:txBody>
                    <a:bodyPr/>
                    <a:p>
                      <a:pPr algn="ctr">
                        <a:buNone/>
                      </a:pPr>
                      <a:r>
                        <a:rPr lang="en-US"/>
                        <a:t>Phương pháp</a:t>
                      </a:r>
                      <a:endParaRPr lang="en-US"/>
                    </a:p>
                  </a:txBody>
                  <a:tcPr/>
                </a:tc>
                <a:tc>
                  <a:txBody>
                    <a:bodyPr/>
                    <a:p>
                      <a:pPr algn="ctr">
                        <a:buNone/>
                      </a:pPr>
                      <a:r>
                        <a:rPr lang="en-US"/>
                        <a:t>Ứng dụng</a:t>
                      </a:r>
                      <a:endParaRPr lang="en-US"/>
                    </a:p>
                  </a:txBody>
                  <a:tcPr/>
                </a:tc>
                <a:tc>
                  <a:txBody>
                    <a:bodyPr/>
                    <a:p>
                      <a:pPr algn="ctr">
                        <a:buNone/>
                      </a:pPr>
                      <a:r>
                        <a:rPr lang="en-US"/>
                        <a:t>Ưu điểm</a:t>
                      </a:r>
                      <a:endParaRPr lang="en-US"/>
                    </a:p>
                  </a:txBody>
                  <a:tcPr/>
                </a:tc>
                <a:tc>
                  <a:txBody>
                    <a:bodyPr/>
                    <a:p>
                      <a:pPr algn="ctr">
                        <a:buNone/>
                      </a:pPr>
                      <a:r>
                        <a:rPr lang="en-US"/>
                        <a:t>Nhược điểm</a:t>
                      </a:r>
                      <a:endParaRPr lang="en-US"/>
                    </a:p>
                  </a:txBody>
                  <a:tcPr/>
                </a:tc>
              </a:tr>
              <a:tr h="544830">
                <a:tc>
                  <a:txBody>
                    <a:bodyPr/>
                    <a:p>
                      <a:pPr>
                        <a:buNone/>
                      </a:pPr>
                      <a:r>
                        <a:rPr lang="en-US" altLang="en-US" sz="1200"/>
                        <a:t>Phân </a:t>
                      </a:r>
                      <a:r>
                        <a:rPr lang="en-US" altLang="en-US" sz="1200"/>
                        <a:t>đ</a:t>
                      </a:r>
                      <a:r>
                        <a:rPr lang="en-US" altLang="en-US" sz="1200"/>
                        <a:t>oạn với </a:t>
                      </a:r>
                      <a:r>
                        <a:rPr lang="en-US" altLang="en-US" sz="1200"/>
                        <a:t>đ</a:t>
                      </a:r>
                      <a:r>
                        <a:rPr lang="en-US" altLang="en-US" sz="1200"/>
                        <a:t>ộ dài cố </a:t>
                      </a:r>
                      <a:r>
                        <a:rPr lang="en-US" altLang="en-US" sz="1200"/>
                        <a:t>đ</a:t>
                      </a:r>
                      <a:r>
                        <a:rPr lang="en-US" altLang="en-US" sz="1200"/>
                        <a:t>ịnh</a:t>
                      </a:r>
                      <a:endParaRPr lang="en-US" altLang="en-US" sz="1200"/>
                    </a:p>
                  </a:txBody>
                  <a:tcPr/>
                </a:tc>
                <a:tc>
                  <a:txBody>
                    <a:bodyPr/>
                    <a:p>
                      <a:pPr>
                        <a:buNone/>
                      </a:pPr>
                      <a:r>
                        <a:rPr lang="en-US" sz="1200"/>
                        <a:t>Khi muốn chia theo cụ thể số lượng token tối đa (ví dụ: mỗi chunks 1000 tokens)</a:t>
                      </a:r>
                      <a:endParaRPr lang="en-US" sz="1200"/>
                    </a:p>
                  </a:txBody>
                  <a:tcPr/>
                </a:tc>
                <a:tc>
                  <a:txBody>
                    <a:bodyPr/>
                    <a:p>
                      <a:pPr>
                        <a:buNone/>
                      </a:pPr>
                      <a:r>
                        <a:rPr lang="en-US" sz="1200"/>
                        <a:t>Nhanh chóng và dễ triển khai</a:t>
                      </a:r>
                      <a:endParaRPr lang="en-US" sz="1200"/>
                    </a:p>
                  </a:txBody>
                  <a:tcPr/>
                </a:tc>
                <a:tc>
                  <a:txBody>
                    <a:bodyPr/>
                    <a:p>
                      <a:pPr>
                        <a:buNone/>
                      </a:pPr>
                      <a:r>
                        <a:rPr lang="en-US" sz="1200"/>
                        <a:t>Có thể bị cắt giữa câu, làm mất ngữ nghĩa của câu.</a:t>
                      </a:r>
                      <a:endParaRPr lang="en-US" sz="1200"/>
                    </a:p>
                  </a:txBody>
                  <a:tcPr/>
                </a:tc>
              </a:tr>
              <a:tr h="640080">
                <a:tc>
                  <a:txBody>
                    <a:bodyPr/>
                    <a:p>
                      <a:pPr>
                        <a:buNone/>
                      </a:pPr>
                      <a:r>
                        <a:rPr lang="en-US" altLang="en-US" sz="1200"/>
                        <a:t>Phân </a:t>
                      </a:r>
                      <a:r>
                        <a:rPr lang="en-US" altLang="en-US" sz="1200"/>
                        <a:t>đ</a:t>
                      </a:r>
                      <a:r>
                        <a:rPr lang="en-US" altLang="en-US" sz="1200"/>
                        <a:t>oạn </a:t>
                      </a:r>
                      <a:r>
                        <a:rPr lang="en-US" altLang="en-US" sz="1200"/>
                        <a:t>đ</a:t>
                      </a:r>
                      <a:r>
                        <a:rPr lang="en-US" altLang="en-US" sz="1200"/>
                        <a:t>ệ quy</a:t>
                      </a:r>
                      <a:endParaRPr lang="en-US" altLang="en-US" sz="1200"/>
                    </a:p>
                  </a:txBody>
                  <a:tcPr/>
                </a:tc>
                <a:tc>
                  <a:txBody>
                    <a:bodyPr/>
                    <a:p>
                      <a:pPr>
                        <a:buNone/>
                      </a:pPr>
                      <a:r>
                        <a:rPr lang="en-US" sz="1200"/>
                        <a:t>Khi file có nhiều nội dung và có cấu trúc về mặt ngữ nghĩa. Phương pháp này sẽ ưu tiên cắt nhỏ theo thứ tự theo đề mục, theo đoạn văn, theo câu và theo từ,</a:t>
                      </a:r>
                      <a:endParaRPr lang="en-US" sz="1200"/>
                    </a:p>
                  </a:txBody>
                  <a:tcPr/>
                </a:tc>
                <a:tc>
                  <a:txBody>
                    <a:bodyPr/>
                    <a:p>
                      <a:pPr>
                        <a:buNone/>
                      </a:pPr>
                      <a:r>
                        <a:rPr lang="en-US" sz="1200"/>
                        <a:t>Giữ ngữ nghĩa câu, ít cắt ngang câu</a:t>
                      </a:r>
                      <a:endParaRPr lang="en-US" sz="1200"/>
                    </a:p>
                  </a:txBody>
                  <a:tcPr/>
                </a:tc>
                <a:tc>
                  <a:txBody>
                    <a:bodyPr/>
                    <a:p>
                      <a:pPr>
                        <a:buNone/>
                      </a:pPr>
                      <a:r>
                        <a:rPr lang="en-US" sz="1200"/>
                        <a:t>Vẫn có thể bị cắt mất ngữ nghĩa, không nhận biết được cấu trúc dữ liệu</a:t>
                      </a:r>
                      <a:endParaRPr lang="en-US" sz="1200"/>
                    </a:p>
                  </a:txBody>
                  <a:tcPr/>
                </a:tc>
              </a:tr>
              <a:tr h="640080">
                <a:tc>
                  <a:txBody>
                    <a:bodyPr/>
                    <a:p>
                      <a:pPr>
                        <a:buNone/>
                      </a:pPr>
                      <a:r>
                        <a:rPr lang="en-US" altLang="en-US" sz="1200"/>
                        <a:t>Phân </a:t>
                      </a:r>
                      <a:r>
                        <a:rPr lang="en-US" altLang="en-US" sz="1200"/>
                        <a:t>đ</a:t>
                      </a:r>
                      <a:r>
                        <a:rPr lang="en-US" altLang="en-US" sz="1200"/>
                        <a:t>oạn theo ngữ ngh</a:t>
                      </a:r>
                      <a:r>
                        <a:rPr lang="en-US" altLang="en-US" sz="1200"/>
                        <a:t>ĩ</a:t>
                      </a:r>
                      <a:r>
                        <a:rPr lang="en-US" altLang="en-US" sz="1200"/>
                        <a:t>a</a:t>
                      </a:r>
                      <a:endParaRPr lang="en-US" altLang="en-US" sz="1200"/>
                    </a:p>
                  </a:txBody>
                  <a:tcPr/>
                </a:tc>
                <a:tc>
                  <a:txBody>
                    <a:bodyPr/>
                    <a:p>
                      <a:pPr>
                        <a:buNone/>
                      </a:pPr>
                      <a:r>
                        <a:rPr lang="en-US" sz="1200"/>
                        <a:t>Khi file là các đoạn văn bản dài, ngữ nghĩa phức tạp. Phương pháp này sẽ chia đoạn dự trên sự thay đổi về ngữ nghĩa</a:t>
                      </a:r>
                      <a:endParaRPr lang="en-US" sz="1200"/>
                    </a:p>
                  </a:txBody>
                  <a:tcPr/>
                </a:tc>
                <a:tc>
                  <a:txBody>
                    <a:bodyPr/>
                    <a:p>
                      <a:pPr>
                        <a:buNone/>
                      </a:pPr>
                      <a:r>
                        <a:rPr lang="en-US" sz="1200"/>
                        <a:t>Đảm bảo giữ ngữ nghĩa tốt nhất, phù hợp với tài liệu dài, cải thiện truy xuất</a:t>
                      </a:r>
                      <a:endParaRPr lang="en-US" sz="1200"/>
                    </a:p>
                  </a:txBody>
                  <a:tcPr/>
                </a:tc>
                <a:tc>
                  <a:txBody>
                    <a:bodyPr/>
                    <a:p>
                      <a:pPr>
                        <a:buNone/>
                      </a:pPr>
                      <a:r>
                        <a:rPr lang="en-US" sz="1200"/>
                        <a:t>Chi phí tính toán cao, tốn thời gian cho phân tích ngữ nghĩa, kích thước chunk không đều</a:t>
                      </a:r>
                      <a:endParaRPr lang="en-US" sz="1200"/>
                    </a:p>
                  </a:txBody>
                  <a:tcPr/>
                </a:tc>
              </a:tr>
              <a:tr h="457200">
                <a:tc>
                  <a:txBody>
                    <a:bodyPr/>
                    <a:p>
                      <a:pPr>
                        <a:buNone/>
                      </a:pPr>
                      <a:r>
                        <a:rPr lang="en-US" altLang="en-US" sz="1200"/>
                        <a:t>Phân </a:t>
                      </a:r>
                      <a:r>
                        <a:rPr lang="en-US" altLang="en-US" sz="1200"/>
                        <a:t>đ</a:t>
                      </a:r>
                      <a:r>
                        <a:rPr lang="en-US" altLang="en-US" sz="1200"/>
                        <a:t>oạn theo cấu trúc</a:t>
                      </a:r>
                      <a:endParaRPr lang="en-US" altLang="en-US" sz="1200"/>
                    </a:p>
                  </a:txBody>
                  <a:tcPr/>
                </a:tc>
                <a:tc>
                  <a:txBody>
                    <a:bodyPr/>
                    <a:p>
                      <a:pPr>
                        <a:buNone/>
                      </a:pPr>
                      <a:r>
                        <a:rPr lang="en-US" sz="1200"/>
                        <a:t>Khi file tổ chức theo dạng markdown hay chủ động chia theo đề mục</a:t>
                      </a:r>
                      <a:endParaRPr lang="en-US" sz="1200"/>
                    </a:p>
                  </a:txBody>
                  <a:tcPr/>
                </a:tc>
                <a:tc>
                  <a:txBody>
                    <a:bodyPr/>
                    <a:p>
                      <a:pPr>
                        <a:buNone/>
                      </a:pPr>
                      <a:r>
                        <a:rPr lang="en-US" sz="1200"/>
                        <a:t>Giữ nguyên ngữ nghĩa</a:t>
                      </a:r>
                      <a:endParaRPr lang="en-US" sz="1200"/>
                    </a:p>
                  </a:txBody>
                  <a:tcPr/>
                </a:tc>
                <a:tc>
                  <a:txBody>
                    <a:bodyPr/>
                    <a:p>
                      <a:pPr>
                        <a:buNone/>
                      </a:pPr>
                      <a:r>
                        <a:rPr lang="en-US" sz="1200">
                          <a:sym typeface="+mn-ea"/>
                        </a:rPr>
                        <a:t>Tốn nhiều thời gian ở bước chuẩn bị dữ liệu đầu vào</a:t>
                      </a:r>
                      <a:endParaRPr lang="en-US" sz="1200">
                        <a:sym typeface="+mn-ea"/>
                      </a:endParaRPr>
                    </a:p>
                  </a:txBody>
                  <a:tcPr/>
                </a:tc>
              </a:tr>
              <a:tr h="795020">
                <a:tc>
                  <a:txBody>
                    <a:bodyPr/>
                    <a:p>
                      <a:pPr>
                        <a:buNone/>
                      </a:pPr>
                      <a:r>
                        <a:rPr lang="en-US" altLang="en-US" sz="1200"/>
                        <a:t>Phân </a:t>
                      </a:r>
                      <a:r>
                        <a:rPr lang="en-US" altLang="en-US" sz="1200"/>
                        <a:t>đ</a:t>
                      </a:r>
                      <a:r>
                        <a:rPr lang="en-US" altLang="en-US" sz="1200"/>
                        <a:t>oạn theo thể loại tài liệu</a:t>
                      </a:r>
                      <a:endParaRPr lang="en-US" altLang="en-US" sz="1200"/>
                    </a:p>
                  </a:txBody>
                  <a:tcPr/>
                </a:tc>
                <a:tc>
                  <a:txBody>
                    <a:bodyPr/>
                    <a:p>
                      <a:pPr>
                        <a:buNone/>
                      </a:pPr>
                      <a:r>
                        <a:rPr lang="en-US" sz="1200"/>
                        <a:t>Khi file đã được tổ chức có cấu trúc sẵn như các bảng hay mảng có sẵn và đủ nhỏ thì không cần phân đoạn thêm</a:t>
                      </a:r>
                      <a:endParaRPr lang="en-US" sz="1200"/>
                    </a:p>
                  </a:txBody>
                  <a:tcPr/>
                </a:tc>
                <a:tc>
                  <a:txBody>
                    <a:bodyPr/>
                    <a:p>
                      <a:pPr>
                        <a:buNone/>
                      </a:pPr>
                      <a:r>
                        <a:rPr lang="en-US" sz="1200"/>
                        <a:t>Các nội dung giữ được sự toàn diện dữ liệu</a:t>
                      </a:r>
                      <a:endParaRPr lang="en-US" sz="1200"/>
                    </a:p>
                  </a:txBody>
                  <a:tcPr/>
                </a:tc>
                <a:tc>
                  <a:txBody>
                    <a:bodyPr/>
                    <a:p>
                      <a:pPr>
                        <a:buNone/>
                      </a:pPr>
                      <a:r>
                        <a:rPr lang="en-US" sz="1200"/>
                        <a:t>Tốn nhiều thời gian ở bước chuẩn bị dữ liệu đầu vào</a:t>
                      </a:r>
                      <a:endParaRPr lang="en-US" sz="1200"/>
                    </a:p>
                  </a:txBody>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581025" y="19050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2. Khối phân đoạn dữ liệu - Chunking (ứng dụng)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4" name="Table 3"/>
          <p:cNvGraphicFramePr/>
          <p:nvPr>
            <p:custDataLst>
              <p:tags r:id="rId2"/>
            </p:custDataLst>
          </p:nvPr>
        </p:nvGraphicFramePr>
        <p:xfrm>
          <a:off x="8412480" y="1304925"/>
          <a:ext cx="3644900" cy="1477645"/>
        </p:xfrm>
        <a:graphic>
          <a:graphicData uri="http://schemas.openxmlformats.org/drawingml/2006/table">
            <a:tbl>
              <a:tblPr firstRow="1" bandRow="1">
                <a:tableStyleId>{5C22544A-7EE6-4342-B048-85BDC9FD1C3A}</a:tableStyleId>
              </a:tblPr>
              <a:tblGrid>
                <a:gridCol w="1373505"/>
                <a:gridCol w="2271395"/>
              </a:tblGrid>
              <a:tr h="369570">
                <a:tc>
                  <a:txBody>
                    <a:bodyPr/>
                    <a:p>
                      <a:pPr algn="ctr">
                        <a:buNone/>
                      </a:pPr>
                      <a:r>
                        <a:rPr lang="en-US" sz="1200"/>
                        <a:t>Kiểu dữ liệu</a:t>
                      </a:r>
                      <a:endParaRPr lang="en-US" sz="1200"/>
                    </a:p>
                  </a:txBody>
                  <a:tcPr/>
                </a:tc>
                <a:tc>
                  <a:txBody>
                    <a:bodyPr/>
                    <a:p>
                      <a:pPr algn="ctr">
                        <a:buNone/>
                      </a:pPr>
                      <a:r>
                        <a:rPr lang="en-US" sz="1200"/>
                        <a:t>Phương thức phân đoạn</a:t>
                      </a:r>
                      <a:endParaRPr lang="en-US" sz="1200"/>
                    </a:p>
                  </a:txBody>
                  <a:tcPr/>
                </a:tc>
              </a:tr>
              <a:tr h="274320">
                <a:tc>
                  <a:txBody>
                    <a:bodyPr/>
                    <a:p>
                      <a:pPr>
                        <a:buNone/>
                      </a:pPr>
                      <a:r>
                        <a:rPr lang="en-US" sz="1200">
                          <a:sym typeface="+mn-ea"/>
                        </a:rPr>
                        <a:t>Word (.docx)</a:t>
                      </a:r>
                      <a:endParaRPr lang="en-US" sz="1200">
                        <a:sym typeface="+mn-ea"/>
                      </a:endParaRPr>
                    </a:p>
                  </a:txBody>
                  <a:tcPr/>
                </a:tc>
                <a:tc>
                  <a:txBody>
                    <a:bodyPr/>
                    <a:p>
                      <a:pPr>
                        <a:buNone/>
                      </a:pPr>
                      <a:r>
                        <a:rPr lang="en-US" altLang="en-US" sz="1200">
                          <a:sym typeface="+mn-ea"/>
                        </a:rPr>
                        <a:t>Phân đoạn đệ quy</a:t>
                      </a:r>
                      <a:endParaRPr lang="en-US" altLang="en-US" sz="1200">
                        <a:sym typeface="+mn-ea"/>
                      </a:endParaRPr>
                    </a:p>
                  </a:txBody>
                  <a:tcPr/>
                </a:tc>
              </a:tr>
              <a:tr h="274320">
                <a:tc>
                  <a:txBody>
                    <a:bodyPr/>
                    <a:p>
                      <a:pPr>
                        <a:buNone/>
                      </a:pPr>
                      <a:r>
                        <a:rPr lang="en-US" sz="1200">
                          <a:sym typeface="+mn-ea"/>
                        </a:rPr>
                        <a:t>JSON (.json)</a:t>
                      </a:r>
                      <a:endParaRPr lang="en-US" sz="1200">
                        <a:sym typeface="+mn-ea"/>
                      </a:endParaRPr>
                    </a:p>
                  </a:txBody>
                  <a:tcPr/>
                </a:tc>
                <a:tc>
                  <a:txBody>
                    <a:bodyPr/>
                    <a:p>
                      <a:pPr>
                        <a:buNone/>
                      </a:pPr>
                      <a:r>
                        <a:rPr lang="en-US" altLang="en-US" sz="1200">
                          <a:sym typeface="+mn-ea"/>
                        </a:rPr>
                        <a:t>Phân đoạn theo thể loại tài liệu</a:t>
                      </a:r>
                      <a:endParaRPr lang="en-US" altLang="en-US" sz="1200">
                        <a:sym typeface="+mn-ea"/>
                      </a:endParaRPr>
                    </a:p>
                  </a:txBody>
                  <a:tcPr/>
                </a:tc>
              </a:tr>
              <a:tr h="280035">
                <a:tc>
                  <a:txBody>
                    <a:bodyPr/>
                    <a:p>
                      <a:pPr>
                        <a:buNone/>
                      </a:pPr>
                      <a:r>
                        <a:rPr lang="en-US" sz="1200">
                          <a:sym typeface="+mn-ea"/>
                        </a:rPr>
                        <a:t>CSV (.csv)</a:t>
                      </a:r>
                      <a:endParaRPr lang="en-US" sz="1200">
                        <a:sym typeface="+mn-ea"/>
                      </a:endParaRPr>
                    </a:p>
                  </a:txBody>
                  <a:tcPr/>
                </a:tc>
                <a:tc>
                  <a:txBody>
                    <a:bodyPr/>
                    <a:p>
                      <a:pPr>
                        <a:buNone/>
                      </a:pPr>
                      <a:r>
                        <a:rPr lang="en-US" altLang="en-US" sz="1200">
                          <a:sym typeface="+mn-ea"/>
                        </a:rPr>
                        <a:t>Phân đoạn theo thể loại tài liệu</a:t>
                      </a:r>
                      <a:endParaRPr lang="en-US" altLang="en-US" sz="1200">
                        <a:sym typeface="+mn-ea"/>
                      </a:endParaRPr>
                    </a:p>
                  </a:txBody>
                  <a:tcPr/>
                </a:tc>
              </a:tr>
              <a:tr h="279400">
                <a:tc>
                  <a:txBody>
                    <a:bodyPr/>
                    <a:p>
                      <a:pPr>
                        <a:buNone/>
                      </a:pPr>
                      <a:r>
                        <a:rPr lang="en-US" sz="1200">
                          <a:sym typeface="+mn-ea"/>
                        </a:rPr>
                        <a:t>Markdown (.md)</a:t>
                      </a:r>
                      <a:endParaRPr lang="en-US" sz="1200">
                        <a:sym typeface="+mn-ea"/>
                      </a:endParaRPr>
                    </a:p>
                  </a:txBody>
                  <a:tcPr/>
                </a:tc>
                <a:tc>
                  <a:txBody>
                    <a:bodyPr/>
                    <a:p>
                      <a:pPr>
                        <a:buNone/>
                      </a:pPr>
                      <a:r>
                        <a:rPr lang="en-US" altLang="en-US" sz="1200">
                          <a:sym typeface="+mn-ea"/>
                        </a:rPr>
                        <a:t>Phân đoạn theo cấu trúc</a:t>
                      </a:r>
                      <a:endParaRPr lang="en-US" altLang="en-US" sz="1200">
                        <a:sym typeface="+mn-ea"/>
                      </a:endParaRPr>
                    </a:p>
                  </a:txBody>
                  <a:tcPr/>
                </a:tc>
              </a:tr>
            </a:tbl>
          </a:graphicData>
        </a:graphic>
      </p:graphicFrame>
      <p:sp>
        <p:nvSpPr>
          <p:cNvPr id="5" name="Google Shape;162;p19"/>
          <p:cNvSpPr txBox="1"/>
          <p:nvPr/>
        </p:nvSpPr>
        <p:spPr>
          <a:xfrm>
            <a:off x="185420" y="3484245"/>
            <a:ext cx="5155565" cy="3587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Kết quả quá trình phân đoạn dựa trên dạng tài liệu</a:t>
            </a:r>
            <a:endPar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pic>
        <p:nvPicPr>
          <p:cNvPr id="2" name="Picture 1"/>
          <p:cNvPicPr>
            <a:picLocks noChangeAspect="1"/>
          </p:cNvPicPr>
          <p:nvPr/>
        </p:nvPicPr>
        <p:blipFill>
          <a:blip r:embed="rId3"/>
          <a:stretch>
            <a:fillRect/>
          </a:stretch>
        </p:blipFill>
        <p:spPr>
          <a:xfrm>
            <a:off x="139700" y="1256665"/>
            <a:ext cx="8125460" cy="1896110"/>
          </a:xfrm>
          <a:prstGeom prst="rect">
            <a:avLst/>
          </a:prstGeom>
          <a:ln w="28575">
            <a:solidFill>
              <a:schemeClr val="accent4">
                <a:lumMod val="75000"/>
              </a:schemeClr>
            </a:solidFill>
          </a:ln>
        </p:spPr>
      </p:pic>
      <p:sp>
        <p:nvSpPr>
          <p:cNvPr id="6" name="Google Shape;162;p19"/>
          <p:cNvSpPr txBox="1"/>
          <p:nvPr/>
        </p:nvSpPr>
        <p:spPr>
          <a:xfrm>
            <a:off x="185420" y="811530"/>
            <a:ext cx="5155565" cy="3587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Mô hình hóa quá trình phân đoạn của dự án</a:t>
            </a:r>
            <a:endPar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
        <p:nvSpPr>
          <p:cNvPr id="7" name="Google Shape;162;p19"/>
          <p:cNvSpPr txBox="1"/>
          <p:nvPr/>
        </p:nvSpPr>
        <p:spPr>
          <a:xfrm>
            <a:off x="8363585" y="2782570"/>
            <a:ext cx="3743325" cy="358775"/>
          </a:xfrm>
          <a:prstGeom prst="rect">
            <a:avLst/>
          </a:prstGeom>
          <a:noFill/>
          <a:ln>
            <a:noFill/>
          </a:ln>
        </p:spPr>
        <p:txBody>
          <a:bodyPr spcFirstLastPara="1" wrap="square" lIns="0" tIns="0" rIns="0" bIns="0" anchor="t" anchorCtr="0">
            <a:noAutofit/>
          </a:bodyPr>
          <a:lstStyle/>
          <a:p>
            <a:pPr marL="0" marR="0" lvl="0" indent="0" algn="ctr" rtl="0">
              <a:lnSpc>
                <a:spcPct val="160000"/>
              </a:lnSpc>
              <a:spcBef>
                <a:spcPts val="0"/>
              </a:spcBef>
              <a:spcAft>
                <a:spcPts val="0"/>
              </a:spcAft>
              <a:buNone/>
            </a:pPr>
            <a:r>
              <a:rPr lang="en-US" sz="1000" u="none" strike="noStrike" cap="none">
                <a:solidFill>
                  <a:schemeClr val="tx1"/>
                </a:solidFill>
                <a:latin typeface="Inter" panose="02000503000000020004"/>
                <a:ea typeface="Inter" panose="02000503000000020004"/>
                <a:cs typeface="Inter" panose="02000503000000020004"/>
                <a:sym typeface="Inter" panose="02000503000000020004"/>
              </a:rPr>
              <a:t>Chọn phương pháp phân đoạn theo dạng tài liệu cho dự án</a:t>
            </a:r>
            <a:endParaRPr lang="en-US" sz="100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pic>
        <p:nvPicPr>
          <p:cNvPr id="8" name="Picture 7"/>
          <p:cNvPicPr>
            <a:picLocks noChangeAspect="1"/>
          </p:cNvPicPr>
          <p:nvPr/>
        </p:nvPicPr>
        <p:blipFill>
          <a:blip r:embed="rId4"/>
          <a:stretch>
            <a:fillRect/>
          </a:stretch>
        </p:blipFill>
        <p:spPr>
          <a:xfrm>
            <a:off x="201930" y="3916680"/>
            <a:ext cx="11788140" cy="22682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581025" y="19050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3. Khối mã hóa số dữ liệu - Embedding (lý thuyết)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Google Shape;162;p19"/>
          <p:cNvSpPr txBox="1"/>
          <p:nvPr/>
        </p:nvSpPr>
        <p:spPr>
          <a:xfrm>
            <a:off x="581025" y="946150"/>
            <a:ext cx="11029950" cy="16541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2000" b="0" i="0" u="none" strike="noStrike" cap="none">
                <a:solidFill>
                  <a:srgbClr val="5A6275"/>
                </a:solidFill>
                <a:latin typeface="Inter" panose="02000503000000020004"/>
                <a:ea typeface="Inter" panose="02000503000000020004"/>
                <a:cs typeface="Inter" panose="02000503000000020004"/>
                <a:sym typeface="Inter" panose="02000503000000020004"/>
              </a:rPr>
              <a:t>Mã hóa số dữ liệu (Embedding)</a:t>
            </a:r>
            <a:r>
              <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rPr>
              <a:t> </a:t>
            </a: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là quá trình chuyển đổi dữ liệu đã phân đoạn (Chunking) thành các vector số có chiều cố định, sao cho ý nghĩa của dữ liệu được bảo toàn trong không gian vector, các vector này giúp máy tính đo được độ tương đồng về ngữ nghĩa (sementic similarity) giữa các đoạn văn. Chất lượng quá trình này sẽ ảnh hưởng trực tiếp đến khả năng truy xuất và độ chính xác, quyết định ngữ cảnh để cũng cung cấp cho mô hình ngôn ngữ lớn</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
        <p:nvSpPr>
          <p:cNvPr id="2" name="Google Shape;162;p19"/>
          <p:cNvSpPr txBox="1"/>
          <p:nvPr/>
        </p:nvSpPr>
        <p:spPr>
          <a:xfrm>
            <a:off x="581025" y="2898140"/>
            <a:ext cx="3709035" cy="3587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Các mô hình Embedding phổ biến</a:t>
            </a:r>
            <a:endPar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graphicFrame>
        <p:nvGraphicFramePr>
          <p:cNvPr id="6" name="Table 5"/>
          <p:cNvGraphicFramePr/>
          <p:nvPr>
            <p:custDataLst>
              <p:tags r:id="rId2"/>
            </p:custDataLst>
          </p:nvPr>
        </p:nvGraphicFramePr>
        <p:xfrm>
          <a:off x="1964690" y="3310255"/>
          <a:ext cx="8261985" cy="2919095"/>
        </p:xfrm>
        <a:graphic>
          <a:graphicData uri="http://schemas.openxmlformats.org/drawingml/2006/table">
            <a:tbl>
              <a:tblPr firstRow="1" bandRow="1">
                <a:tableStyleId>{5C22544A-7EE6-4342-B048-85BDC9FD1C3A}</a:tableStyleId>
              </a:tblPr>
              <a:tblGrid>
                <a:gridCol w="3577590"/>
                <a:gridCol w="4684395"/>
              </a:tblGrid>
              <a:tr h="313055">
                <a:tc>
                  <a:txBody>
                    <a:bodyPr/>
                    <a:p>
                      <a:pPr algn="ctr">
                        <a:buNone/>
                      </a:pPr>
                      <a:r>
                        <a:rPr lang="en-US"/>
                        <a:t>Mô hình</a:t>
                      </a:r>
                      <a:endParaRPr lang="en-US"/>
                    </a:p>
                  </a:txBody>
                  <a:tcPr/>
                </a:tc>
                <a:tc>
                  <a:txBody>
                    <a:bodyPr/>
                    <a:p>
                      <a:pPr algn="ctr">
                        <a:buNone/>
                      </a:pPr>
                      <a:r>
                        <a:rPr lang="en-US"/>
                        <a:t>Ứng dụng</a:t>
                      </a:r>
                      <a:endParaRPr lang="en-US"/>
                    </a:p>
                  </a:txBody>
                  <a:tcPr/>
                </a:tc>
              </a:tr>
              <a:tr h="328930">
                <a:tc>
                  <a:txBody>
                    <a:bodyPr/>
                    <a:p>
                      <a:pPr>
                        <a:buNone/>
                      </a:pPr>
                      <a:r>
                        <a:rPr lang="en-US" altLang="en-US" sz="1200"/>
                        <a:t>BAAI/bge-large-en-v1.5</a:t>
                      </a:r>
                      <a:endParaRPr lang="en-US" altLang="en-US" sz="1200"/>
                    </a:p>
                  </a:txBody>
                  <a:tcPr/>
                </a:tc>
                <a:tc>
                  <a:txBody>
                    <a:bodyPr/>
                    <a:p>
                      <a:pPr>
                        <a:buNone/>
                      </a:pPr>
                      <a:r>
                        <a:rPr lang="en-US" altLang="en-US" sz="1200"/>
                        <a:t>Đ</a:t>
                      </a:r>
                      <a:r>
                        <a:rPr lang="en-US" altLang="en-US" sz="1200"/>
                        <a:t>ộ chính xác cao cho tiếng Anh, phổ biến trong các hệ thống RAG</a:t>
                      </a:r>
                      <a:endParaRPr lang="en-US" altLang="en-US" sz="1200"/>
                    </a:p>
                  </a:txBody>
                  <a:tcPr/>
                </a:tc>
              </a:tr>
              <a:tr h="328930">
                <a:tc>
                  <a:txBody>
                    <a:bodyPr/>
                    <a:p>
                      <a:pPr>
                        <a:buNone/>
                      </a:pPr>
                      <a:r>
                        <a:rPr lang="en-US" altLang="en-US" sz="1200"/>
                        <a:t>BAAI/bge-base-en-v1.5</a:t>
                      </a:r>
                      <a:endParaRPr lang="en-US" altLang="en-US" sz="1200"/>
                    </a:p>
                  </a:txBody>
                  <a:tcPr/>
                </a:tc>
                <a:tc>
                  <a:txBody>
                    <a:bodyPr/>
                    <a:p>
                      <a:pPr>
                        <a:buNone/>
                      </a:pPr>
                      <a:r>
                        <a:rPr lang="en-US" altLang="en-US" sz="1200"/>
                        <a:t>Nhẹ hơn, tốc </a:t>
                      </a:r>
                      <a:r>
                        <a:rPr lang="en-US" altLang="en-US" sz="1200"/>
                        <a:t>đ</a:t>
                      </a:r>
                      <a:r>
                        <a:rPr lang="en-US" altLang="en-US" sz="1200"/>
                        <a:t>ộ nhanh hơn, phù hợp triển khai thực tế</a:t>
                      </a:r>
                      <a:endParaRPr lang="en-US" altLang="en-US" sz="1200"/>
                    </a:p>
                  </a:txBody>
                  <a:tcPr/>
                </a:tc>
              </a:tr>
              <a:tr h="328930">
                <a:tc>
                  <a:txBody>
                    <a:bodyPr/>
                    <a:p>
                      <a:pPr>
                        <a:buNone/>
                      </a:pPr>
                      <a:r>
                        <a:rPr lang="en-US" altLang="en-US" sz="1200"/>
                        <a:t>intfloat/e5-large-v2</a:t>
                      </a:r>
                      <a:endParaRPr lang="en-US" altLang="en-US" sz="1200"/>
                    </a:p>
                  </a:txBody>
                  <a:tcPr/>
                </a:tc>
                <a:tc>
                  <a:txBody>
                    <a:bodyPr/>
                    <a:p>
                      <a:pPr>
                        <a:buNone/>
                      </a:pPr>
                      <a:r>
                        <a:rPr lang="en-US" altLang="en-US" sz="1200"/>
                        <a:t>Tối </a:t>
                      </a:r>
                      <a:r>
                        <a:rPr lang="en-US" altLang="en-US" sz="1200"/>
                        <a:t>ư</a:t>
                      </a:r>
                      <a:r>
                        <a:rPr lang="en-US" altLang="en-US" sz="1200"/>
                        <a:t>u cho semantic search và retrieval</a:t>
                      </a:r>
                      <a:endParaRPr lang="en-US" altLang="en-US" sz="1200"/>
                    </a:p>
                  </a:txBody>
                  <a:tcPr/>
                </a:tc>
              </a:tr>
              <a:tr h="328930">
                <a:tc>
                  <a:txBody>
                    <a:bodyPr/>
                    <a:p>
                      <a:pPr>
                        <a:buNone/>
                      </a:pPr>
                      <a:r>
                        <a:rPr lang="en-US" altLang="en-US" sz="1200"/>
                        <a:t>sentence-transformers/all-MiniLM-L6-v2</a:t>
                      </a:r>
                      <a:endParaRPr lang="en-US" altLang="en-US" sz="1200"/>
                    </a:p>
                  </a:txBody>
                  <a:tcPr/>
                </a:tc>
                <a:tc>
                  <a:txBody>
                    <a:bodyPr/>
                    <a:p>
                      <a:pPr>
                        <a:buNone/>
                      </a:pPr>
                      <a:r>
                        <a:rPr lang="en-US" altLang="en-US" sz="1200"/>
                        <a:t>Nhẹ, tốc </a:t>
                      </a:r>
                      <a:r>
                        <a:rPr lang="en-US" altLang="en-US" sz="1200"/>
                        <a:t>đ</a:t>
                      </a:r>
                      <a:r>
                        <a:rPr lang="en-US" altLang="en-US" sz="1200"/>
                        <a:t>ộ cao, phù hợp thử nghiệm</a:t>
                      </a:r>
                      <a:endParaRPr lang="en-US" altLang="en-US" sz="1200"/>
                    </a:p>
                  </a:txBody>
                  <a:tcPr/>
                </a:tc>
              </a:tr>
              <a:tr h="328930">
                <a:tc>
                  <a:txBody>
                    <a:bodyPr/>
                    <a:p>
                      <a:pPr>
                        <a:buNone/>
                      </a:pPr>
                      <a:r>
                        <a:rPr lang="en-US" altLang="en-US" sz="1200"/>
                        <a:t>OpenAI text-embedding-3-small</a:t>
                      </a:r>
                      <a:endParaRPr lang="en-US" altLang="en-US" sz="1200"/>
                    </a:p>
                  </a:txBody>
                  <a:tcPr/>
                </a:tc>
                <a:tc>
                  <a:txBody>
                    <a:bodyPr/>
                    <a:p>
                      <a:pPr>
                        <a:buNone/>
                      </a:pPr>
                      <a:r>
                        <a:rPr lang="en-US" altLang="en-US" sz="1200"/>
                        <a:t>Chất l</a:t>
                      </a:r>
                      <a:r>
                        <a:rPr lang="en-US" altLang="en-US" sz="1200"/>
                        <a:t>ư</a:t>
                      </a:r>
                      <a:r>
                        <a:rPr lang="en-US" altLang="en-US" sz="1200"/>
                        <a:t>ợng tốt, chi phí thấp khi sử dụng API</a:t>
                      </a:r>
                      <a:endParaRPr lang="en-US" altLang="en-US" sz="1200"/>
                    </a:p>
                  </a:txBody>
                  <a:tcPr/>
                </a:tc>
              </a:tr>
              <a:tr h="328930">
                <a:tc>
                  <a:txBody>
                    <a:bodyPr/>
                    <a:p>
                      <a:pPr>
                        <a:buNone/>
                      </a:pPr>
                      <a:r>
                        <a:rPr lang="en-US" altLang="en-US" sz="1200"/>
                        <a:t>OpenAI text-embedding-3-large</a:t>
                      </a:r>
                      <a:endParaRPr lang="en-US" altLang="en-US" sz="1200"/>
                    </a:p>
                  </a:txBody>
                  <a:tcPr/>
                </a:tc>
                <a:tc>
                  <a:txBody>
                    <a:bodyPr/>
                    <a:p>
                      <a:pPr>
                        <a:buNone/>
                      </a:pPr>
                      <a:r>
                        <a:rPr lang="en-US" altLang="en-US" sz="1200"/>
                        <a:t>Hiệu n</a:t>
                      </a:r>
                      <a:r>
                        <a:rPr lang="en-US" altLang="en-US" sz="1200"/>
                        <a:t>ă</a:t>
                      </a:r>
                      <a:r>
                        <a:rPr lang="en-US" altLang="en-US" sz="1200"/>
                        <a:t>ng rất cao nh</a:t>
                      </a:r>
                      <a:r>
                        <a:rPr lang="en-US" altLang="en-US" sz="1200"/>
                        <a:t>ư</a:t>
                      </a:r>
                      <a:r>
                        <a:rPr lang="en-US" altLang="en-US" sz="1200"/>
                        <a:t>ng chi phí lớn hơn</a:t>
                      </a:r>
                      <a:endParaRPr lang="en-US" altLang="en-US" sz="1200"/>
                    </a:p>
                  </a:txBody>
                  <a:tcPr/>
                </a:tc>
              </a:tr>
            </a:tbl>
          </a:graphicData>
        </a:graphic>
      </p:graphicFrame>
      <p:sp>
        <p:nvSpPr>
          <p:cNvPr id="4" name="Text Box 3"/>
          <p:cNvSpPr txBox="1"/>
          <p:nvPr/>
        </p:nvSpPr>
        <p:spPr>
          <a:xfrm>
            <a:off x="1276985" y="5748020"/>
            <a:ext cx="9503410" cy="521970"/>
          </a:xfrm>
          <a:prstGeom prst="rect">
            <a:avLst/>
          </a:prstGeom>
          <a:noFill/>
        </p:spPr>
        <p:txBody>
          <a:bodyPr wrap="square" rtlCol="0" anchor="t">
            <a:spAutoFit/>
          </a:bodyPr>
          <a:p>
            <a:r>
              <a:rPr lang="en-US">
                <a:latin typeface="Arial" panose="020B0604020202020204" pitchFamily="34" charset="0"/>
                <a:cs typeface="Arial" panose="020B0604020202020204" pitchFamily="34" charset="0"/>
              </a:rPr>
              <a:t>→ Sử dụng mô hình “OpenAI text-embedding-3-small” cho dự án vì nhu cầu vừa phải và đồng bộ dịch vụ với mô hình ngôn ngữ lớn của OpenAI </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581025" y="19050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3. Khối mã hóa số dữ liệu - Embedding (ứng dụng)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Google Shape;162;p19"/>
          <p:cNvSpPr txBox="1"/>
          <p:nvPr/>
        </p:nvSpPr>
        <p:spPr>
          <a:xfrm>
            <a:off x="581025" y="783590"/>
            <a:ext cx="8144510" cy="3587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b="1" i="0" u="none" strike="noStrike" cap="none">
                <a:solidFill>
                  <a:schemeClr val="tx1"/>
                </a:solidFill>
                <a:latin typeface="Inter" panose="02000503000000020004"/>
                <a:ea typeface="Inter" panose="02000503000000020004"/>
                <a:cs typeface="Inter" panose="02000503000000020004"/>
                <a:sym typeface="Inter" panose="02000503000000020004"/>
              </a:rPr>
              <a:t>Mô hình hóa kết quả mã hóa số trực quan hóa bằng Tensorflow  (đơn giản hóa qua 2D)</a:t>
            </a:r>
            <a:endParaRPr lang="en-US" b="1"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
        <p:nvSpPr>
          <p:cNvPr id="4" name="Text Box 3"/>
          <p:cNvSpPr txBox="1"/>
          <p:nvPr/>
        </p:nvSpPr>
        <p:spPr>
          <a:xfrm>
            <a:off x="6604635" y="1118870"/>
            <a:ext cx="5365115" cy="2167255"/>
          </a:xfrm>
          <a:prstGeom prst="rect">
            <a:avLst/>
          </a:prstGeom>
          <a:noFill/>
        </p:spPr>
        <p:txBody>
          <a:bodyPr wrap="square" rtlCol="0" anchor="t">
            <a:noAutofit/>
          </a:bodyPr>
          <a:p>
            <a:pPr algn="just"/>
            <a:r>
              <a:rPr lang="en-US" altLang="en-US">
                <a:latin typeface="Arial" panose="020B0604020202020204" pitchFamily="34" charset="0"/>
                <a:cs typeface="Arial" panose="020B0604020202020204" pitchFamily="34" charset="0"/>
              </a:rPr>
              <a:t>Sau khi </a:t>
            </a:r>
            <a:r>
              <a:rPr lang="en-US" altLang="en-US">
                <a:latin typeface="Arial" panose="020B0604020202020204" pitchFamily="34" charset="0"/>
                <a:cs typeface="Arial" panose="020B0604020202020204" pitchFamily="34" charset="0"/>
              </a:rPr>
              <a:t>đư</a:t>
            </a:r>
            <a:r>
              <a:rPr lang="en-US" altLang="en-US">
                <a:latin typeface="Arial" panose="020B0604020202020204" pitchFamily="34" charset="0"/>
                <a:cs typeface="Arial" panose="020B0604020202020204" pitchFamily="34" charset="0"/>
              </a:rPr>
              <a:t>ợc xử l</a:t>
            </a:r>
            <a:r>
              <a:rPr lang="en-US" altLang="en-US">
                <a:latin typeface="Arial" panose="020B0604020202020204" pitchFamily="34" charset="0"/>
                <a:cs typeface="Arial" panose="020B0604020202020204" pitchFamily="34" charset="0"/>
              </a:rPr>
              <a:t>ý</a:t>
            </a:r>
            <a:r>
              <a:rPr lang="en-US" altLang="en-US">
                <a:latin typeface="Arial" panose="020B0604020202020204" pitchFamily="34" charset="0"/>
                <a:cs typeface="Arial" panose="020B0604020202020204" pitchFamily="34" charset="0"/>
              </a:rPr>
              <a:t> bởi mô hình embedding, mỗi chunk v</a:t>
            </a:r>
            <a:r>
              <a:rPr lang="en-US" altLang="en-US">
                <a:latin typeface="Arial" panose="020B0604020202020204" pitchFamily="34" charset="0"/>
                <a:cs typeface="Arial" panose="020B0604020202020204" pitchFamily="34" charset="0"/>
              </a:rPr>
              <a:t>ă</a:t>
            </a:r>
            <a:r>
              <a:rPr lang="en-US" altLang="en-US">
                <a:latin typeface="Arial" panose="020B0604020202020204" pitchFamily="34" charset="0"/>
                <a:cs typeface="Arial" panose="020B0604020202020204" pitchFamily="34" charset="0"/>
              </a:rPr>
              <a:t>n bản </a:t>
            </a:r>
            <a:r>
              <a:rPr lang="en-US" altLang="en-US">
                <a:latin typeface="Arial" panose="020B0604020202020204" pitchFamily="34" charset="0"/>
                <a:cs typeface="Arial" panose="020B0604020202020204" pitchFamily="34" charset="0"/>
              </a:rPr>
              <a:t>đư</a:t>
            </a:r>
            <a:r>
              <a:rPr lang="en-US" altLang="en-US">
                <a:latin typeface="Arial" panose="020B0604020202020204" pitchFamily="34" charset="0"/>
                <a:cs typeface="Arial" panose="020B0604020202020204" pitchFamily="34" charset="0"/>
              </a:rPr>
              <a:t>ợc chuyển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ổi thành một vector gồm 1024 chiều. Mỗi vector có thể </a:t>
            </a:r>
            <a:r>
              <a:rPr lang="en-US" altLang="en-US">
                <a:latin typeface="Arial" panose="020B0604020202020204" pitchFamily="34" charset="0"/>
                <a:cs typeface="Arial" panose="020B0604020202020204" pitchFamily="34" charset="0"/>
              </a:rPr>
              <a:t>đư</a:t>
            </a:r>
            <a:r>
              <a:rPr lang="en-US" altLang="en-US">
                <a:latin typeface="Arial" panose="020B0604020202020204" pitchFamily="34" charset="0"/>
                <a:cs typeface="Arial" panose="020B0604020202020204" pitchFamily="34" charset="0"/>
              </a:rPr>
              <a:t>ợc xem là một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iểm trong không gian vector 1024 chiều, trong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ó vị trí của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iểm phản ánh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ặc tr</a:t>
            </a:r>
            <a:r>
              <a:rPr lang="en-US" altLang="en-US">
                <a:latin typeface="Arial" panose="020B0604020202020204" pitchFamily="34" charset="0"/>
                <a:cs typeface="Arial" panose="020B0604020202020204" pitchFamily="34" charset="0"/>
              </a:rPr>
              <a:t>ư</a:t>
            </a:r>
            <a:r>
              <a:rPr lang="en-US" altLang="en-US">
                <a:latin typeface="Arial" panose="020B0604020202020204" pitchFamily="34" charset="0"/>
                <a:cs typeface="Arial" panose="020B0604020202020204" pitchFamily="34" charset="0"/>
              </a:rPr>
              <a:t>ng ngữ ngh</a:t>
            </a:r>
            <a:r>
              <a:rPr lang="en-US" altLang="en-US">
                <a:latin typeface="Arial" panose="020B0604020202020204" pitchFamily="34" charset="0"/>
                <a:cs typeface="Arial" panose="020B0604020202020204" pitchFamily="34" charset="0"/>
              </a:rPr>
              <a:t>ĩ</a:t>
            </a:r>
            <a:r>
              <a:rPr lang="en-US" altLang="en-US">
                <a:latin typeface="Arial" panose="020B0604020202020204" pitchFamily="34" charset="0"/>
                <a:cs typeface="Arial" panose="020B0604020202020204" pitchFamily="34" charset="0"/>
              </a:rPr>
              <a:t>a của nội dung chunk.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ể trực quan hóa, các vector này </a:t>
            </a:r>
            <a:r>
              <a:rPr lang="en-US" altLang="en-US">
                <a:latin typeface="Arial" panose="020B0604020202020204" pitchFamily="34" charset="0"/>
                <a:cs typeface="Arial" panose="020B0604020202020204" pitchFamily="34" charset="0"/>
              </a:rPr>
              <a:t>đư</a:t>
            </a:r>
            <a:r>
              <a:rPr lang="en-US" altLang="en-US">
                <a:latin typeface="Arial" panose="020B0604020202020204" pitchFamily="34" charset="0"/>
                <a:cs typeface="Arial" panose="020B0604020202020204" pitchFamily="34" charset="0"/>
              </a:rPr>
              <a:t>ợc giảm chiều xuống không gian ba chiều bằng thuật toán UMAP. Trong hình trực quan, mỗi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iểm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ại diện cho một chunk, và khoảng cách giữa các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iểm phản ánh mức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ộ t</a:t>
            </a:r>
            <a:r>
              <a:rPr lang="en-US" altLang="en-US">
                <a:latin typeface="Arial" panose="020B0604020202020204" pitchFamily="34" charset="0"/>
                <a:cs typeface="Arial" panose="020B0604020202020204" pitchFamily="34" charset="0"/>
              </a:rPr>
              <a:t>ư</a:t>
            </a:r>
            <a:r>
              <a:rPr lang="en-US" altLang="en-US">
                <a:latin typeface="Arial" panose="020B0604020202020204" pitchFamily="34" charset="0"/>
                <a:cs typeface="Arial" panose="020B0604020202020204" pitchFamily="34" charset="0"/>
              </a:rPr>
              <a:t>ơng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ồng ngữ ngh</a:t>
            </a:r>
            <a:r>
              <a:rPr lang="en-US" altLang="en-US">
                <a:latin typeface="Arial" panose="020B0604020202020204" pitchFamily="34" charset="0"/>
                <a:cs typeface="Arial" panose="020B0604020202020204" pitchFamily="34" charset="0"/>
              </a:rPr>
              <a:t>ĩ</a:t>
            </a:r>
            <a:r>
              <a:rPr lang="en-US" altLang="en-US">
                <a:latin typeface="Arial" panose="020B0604020202020204" pitchFamily="34" charset="0"/>
                <a:cs typeface="Arial" panose="020B0604020202020204" pitchFamily="34" charset="0"/>
              </a:rPr>
              <a:t>a giữa các chunk: các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iểm càng gần nhau thì nội dung càng có xu h</a:t>
            </a:r>
            <a:r>
              <a:rPr lang="en-US" altLang="en-US">
                <a:latin typeface="Arial" panose="020B0604020202020204" pitchFamily="34" charset="0"/>
                <a:cs typeface="Arial" panose="020B0604020202020204" pitchFamily="34" charset="0"/>
              </a:rPr>
              <a:t>ư</a:t>
            </a:r>
            <a:r>
              <a:rPr lang="en-US" altLang="en-US">
                <a:latin typeface="Arial" panose="020B0604020202020204" pitchFamily="34" charset="0"/>
                <a:cs typeface="Arial" panose="020B0604020202020204" pitchFamily="34" charset="0"/>
              </a:rPr>
              <a:t>ớng t</a:t>
            </a:r>
            <a:r>
              <a:rPr lang="en-US" altLang="en-US">
                <a:latin typeface="Arial" panose="020B0604020202020204" pitchFamily="34" charset="0"/>
                <a:cs typeface="Arial" panose="020B0604020202020204" pitchFamily="34" charset="0"/>
              </a:rPr>
              <a:t>ư</a:t>
            </a:r>
            <a:r>
              <a:rPr lang="en-US" altLang="en-US">
                <a:latin typeface="Arial" panose="020B0604020202020204" pitchFamily="34" charset="0"/>
                <a:cs typeface="Arial" panose="020B0604020202020204" pitchFamily="34" charset="0"/>
              </a:rPr>
              <a:t>ơng </a:t>
            </a:r>
            <a:r>
              <a:rPr lang="en-US" altLang="en-US">
                <a:latin typeface="Arial" panose="020B0604020202020204" pitchFamily="34" charset="0"/>
                <a:cs typeface="Arial" panose="020B0604020202020204" pitchFamily="34" charset="0"/>
              </a:rPr>
              <a:t>đ</a:t>
            </a:r>
            <a:r>
              <a:rPr lang="en-US" altLang="en-US">
                <a:latin typeface="Arial" panose="020B0604020202020204" pitchFamily="34" charset="0"/>
                <a:cs typeface="Arial" panose="020B0604020202020204" pitchFamily="34" charset="0"/>
              </a:rPr>
              <a:t>ồng.</a:t>
            </a:r>
            <a:endParaRPr lang="en-US" altLang="en-US">
              <a:latin typeface="Arial" panose="020B0604020202020204" pitchFamily="34" charset="0"/>
              <a:cs typeface="Arial" panose="020B0604020202020204" pitchFamily="34" charset="0"/>
            </a:endParaRPr>
          </a:p>
        </p:txBody>
      </p:sp>
      <p:graphicFrame>
        <p:nvGraphicFramePr>
          <p:cNvPr id="5" name="Table 4"/>
          <p:cNvGraphicFramePr/>
          <p:nvPr>
            <p:custDataLst>
              <p:tags r:id="rId2"/>
            </p:custDataLst>
          </p:nvPr>
        </p:nvGraphicFramePr>
        <p:xfrm>
          <a:off x="6694170" y="3349625"/>
          <a:ext cx="4916170" cy="1891030"/>
        </p:xfrm>
        <a:graphic>
          <a:graphicData uri="http://schemas.openxmlformats.org/drawingml/2006/table">
            <a:tbl>
              <a:tblPr firstRow="1" bandRow="1">
                <a:tableStyleId>{5C22544A-7EE6-4342-B048-85BDC9FD1C3A}</a:tableStyleId>
              </a:tblPr>
              <a:tblGrid>
                <a:gridCol w="967105"/>
                <a:gridCol w="3949065"/>
              </a:tblGrid>
              <a:tr h="313055">
                <a:tc>
                  <a:txBody>
                    <a:bodyPr/>
                    <a:p>
                      <a:pPr algn="ctr">
                        <a:buNone/>
                      </a:pPr>
                      <a:r>
                        <a:rPr lang="en-US"/>
                        <a:t>Màu</a:t>
                      </a:r>
                      <a:endParaRPr lang="en-US"/>
                    </a:p>
                  </a:txBody>
                  <a:tcPr anchor="ctr" anchorCtr="0"/>
                </a:tc>
                <a:tc>
                  <a:txBody>
                    <a:bodyPr/>
                    <a:p>
                      <a:pPr algn="ctr">
                        <a:buNone/>
                      </a:pPr>
                      <a:r>
                        <a:rPr lang="en-US"/>
                        <a:t>Phân loại dữ liệu</a:t>
                      </a:r>
                      <a:endParaRPr lang="en-US"/>
                    </a:p>
                  </a:txBody>
                  <a:tcPr anchor="ctr" anchorCtr="0"/>
                </a:tc>
              </a:tr>
              <a:tr h="315595">
                <a:tc>
                  <a:txBody>
                    <a:bodyPr/>
                    <a:p>
                      <a:pPr>
                        <a:buNone/>
                      </a:pPr>
                      <a:endParaRPr lang="en-US"/>
                    </a:p>
                  </a:txBody>
                  <a:tcPr/>
                </a:tc>
                <a:tc>
                  <a:txBody>
                    <a:bodyPr/>
                    <a:p>
                      <a:pPr algn="l">
                        <a:buNone/>
                      </a:pPr>
                      <a:r>
                        <a:rPr lang="en-US"/>
                        <a:t>Danh sách sản phẩm (Product Catalog)</a:t>
                      </a:r>
                      <a:endParaRPr lang="en-US"/>
                    </a:p>
                  </a:txBody>
                  <a:tcPr/>
                </a:tc>
              </a:tr>
              <a:tr h="315595">
                <a:tc>
                  <a:txBody>
                    <a:bodyPr/>
                    <a:p>
                      <a:pPr>
                        <a:buNone/>
                      </a:pPr>
                      <a:endParaRPr lang="en-US"/>
                    </a:p>
                  </a:txBody>
                  <a:tcPr/>
                </a:tc>
                <a:tc>
                  <a:txBody>
                    <a:bodyPr/>
                    <a:p>
                      <a:pPr algn="l">
                        <a:buNone/>
                      </a:pPr>
                      <a:r>
                        <a:rPr lang="en-US"/>
                        <a:t>Kiến thức nến thơm (Candle Knowledge)</a:t>
                      </a:r>
                      <a:endParaRPr lang="en-US"/>
                    </a:p>
                  </a:txBody>
                  <a:tcPr/>
                </a:tc>
              </a:tr>
              <a:tr h="315595">
                <a:tc>
                  <a:txBody>
                    <a:bodyPr/>
                    <a:p>
                      <a:pPr>
                        <a:buNone/>
                      </a:pPr>
                      <a:endParaRPr lang="en-US"/>
                    </a:p>
                  </a:txBody>
                  <a:tcPr/>
                </a:tc>
                <a:tc>
                  <a:txBody>
                    <a:bodyPr/>
                    <a:p>
                      <a:pPr algn="l">
                        <a:buNone/>
                      </a:pPr>
                      <a:r>
                        <a:rPr lang="en-US"/>
                        <a:t>Hướng dẫn sử dụng (User guidance)</a:t>
                      </a:r>
                      <a:endParaRPr lang="en-US"/>
                    </a:p>
                  </a:txBody>
                  <a:tcPr/>
                </a:tc>
              </a:tr>
              <a:tr h="315595">
                <a:tc>
                  <a:txBody>
                    <a:bodyPr/>
                    <a:p>
                      <a:pPr>
                        <a:buNone/>
                      </a:pPr>
                      <a:endParaRPr lang="en-US"/>
                    </a:p>
                  </a:txBody>
                  <a:tcPr/>
                </a:tc>
                <a:tc>
                  <a:txBody>
                    <a:bodyPr/>
                    <a:p>
                      <a:pPr algn="l">
                        <a:buNone/>
                      </a:pPr>
                      <a:r>
                        <a:rPr lang="en-US"/>
                        <a:t>Các chính sách (Policies)</a:t>
                      </a:r>
                      <a:endParaRPr lang="en-US"/>
                    </a:p>
                  </a:txBody>
                  <a:tcPr/>
                </a:tc>
              </a:tr>
              <a:tr h="315595">
                <a:tc>
                  <a:txBody>
                    <a:bodyPr/>
                    <a:p>
                      <a:pPr>
                        <a:buNone/>
                      </a:pPr>
                      <a:endParaRPr lang="en-US"/>
                    </a:p>
                  </a:txBody>
                  <a:tcPr/>
                </a:tc>
                <a:tc>
                  <a:txBody>
                    <a:bodyPr/>
                    <a:p>
                      <a:pPr algn="l">
                        <a:buNone/>
                      </a:pPr>
                      <a:r>
                        <a:rPr lang="en-US"/>
                        <a:t>Chương trình khuyến mãi (Discount Program)</a:t>
                      </a:r>
                      <a:endParaRPr lang="en-US"/>
                    </a:p>
                  </a:txBody>
                  <a:tcPr/>
                </a:tc>
              </a:tr>
            </a:tbl>
          </a:graphicData>
        </a:graphic>
      </p:graphicFrame>
      <p:sp>
        <p:nvSpPr>
          <p:cNvPr id="7" name="Oval 6"/>
          <p:cNvSpPr/>
          <p:nvPr/>
        </p:nvSpPr>
        <p:spPr>
          <a:xfrm>
            <a:off x="7082155" y="3708400"/>
            <a:ext cx="202565" cy="216535"/>
          </a:xfrm>
          <a:prstGeom prst="ellipse">
            <a:avLst/>
          </a:prstGeom>
          <a:solidFill>
            <a:schemeClr val="accent3">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Oval 7"/>
          <p:cNvSpPr/>
          <p:nvPr/>
        </p:nvSpPr>
        <p:spPr>
          <a:xfrm>
            <a:off x="7082155" y="4027805"/>
            <a:ext cx="202565" cy="216535"/>
          </a:xfrm>
          <a:prstGeom prst="ellipse">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Oval 8"/>
          <p:cNvSpPr/>
          <p:nvPr/>
        </p:nvSpPr>
        <p:spPr>
          <a:xfrm>
            <a:off x="7082155" y="4347210"/>
            <a:ext cx="202565" cy="21653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Oval 9"/>
          <p:cNvSpPr/>
          <p:nvPr/>
        </p:nvSpPr>
        <p:spPr>
          <a:xfrm>
            <a:off x="7082155" y="4666615"/>
            <a:ext cx="202565" cy="216535"/>
          </a:xfrm>
          <a:prstGeom prst="ellipse">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Oval 10"/>
          <p:cNvSpPr/>
          <p:nvPr/>
        </p:nvSpPr>
        <p:spPr>
          <a:xfrm>
            <a:off x="7082155" y="4986020"/>
            <a:ext cx="202565" cy="216535"/>
          </a:xfrm>
          <a:prstGeom prst="ellipse">
            <a:avLst/>
          </a:prstGeom>
          <a:solidFill>
            <a:schemeClr val="bg2">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4" name="Picture 13"/>
          <p:cNvPicPr>
            <a:picLocks noChangeAspect="1"/>
          </p:cNvPicPr>
          <p:nvPr/>
        </p:nvPicPr>
        <p:blipFill>
          <a:blip r:embed="rId3"/>
          <a:stretch>
            <a:fillRect/>
          </a:stretch>
        </p:blipFill>
        <p:spPr>
          <a:xfrm>
            <a:off x="1049020" y="1142365"/>
            <a:ext cx="4881245" cy="3863975"/>
          </a:xfrm>
          <a:prstGeom prst="rect">
            <a:avLst/>
          </a:prstGeom>
          <a:ln w="38100">
            <a:solidFill>
              <a:schemeClr val="accent4">
                <a:lumMod val="75000"/>
              </a:schemeClr>
            </a:solidFill>
          </a:ln>
        </p:spPr>
      </p:pic>
      <p:pic>
        <p:nvPicPr>
          <p:cNvPr id="16" name="Picture 15"/>
          <p:cNvPicPr>
            <a:picLocks noChangeAspect="1"/>
          </p:cNvPicPr>
          <p:nvPr/>
        </p:nvPicPr>
        <p:blipFill>
          <a:blip r:embed="rId4"/>
          <a:stretch>
            <a:fillRect/>
          </a:stretch>
        </p:blipFill>
        <p:spPr>
          <a:xfrm>
            <a:off x="1143000" y="5545455"/>
            <a:ext cx="9906635" cy="1093470"/>
          </a:xfrm>
          <a:prstGeom prst="rect">
            <a:avLst/>
          </a:prstGeom>
        </p:spPr>
      </p:pic>
      <p:sp>
        <p:nvSpPr>
          <p:cNvPr id="17" name="Google Shape;162;p19"/>
          <p:cNvSpPr txBox="1"/>
          <p:nvPr/>
        </p:nvSpPr>
        <p:spPr>
          <a:xfrm>
            <a:off x="581025" y="5164455"/>
            <a:ext cx="6113145" cy="3587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b="1" i="0" u="none" strike="noStrike" cap="none">
                <a:solidFill>
                  <a:schemeClr val="tx1"/>
                </a:solidFill>
                <a:latin typeface="Inter" panose="02000503000000020004"/>
                <a:ea typeface="Inter" panose="02000503000000020004"/>
                <a:cs typeface="Inter" panose="02000503000000020004"/>
                <a:sym typeface="Inter" panose="02000503000000020004"/>
              </a:rPr>
              <a:t>Mô hình hóa kết quả mã hóa số thực tế của dự án</a:t>
            </a:r>
            <a:endParaRPr lang="en-US" b="1"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304800" y="190500"/>
            <a:ext cx="11972290" cy="492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4. Khối lưu trữ dữ liệu mã hóa số - Vector Database (lý thuyết) </a:t>
            </a:r>
            <a:endPar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Google Shape;162;p19"/>
          <p:cNvSpPr txBox="1"/>
          <p:nvPr/>
        </p:nvSpPr>
        <p:spPr>
          <a:xfrm>
            <a:off x="581025" y="946150"/>
            <a:ext cx="11029950" cy="16541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2000" b="0" i="0" u="none" strike="noStrike" cap="none">
                <a:solidFill>
                  <a:srgbClr val="5A6275"/>
                </a:solidFill>
                <a:latin typeface="Inter" panose="02000503000000020004"/>
                <a:ea typeface="Inter" panose="02000503000000020004"/>
                <a:cs typeface="Inter" panose="02000503000000020004"/>
                <a:sym typeface="Inter" panose="02000503000000020004"/>
              </a:rPr>
              <a:t>Khối lưu trữ dữ liệu mã hóa số (Vector Database)</a:t>
            </a:r>
            <a:r>
              <a:rPr lang="en-US" sz="1300" i="0" u="none" strike="noStrike" cap="none">
                <a:solidFill>
                  <a:srgbClr val="5A6275"/>
                </a:solidFill>
                <a:latin typeface="Inter" panose="02000503000000020004"/>
                <a:ea typeface="Inter" panose="02000503000000020004"/>
                <a:cs typeface="Inter" panose="02000503000000020004"/>
                <a:sym typeface="Inter" panose="02000503000000020004"/>
              </a:rPr>
              <a:t> </a:t>
            </a:r>
            <a:r>
              <a:rPr lang="en-US" sz="1500" i="0" u="none" strike="noStrike" cap="none">
                <a:solidFill>
                  <a:srgbClr val="5A6275"/>
                </a:solidFill>
                <a:latin typeface="Inter" panose="02000503000000020004"/>
                <a:ea typeface="Inter" panose="02000503000000020004"/>
                <a:cs typeface="Inter" panose="02000503000000020004"/>
                <a:sym typeface="Inter" panose="02000503000000020004"/>
              </a:rPr>
              <a:t>là hệ thống chuyên dụng để lưu trữ, quản lý và truy xuất các vector đã được mã hóa (embedding) của dữ liệu. Thông qua các cấu trúc chỉ mục tối ưu và thuật toán tìm kiếm lân cận gần đúng (Approximate Nearest Neighbor - ANN), Vector Database cho phép thực hiện tìm kiếm ngữ nghĩa (Semantic Search) với độ trễ thấp trên tập dữ liệu có kích thước lớn. Trong hệ thống RAG, Vector Database đóng vai trò là kho tri thức, lưu trữ các mã hóa của các đoạn tài liệu (chunks) cùng với metadata và nội dung gốc để phục vụ quá trình truy xuất thông tin liên quan trước khi cung cấp ngữ cảnh cho mô hình ngôn ngữ lớn (LLM)</a:t>
            </a:r>
            <a:endParaRPr lang="en-US" sz="150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graphicFrame>
        <p:nvGraphicFramePr>
          <p:cNvPr id="2" name="Table 1"/>
          <p:cNvGraphicFramePr/>
          <p:nvPr>
            <p:custDataLst>
              <p:tags r:id="rId2"/>
            </p:custDataLst>
          </p:nvPr>
        </p:nvGraphicFramePr>
        <p:xfrm>
          <a:off x="581025" y="3786505"/>
          <a:ext cx="6813550" cy="2759710"/>
        </p:xfrm>
        <a:graphic>
          <a:graphicData uri="http://schemas.openxmlformats.org/drawingml/2006/table">
            <a:tbl>
              <a:tblPr firstRow="1" bandRow="1">
                <a:tableStyleId>{5C22544A-7EE6-4342-B048-85BDC9FD1C3A}</a:tableStyleId>
              </a:tblPr>
              <a:tblGrid>
                <a:gridCol w="1177290"/>
                <a:gridCol w="1450340"/>
                <a:gridCol w="4185920"/>
              </a:tblGrid>
              <a:tr h="389890">
                <a:tc>
                  <a:txBody>
                    <a:bodyPr/>
                    <a:p>
                      <a:pPr algn="ctr">
                        <a:buNone/>
                      </a:pPr>
                      <a:r>
                        <a:rPr lang="en-US" sz="1200"/>
                        <a:t>Công nghệ</a:t>
                      </a:r>
                      <a:endParaRPr lang="en-US" sz="1200"/>
                    </a:p>
                  </a:txBody>
                  <a:tcPr/>
                </a:tc>
                <a:tc>
                  <a:txBody>
                    <a:bodyPr/>
                    <a:p>
                      <a:pPr algn="ctr">
                        <a:buNone/>
                      </a:pPr>
                      <a:r>
                        <a:rPr lang="en-US" sz="1200"/>
                        <a:t>Loại</a:t>
                      </a:r>
                      <a:endParaRPr lang="en-US" sz="1200"/>
                    </a:p>
                  </a:txBody>
                  <a:tcPr/>
                </a:tc>
                <a:tc>
                  <a:txBody>
                    <a:bodyPr/>
                    <a:p>
                      <a:pPr algn="ctr">
                        <a:buNone/>
                      </a:pPr>
                      <a:r>
                        <a:rPr lang="en-US" sz="1200"/>
                        <a:t>Đặc điểm</a:t>
                      </a:r>
                      <a:endParaRPr lang="en-US" sz="1200"/>
                    </a:p>
                  </a:txBody>
                  <a:tcPr/>
                </a:tc>
              </a:tr>
              <a:tr h="382905">
                <a:tc>
                  <a:txBody>
                    <a:bodyPr/>
                    <a:p>
                      <a:pPr>
                        <a:buNone/>
                      </a:pPr>
                      <a:r>
                        <a:rPr lang="en-US" sz="1200"/>
                        <a:t>FAISS</a:t>
                      </a:r>
                      <a:endParaRPr lang="en-US" sz="1200"/>
                    </a:p>
                  </a:txBody>
                  <a:tcPr/>
                </a:tc>
                <a:tc>
                  <a:txBody>
                    <a:bodyPr/>
                    <a:p>
                      <a:pPr>
                        <a:buNone/>
                      </a:pPr>
                      <a:r>
                        <a:rPr lang="en-US" sz="1200"/>
                        <a:t>Vector Index</a:t>
                      </a:r>
                      <a:endParaRPr lang="en-US" sz="1200"/>
                    </a:p>
                  </a:txBody>
                  <a:tcPr/>
                </a:tc>
                <a:tc>
                  <a:txBody>
                    <a:bodyPr/>
                    <a:p>
                      <a:pPr>
                        <a:buNone/>
                      </a:pPr>
                      <a:r>
                        <a:rPr lang="en-US" sz="1200"/>
                        <a:t>Nhanh, chạy cục bộ, phù hợp với mô hình nhỏ</a:t>
                      </a:r>
                      <a:endParaRPr lang="en-US" sz="1200"/>
                    </a:p>
                  </a:txBody>
                  <a:tcPr/>
                </a:tc>
              </a:tr>
              <a:tr h="382270">
                <a:tc>
                  <a:txBody>
                    <a:bodyPr/>
                    <a:p>
                      <a:pPr>
                        <a:buNone/>
                      </a:pPr>
                      <a:r>
                        <a:rPr lang="en-US" sz="1200"/>
                        <a:t>ChromaDB</a:t>
                      </a:r>
                      <a:endParaRPr lang="en-US" sz="1200"/>
                    </a:p>
                  </a:txBody>
                  <a:tcPr/>
                </a:tc>
                <a:tc>
                  <a:txBody>
                    <a:bodyPr/>
                    <a:p>
                      <a:pPr>
                        <a:buNone/>
                      </a:pPr>
                      <a:r>
                        <a:rPr lang="en-US" sz="1200"/>
                        <a:t>Vector Database</a:t>
                      </a:r>
                      <a:endParaRPr lang="en-US" sz="1200"/>
                    </a:p>
                  </a:txBody>
                  <a:tcPr/>
                </a:tc>
                <a:tc>
                  <a:txBody>
                    <a:bodyPr/>
                    <a:p>
                      <a:pPr>
                        <a:buNone/>
                      </a:pPr>
                      <a:r>
                        <a:rPr lang="en-US" sz="1200"/>
                        <a:t>Nhẹ, dễ tích hợp với LangChain/LlamaIndex</a:t>
                      </a:r>
                      <a:endParaRPr lang="en-US" sz="1200"/>
                    </a:p>
                  </a:txBody>
                  <a:tcPr/>
                </a:tc>
              </a:tr>
              <a:tr h="457200">
                <a:tc>
                  <a:txBody>
                    <a:bodyPr/>
                    <a:p>
                      <a:pPr>
                        <a:buNone/>
                      </a:pPr>
                      <a:r>
                        <a:rPr lang="en-US" sz="1200"/>
                        <a:t>Milvus</a:t>
                      </a:r>
                      <a:endParaRPr lang="en-US" sz="1200"/>
                    </a:p>
                  </a:txBody>
                  <a:tcPr/>
                </a:tc>
                <a:tc>
                  <a:txBody>
                    <a:bodyPr/>
                    <a:p>
                      <a:pPr>
                        <a:buNone/>
                      </a:pPr>
                      <a:r>
                        <a:rPr lang="en-US" sz="1200"/>
                        <a:t>Distributed Vector DB</a:t>
                      </a:r>
                      <a:endParaRPr lang="en-US" sz="1200"/>
                    </a:p>
                  </a:txBody>
                  <a:tcPr/>
                </a:tc>
                <a:tc>
                  <a:txBody>
                    <a:bodyPr/>
                    <a:p>
                      <a:pPr>
                        <a:buNone/>
                      </a:pPr>
                      <a:r>
                        <a:rPr lang="en-US" sz="1200"/>
                        <a:t>Quy mô lớn, hỗ trợ hàng triệu đến hàng tỷ vector</a:t>
                      </a:r>
                      <a:endParaRPr lang="en-US" sz="1200"/>
                    </a:p>
                  </a:txBody>
                  <a:tcPr/>
                </a:tc>
              </a:tr>
              <a:tr h="382270">
                <a:tc>
                  <a:txBody>
                    <a:bodyPr/>
                    <a:p>
                      <a:pPr>
                        <a:buNone/>
                      </a:pPr>
                      <a:r>
                        <a:rPr lang="en-US" sz="1200"/>
                        <a:t>Qdrant</a:t>
                      </a:r>
                      <a:endParaRPr lang="en-US" sz="1200"/>
                    </a:p>
                  </a:txBody>
                  <a:tcPr/>
                </a:tc>
                <a:tc>
                  <a:txBody>
                    <a:bodyPr/>
                    <a:p>
                      <a:pPr>
                        <a:buNone/>
                      </a:pPr>
                      <a:r>
                        <a:rPr lang="en-US" sz="1200"/>
                        <a:t>Vector Database</a:t>
                      </a:r>
                      <a:endParaRPr lang="en-US" sz="1200"/>
                    </a:p>
                  </a:txBody>
                  <a:tcPr/>
                </a:tc>
                <a:tc>
                  <a:txBody>
                    <a:bodyPr/>
                    <a:p>
                      <a:pPr>
                        <a:buNone/>
                      </a:pPr>
                      <a:r>
                        <a:rPr lang="en-US" sz="1200"/>
                        <a:t>Hỗ trợ metadata filtering rất mạnh</a:t>
                      </a:r>
                      <a:endParaRPr lang="en-US" sz="1200"/>
                    </a:p>
                  </a:txBody>
                  <a:tcPr/>
                </a:tc>
              </a:tr>
              <a:tr h="382905">
                <a:tc>
                  <a:txBody>
                    <a:bodyPr/>
                    <a:p>
                      <a:pPr>
                        <a:buNone/>
                      </a:pPr>
                      <a:r>
                        <a:rPr lang="en-US" sz="1200"/>
                        <a:t>Pinecone</a:t>
                      </a:r>
                      <a:endParaRPr lang="en-US" sz="1200"/>
                    </a:p>
                  </a:txBody>
                  <a:tcPr/>
                </a:tc>
                <a:tc>
                  <a:txBody>
                    <a:bodyPr/>
                    <a:p>
                      <a:pPr>
                        <a:buNone/>
                      </a:pPr>
                      <a:r>
                        <a:rPr lang="en-US" sz="1200"/>
                        <a:t>Cloud Vector DB</a:t>
                      </a:r>
                      <a:endParaRPr lang="en-US" sz="1200"/>
                    </a:p>
                  </a:txBody>
                  <a:tcPr/>
                </a:tc>
                <a:tc>
                  <a:txBody>
                    <a:bodyPr/>
                    <a:p>
                      <a:pPr>
                        <a:buNone/>
                      </a:pPr>
                      <a:r>
                        <a:rPr lang="en-US" sz="1200"/>
                        <a:t>Dịch vụ quản lý hoàn toàn trên cloud</a:t>
                      </a:r>
                      <a:endParaRPr lang="en-US" sz="1200"/>
                    </a:p>
                  </a:txBody>
                  <a:tcPr/>
                </a:tc>
              </a:tr>
              <a:tr h="382270">
                <a:tc>
                  <a:txBody>
                    <a:bodyPr/>
                    <a:p>
                      <a:pPr>
                        <a:buNone/>
                      </a:pPr>
                      <a:r>
                        <a:rPr lang="en-US" sz="1200"/>
                        <a:t>Weaviate</a:t>
                      </a:r>
                      <a:endParaRPr lang="en-US" sz="1200"/>
                    </a:p>
                  </a:txBody>
                  <a:tcPr/>
                </a:tc>
                <a:tc>
                  <a:txBody>
                    <a:bodyPr/>
                    <a:p>
                      <a:pPr>
                        <a:buNone/>
                      </a:pPr>
                      <a:r>
                        <a:rPr lang="en-US" sz="1200"/>
                        <a:t>Vector Database</a:t>
                      </a:r>
                      <a:endParaRPr lang="en-US" sz="1200"/>
                    </a:p>
                  </a:txBody>
                  <a:tcPr/>
                </a:tc>
                <a:tc>
                  <a:txBody>
                    <a:bodyPr/>
                    <a:p>
                      <a:pPr>
                        <a:buNone/>
                      </a:pPr>
                      <a:r>
                        <a:rPr lang="en-US" sz="1200"/>
                        <a:t>Hỗ trợ GraphQL và tìm kiếm kết hợp (Hybrid Search)</a:t>
                      </a:r>
                      <a:endParaRPr lang="en-US" sz="1200"/>
                    </a:p>
                  </a:txBody>
                  <a:tcPr/>
                </a:tc>
              </a:tr>
            </a:tbl>
          </a:graphicData>
        </a:graphic>
      </p:graphicFrame>
      <p:sp>
        <p:nvSpPr>
          <p:cNvPr id="5" name="Google Shape;162;p19"/>
          <p:cNvSpPr txBox="1"/>
          <p:nvPr/>
        </p:nvSpPr>
        <p:spPr>
          <a:xfrm>
            <a:off x="581025" y="3427730"/>
            <a:ext cx="3709035" cy="3587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Các Vector Database phổ biến</a:t>
            </a:r>
            <a:endPar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
        <p:nvSpPr>
          <p:cNvPr id="7" name="Text Box 6"/>
          <p:cNvSpPr txBox="1"/>
          <p:nvPr/>
        </p:nvSpPr>
        <p:spPr>
          <a:xfrm>
            <a:off x="7614920" y="3786505"/>
            <a:ext cx="4257040" cy="2030095"/>
          </a:xfrm>
          <a:prstGeom prst="rect">
            <a:avLst/>
          </a:prstGeom>
          <a:noFill/>
        </p:spPr>
        <p:txBody>
          <a:bodyPr wrap="square" rtlCol="0">
            <a:spAutoFit/>
          </a:bodyPr>
          <a:p>
            <a:pPr algn="just"/>
            <a:r>
              <a:rPr lang="en-US">
                <a:latin typeface="Arial" panose="020B0604020202020204" pitchFamily="34" charset="0"/>
                <a:cs typeface="Arial" panose="020B0604020202020204" pitchFamily="34" charset="0"/>
              </a:rPr>
              <a:t>→ </a:t>
            </a:r>
            <a:r>
              <a:rPr lang="en-US"/>
              <a:t>Trong dự án hệ thống sử dụng FAISS làm Vector Store để lưu trữ và lập chỉ mục (indexing) các vector embedding của tài liệu. Mặc dù FAISS về bản chất là một thư viện xây dựng chỉ mục vector, khi kết hợp với bộ lưu file nội bộ, nó đảm nhiệm vai trò của một Vector Database trong hệ thống RAG, cho phép lưu trữ Embedding, ánh xạ tới tài liệu gốc và thực hiện truy xuất ngữ nghĩa (Semantic Retrieval) hiệu quả.</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304800" y="190500"/>
            <a:ext cx="11972290" cy="492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4. Khối lưu trữ dữ liệu mã hóa số - Vector Database (ứng dụng) </a:t>
            </a:r>
            <a:endPar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5" name="Picture 4"/>
          <p:cNvPicPr>
            <a:picLocks noChangeAspect="1"/>
          </p:cNvPicPr>
          <p:nvPr/>
        </p:nvPicPr>
        <p:blipFill>
          <a:blip r:embed="rId2"/>
          <a:stretch>
            <a:fillRect/>
          </a:stretch>
        </p:blipFill>
        <p:spPr>
          <a:xfrm>
            <a:off x="706755" y="1299210"/>
            <a:ext cx="8611235" cy="2141855"/>
          </a:xfrm>
          <a:prstGeom prst="rect">
            <a:avLst/>
          </a:prstGeom>
          <a:ln w="19050">
            <a:solidFill>
              <a:schemeClr val="accent4">
                <a:lumMod val="75000"/>
              </a:schemeClr>
            </a:solidFill>
          </a:ln>
        </p:spPr>
      </p:pic>
      <p:pic>
        <p:nvPicPr>
          <p:cNvPr id="6" name="Picture 5"/>
          <p:cNvPicPr>
            <a:picLocks noChangeAspect="1"/>
          </p:cNvPicPr>
          <p:nvPr/>
        </p:nvPicPr>
        <p:blipFill>
          <a:blip r:embed="rId3"/>
          <a:stretch>
            <a:fillRect/>
          </a:stretch>
        </p:blipFill>
        <p:spPr>
          <a:xfrm>
            <a:off x="706755" y="3973195"/>
            <a:ext cx="8611870" cy="2201545"/>
          </a:xfrm>
          <a:prstGeom prst="rect">
            <a:avLst/>
          </a:prstGeom>
          <a:ln w="19050">
            <a:solidFill>
              <a:schemeClr val="accent4">
                <a:lumMod val="75000"/>
              </a:schemeClr>
            </a:solidFill>
          </a:ln>
        </p:spPr>
      </p:pic>
      <p:sp>
        <p:nvSpPr>
          <p:cNvPr id="7" name="Google Shape;162;p19"/>
          <p:cNvSpPr txBox="1"/>
          <p:nvPr/>
        </p:nvSpPr>
        <p:spPr>
          <a:xfrm>
            <a:off x="304800" y="917575"/>
            <a:ext cx="5155565" cy="3587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Qúa trình xử lý dữ liệu và lưu vào Vector Database</a:t>
            </a:r>
            <a:endPar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
        <p:nvSpPr>
          <p:cNvPr id="8" name="Google Shape;162;p19"/>
          <p:cNvSpPr txBox="1"/>
          <p:nvPr/>
        </p:nvSpPr>
        <p:spPr>
          <a:xfrm>
            <a:off x="304800" y="3562985"/>
            <a:ext cx="5155565" cy="3587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Qúa trình xử lý dữ liệu và lưu vào Vector Database</a:t>
            </a:r>
            <a:endPar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
        <p:nvSpPr>
          <p:cNvPr id="9" name="Text Box 8"/>
          <p:cNvSpPr txBox="1"/>
          <p:nvPr/>
        </p:nvSpPr>
        <p:spPr>
          <a:xfrm>
            <a:off x="9516745" y="1299210"/>
            <a:ext cx="2298700" cy="2164715"/>
          </a:xfrm>
          <a:prstGeom prst="rect">
            <a:avLst/>
          </a:prstGeom>
          <a:noFill/>
        </p:spPr>
        <p:txBody>
          <a:bodyPr wrap="square" rtlCol="0">
            <a:noAutofit/>
          </a:bodyPr>
          <a:p>
            <a:pPr algn="just"/>
            <a:r>
              <a:rPr lang="en-US"/>
              <a:t>Trong quá trình lưu dữ liệu, FAISS sẽ giúp lưu trữ các vector đã mã hóa kèm cấu trúc chỉ mục (file index.faiss), ngoài ra còn lưu thông tin các tài liệu, metadata và cầu nối giữa các vector và tài liệu (file index.pkl)</a:t>
            </a:r>
            <a:endParaRPr lang="en-US"/>
          </a:p>
        </p:txBody>
      </p:sp>
      <p:sp>
        <p:nvSpPr>
          <p:cNvPr id="10" name="Text Box 9"/>
          <p:cNvSpPr txBox="1"/>
          <p:nvPr/>
        </p:nvSpPr>
        <p:spPr>
          <a:xfrm>
            <a:off x="9516745" y="3933190"/>
            <a:ext cx="2363470" cy="2164715"/>
          </a:xfrm>
          <a:prstGeom prst="rect">
            <a:avLst/>
          </a:prstGeom>
          <a:noFill/>
        </p:spPr>
        <p:txBody>
          <a:bodyPr wrap="square" rtlCol="0">
            <a:noAutofit/>
          </a:bodyPr>
          <a:p>
            <a:pPr algn="just"/>
            <a:r>
              <a:rPr lang="en-US"/>
              <a:t>Trong quá trình hỏi đáp trực tiếp, sau khi có vector mã hóa của câu hỏi, FAISS sẽ tính toán các vector gần nhau để đưa ra nhưng Vector có độ tương đồng cao nhất để làm ngữ cảnh cho câu hỏi và gửi đến LLM</a:t>
            </a:r>
            <a:endParaRPr lang="en-US"/>
          </a:p>
        </p:txBody>
      </p:sp>
      <p:sp>
        <p:nvSpPr>
          <p:cNvPr id="11" name="Text Box 10"/>
          <p:cNvSpPr txBox="1"/>
          <p:nvPr/>
        </p:nvSpPr>
        <p:spPr>
          <a:xfrm>
            <a:off x="659130" y="6249035"/>
            <a:ext cx="10786745" cy="306705"/>
          </a:xfrm>
          <a:prstGeom prst="rect">
            <a:avLst/>
          </a:prstGeom>
          <a:noFill/>
        </p:spPr>
        <p:txBody>
          <a:bodyPr wrap="square" rtlCol="0">
            <a:spAutoFit/>
          </a:bodyPr>
          <a:p>
            <a:r>
              <a:rPr lang="en-US" b="1" i="1"/>
              <a:t>Ghi chú</a:t>
            </a:r>
            <a:r>
              <a:rPr lang="en-US"/>
              <a:t>: Consine Similarity là tính toán đo góc giữa hai vector. Góc càng nhỏ thì độ tương đồng ngữ nghĩa càng cao</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304800" y="190500"/>
            <a:ext cx="11972290" cy="492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4. Tính toán độ tương đồng (cơ sở lý thuyết) </a:t>
            </a:r>
            <a:endPar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Text Box 2"/>
          <p:cNvSpPr txBox="1"/>
          <p:nvPr/>
        </p:nvSpPr>
        <p:spPr>
          <a:xfrm>
            <a:off x="521335" y="917575"/>
            <a:ext cx="11294110" cy="2164715"/>
          </a:xfrm>
          <a:prstGeom prst="rect">
            <a:avLst/>
          </a:prstGeom>
          <a:noFill/>
        </p:spPr>
        <p:txBody>
          <a:bodyPr wrap="square" rtlCol="0">
            <a:noAutofit/>
          </a:bodyPr>
          <a:p>
            <a:pPr algn="just"/>
            <a:r>
              <a:rPr lang="en-US"/>
              <a:t>Mục tiêu tính toán độ tương đồng về ngữ nghĩa giữa các vector sau khi mã hóa của câu hỏi và tài liệu có sẵn. Trong phạm vi của khai phá dữ liệu, có một số phương pháp tính toán được đề xuất như công thức Euclidean Distance, Cosine similarity hay Correlation, tùy vào nhu cầu sẽ lựa chọn phù hợp</a:t>
            </a:r>
            <a:endParaRPr lang="en-US"/>
          </a:p>
        </p:txBody>
      </p:sp>
      <mc:AlternateContent xmlns:mc="http://schemas.openxmlformats.org/markup-compatibility/2006" xmlns:a14="http://schemas.microsoft.com/office/drawing/2010/main">
        <mc:Choice Requires="a14">
          <p:graphicFrame>
            <p:nvGraphicFramePr>
              <p:cNvPr id="2" name="Table 1"/>
              <p:cNvGraphicFramePr/>
              <p:nvPr>
                <p:custDataLst>
                  <p:tags r:id="rId2"/>
                </p:custDataLst>
              </p:nvPr>
            </p:nvGraphicFramePr>
            <p:xfrm>
              <a:off x="936625" y="1725930"/>
              <a:ext cx="10423525" cy="3874770"/>
            </p:xfrm>
            <a:graphic>
              <a:graphicData uri="http://schemas.openxmlformats.org/drawingml/2006/table">
                <a:tbl>
                  <a:tblPr firstRow="1" bandRow="1">
                    <a:tableStyleId>{5C22544A-7EE6-4342-B048-85BDC9FD1C3A}</a:tableStyleId>
                  </a:tblPr>
                  <a:tblGrid>
                    <a:gridCol w="1529080"/>
                    <a:gridCol w="2446655"/>
                    <a:gridCol w="3246120"/>
                    <a:gridCol w="3201670"/>
                  </a:tblGrid>
                  <a:tr h="322580">
                    <a:tc>
                      <a:txBody>
                        <a:bodyPr/>
                        <a:p>
                          <a:pPr algn="ctr">
                            <a:buNone/>
                          </a:pPr>
                          <a:r>
                            <a:rPr lang="en-US"/>
                            <a:t>Tiêu chí</a:t>
                          </a:r>
                          <a:endParaRPr lang="en-US"/>
                        </a:p>
                      </a:txBody>
                      <a:tcPr/>
                    </a:tc>
                    <a:tc>
                      <a:txBody>
                        <a:bodyPr/>
                        <a:p>
                          <a:pPr algn="ctr">
                            <a:buNone/>
                          </a:pPr>
                          <a:r>
                            <a:rPr lang="en-US"/>
                            <a:t>Euclidean Distance</a:t>
                          </a:r>
                          <a:endParaRPr lang="en-US"/>
                        </a:p>
                      </a:txBody>
                      <a:tcPr/>
                    </a:tc>
                    <a:tc>
                      <a:txBody>
                        <a:bodyPr/>
                        <a:p>
                          <a:pPr algn="ctr">
                            <a:buNone/>
                          </a:pPr>
                          <a:r>
                            <a:rPr lang="en-US"/>
                            <a:t>Cosine similarity</a:t>
                          </a:r>
                          <a:endParaRPr lang="en-US"/>
                        </a:p>
                      </a:txBody>
                      <a:tcPr/>
                    </a:tc>
                    <a:tc>
                      <a:txBody>
                        <a:bodyPr/>
                        <a:p>
                          <a:pPr algn="ctr">
                            <a:buNone/>
                          </a:pPr>
                          <a:r>
                            <a:rPr lang="en-US"/>
                            <a:t>Correlation</a:t>
                          </a:r>
                          <a:endParaRPr lang="en-US"/>
                        </a:p>
                      </a:txBody>
                      <a:tcPr/>
                    </a:tc>
                  </a:tr>
                  <a:tr h="901065">
                    <a:tc rowSpan="2">
                      <a:txBody>
                        <a:bodyPr/>
                        <a:p>
                          <a:pPr>
                            <a:buNone/>
                          </a:pPr>
                          <a:r>
                            <a:rPr lang="en-US" sz="1200">
                              <a:sym typeface="+mn-ea"/>
                            </a:rPr>
                            <a:t>Công thức</a:t>
                          </a:r>
                          <a:endParaRPr lang="en-US" sz="1200">
                            <a:sym typeface="+mn-ea"/>
                          </a:endParaRPr>
                        </a:p>
                      </a:txBody>
                      <a:tcPr/>
                    </a:tc>
                    <a:tc>
                      <a:txBody>
                        <a:bodyPr/>
                        <a:p>
                          <a:pPr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charset="0"/>
                                    <a:cs typeface="Cambria Math" panose="02040503050406030204" charset="0"/>
                                  </a:rPr>
                                  <m:t>𝑑</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𝐴</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𝐵</m:t>
                                </m:r>
                                <m:r>
                                  <a:rPr lang="en-US" i="1">
                                    <a:latin typeface="Cambria Math" panose="02040503050406030204" charset="0"/>
                                    <a:cs typeface="Cambria Math" panose="02040503050406030204" charset="0"/>
                                  </a:rPr>
                                  <m:t>) = </m:t>
                                </m:r>
                                <m:rad>
                                  <m:radPr>
                                    <m:degHide m:val="on"/>
                                    <m:ctrlPr>
                                      <a:rPr lang="en-US" i="1">
                                        <a:latin typeface="Cambria Math" panose="02040503050406030204" charset="0"/>
                                        <a:cs typeface="Cambria Math" panose="02040503050406030204" charset="0"/>
                                      </a:rPr>
                                    </m:ctrlPr>
                                  </m:radPr>
                                  <m:deg/>
                                  <m:e>
                                    <m:nary>
                                      <m:naryPr>
                                        <m:chr m:val="∑"/>
                                        <m:limLoc m:val="undOvr"/>
                                        <m:ctrlPr>
                                          <a:rPr lang="en-US" i="1">
                                            <a:latin typeface="Cambria Math" panose="02040503050406030204" charset="0"/>
                                            <a:cs typeface="Cambria Math" panose="02040503050406030204" charset="0"/>
                                          </a:rPr>
                                        </m:ctrlPr>
                                      </m:naryPr>
                                      <m:sub>
                                        <m:r>
                                          <a:rPr lang="en-US" i="1">
                                            <a:latin typeface="Cambria Math" panose="02040503050406030204" charset="0"/>
                                            <a:cs typeface="Cambria Math" panose="02040503050406030204" charset="0"/>
                                          </a:rPr>
                                          <m:t>𝑖</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1</m:t>
                                        </m:r>
                                      </m:sub>
                                      <m:sup>
                                        <m:r>
                                          <a:rPr lang="en-US" i="1">
                                            <a:latin typeface="Cambria Math" panose="02040503050406030204" charset="0"/>
                                            <a:cs typeface="Cambria Math" panose="02040503050406030204" charset="0"/>
                                          </a:rPr>
                                          <m:t>𝑛</m:t>
                                        </m:r>
                                      </m:sup>
                                      <m:e>
                                        <m:sSup>
                                          <m:sSupPr>
                                            <m:ctrlPr>
                                              <a:rPr lang="en-US" i="1">
                                                <a:latin typeface="Cambria Math" panose="02040503050406030204" charset="0"/>
                                                <a:cs typeface="Cambria Math" panose="02040503050406030204" charset="0"/>
                                              </a:rPr>
                                            </m:ctrlPr>
                                          </m:sSupPr>
                                          <m:e>
                                            <m:r>
                                              <a:rPr lang="en-US" i="1">
                                                <a:latin typeface="Cambria Math" panose="02040503050406030204" charset="0"/>
                                                <a:cs typeface="Cambria Math" panose="02040503050406030204" charset="0"/>
                                              </a:rPr>
                                              <m:t>(</m:t>
                                            </m:r>
                                            <m:sSub>
                                              <m:sSubPr>
                                                <m:ctrlPr>
                                                  <a:rPr lang="en-US" i="1">
                                                    <a:latin typeface="Cambria Math" panose="02040503050406030204" charset="0"/>
                                                    <a:cs typeface="Cambria Math" panose="02040503050406030204" charset="0"/>
                                                  </a:rPr>
                                                </m:ctrlPr>
                                              </m:sSubPr>
                                              <m:e>
                                                <m:r>
                                                  <a:rPr lang="en-US" i="1">
                                                    <a:latin typeface="Cambria Math" panose="02040503050406030204" charset="0"/>
                                                    <a:cs typeface="Cambria Math" panose="02040503050406030204" charset="0"/>
                                                  </a:rPr>
                                                  <m:t>𝐴</m:t>
                                                </m:r>
                                              </m:e>
                                              <m:sub>
                                                <m:r>
                                                  <a:rPr lang="en-US" i="1">
                                                    <a:latin typeface="Cambria Math" panose="02040503050406030204" charset="0"/>
                                                    <a:cs typeface="Cambria Math" panose="02040503050406030204" charset="0"/>
                                                  </a:rPr>
                                                  <m:t>𝑖</m:t>
                                                </m:r>
                                              </m:sub>
                                            </m:sSub>
                                            <m:r>
                                              <a:rPr lang="en-US" i="1">
                                                <a:latin typeface="Cambria Math" panose="02040503050406030204" charset="0"/>
                                                <a:cs typeface="Cambria Math" panose="02040503050406030204" charset="0"/>
                                              </a:rPr>
                                              <m:t>−</m:t>
                                            </m:r>
                                            <m:sSub>
                                              <m:sSubPr>
                                                <m:ctrlPr>
                                                  <a:rPr lang="en-US" i="1">
                                                    <a:latin typeface="Cambria Math" panose="02040503050406030204" charset="0"/>
                                                    <a:cs typeface="Cambria Math" panose="02040503050406030204" charset="0"/>
                                                  </a:rPr>
                                                </m:ctrlPr>
                                              </m:sSubPr>
                                              <m:e>
                                                <m:r>
                                                  <a:rPr lang="en-US" i="1">
                                                    <a:latin typeface="Cambria Math" panose="02040503050406030204" charset="0"/>
                                                    <a:cs typeface="Cambria Math" panose="02040503050406030204" charset="0"/>
                                                  </a:rPr>
                                                  <m:t>𝐵</m:t>
                                                </m:r>
                                              </m:e>
                                              <m:sub>
                                                <m:r>
                                                  <a:rPr lang="en-US" i="1">
                                                    <a:latin typeface="Cambria Math" panose="02040503050406030204" charset="0"/>
                                                    <a:cs typeface="Cambria Math" panose="02040503050406030204" charset="0"/>
                                                  </a:rPr>
                                                  <m:t>𝑖</m:t>
                                                </m:r>
                                              </m:sub>
                                            </m:sSub>
                                            <m:r>
                                              <a:rPr lang="en-US" i="1">
                                                <a:latin typeface="Cambria Math" panose="02040503050406030204" charset="0"/>
                                                <a:cs typeface="Cambria Math" panose="02040503050406030204" charset="0"/>
                                              </a:rPr>
                                              <m:t>)</m:t>
                                            </m:r>
                                          </m:e>
                                          <m:sup>
                                            <m:r>
                                              <a:rPr lang="en-US" i="1">
                                                <a:latin typeface="Cambria Math" panose="02040503050406030204" charset="0"/>
                                                <a:cs typeface="Cambria Math" panose="02040503050406030204" charset="0"/>
                                              </a:rPr>
                                              <m:t>2</m:t>
                                            </m:r>
                                          </m:sup>
                                        </m:sSup>
                                      </m:e>
                                    </m:nary>
                                  </m:e>
                                </m:rad>
                              </m:oMath>
                            </m:oMathPara>
                          </a14:m>
                          <a:endParaRPr lang="en-US" i="1">
                            <a:latin typeface="Cambria Math" panose="02040503050406030204" charset="0"/>
                            <a:cs typeface="Cambria Math" panose="02040503050406030204" charset="0"/>
                          </a:endParaRPr>
                        </a:p>
                        <a:p>
                          <a:pPr marL="0" indent="0" algn="ctr">
                            <a:buFont typeface="Arial" panose="020B0604020202020204" pitchFamily="34" charset="0"/>
                            <a:buNone/>
                          </a:pPr>
                          <a:endParaRPr lang="en-US" sz="1200">
                            <a:sym typeface="+mn-ea"/>
                          </a:endParaRPr>
                        </a:p>
                      </a:txBody>
                      <a:tcPr/>
                    </a:tc>
                    <a:tc>
                      <a:txBody>
                        <a:bodyPr/>
                        <a:p>
                          <a:pPr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charset="0"/>
                                    <a:cs typeface="Cambria Math" panose="02040503050406030204" charset="0"/>
                                  </a:rPr>
                                  <m:t>𝐶𝑜𝑠𝑖𝑛𝑒</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𝑆𝑖𝑚𝑖𝑙𝑎𝑟𝑖𝑡𝑦</m:t>
                                </m:r>
                                <m:r>
                                  <a:rPr lang="en-US" i="1">
                                    <a:latin typeface="Cambria Math" panose="02040503050406030204" charset="0"/>
                                    <a:cs typeface="Cambria Math" panose="02040503050406030204" charset="0"/>
                                  </a:rPr>
                                  <m:t> (</m:t>
                                </m:r>
                                <m:r>
                                  <a:rPr lang="en-US" i="1">
                                    <a:latin typeface="Cambria Math" panose="02040503050406030204" charset="0"/>
                                    <a:cs typeface="Cambria Math" panose="02040503050406030204" charset="0"/>
                                  </a:rPr>
                                  <m:t>𝐴</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𝐵</m:t>
                                </m:r>
                                <m:r>
                                  <a:rPr lang="en-US" i="1">
                                    <a:latin typeface="Cambria Math" panose="02040503050406030204" charset="0"/>
                                    <a:cs typeface="Cambria Math" panose="02040503050406030204" charset="0"/>
                                  </a:rPr>
                                  <m:t>) = </m:t>
                                </m:r>
                                <m:f>
                                  <m:fPr>
                                    <m:ctrlPr>
                                      <a:rPr lang="en-US" i="1">
                                        <a:latin typeface="Cambria Math" panose="02040503050406030204" charset="0"/>
                                        <a:cs typeface="Cambria Math" panose="02040503050406030204" charset="0"/>
                                      </a:rPr>
                                    </m:ctrlPr>
                                  </m:fPr>
                                  <m:num>
                                    <m:r>
                                      <a:rPr lang="en-US" i="1">
                                        <a:latin typeface="Cambria Math" panose="02040503050406030204" charset="0"/>
                                        <a:cs typeface="Cambria Math" panose="02040503050406030204" charset="0"/>
                                      </a:rPr>
                                      <m:t>𝐴</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𝐵</m:t>
                                    </m:r>
                                  </m:num>
                                  <m:den>
                                    <m:d>
                                      <m:dPr>
                                        <m:begChr m:val="‖"/>
                                        <m:endChr m:val="‖"/>
                                        <m:ctrlPr>
                                          <a:rPr lang="en-US" i="1">
                                            <a:latin typeface="Cambria Math" panose="02040503050406030204" charset="0"/>
                                            <a:cs typeface="Cambria Math" panose="02040503050406030204" charset="0"/>
                                          </a:rPr>
                                        </m:ctrlPr>
                                      </m:dPr>
                                      <m:e>
                                        <m:r>
                                          <a:rPr lang="en-US" i="1">
                                            <a:latin typeface="Cambria Math" panose="02040503050406030204" charset="0"/>
                                            <a:cs typeface="Cambria Math" panose="02040503050406030204" charset="0"/>
                                          </a:rPr>
                                          <m:t>𝐴</m:t>
                                        </m:r>
                                      </m:e>
                                    </m:d>
                                    <m:d>
                                      <m:dPr>
                                        <m:begChr m:val="‖"/>
                                        <m:endChr m:val="‖"/>
                                        <m:ctrlPr>
                                          <a:rPr lang="en-US" i="1">
                                            <a:latin typeface="Cambria Math" panose="02040503050406030204" charset="0"/>
                                            <a:cs typeface="Cambria Math" panose="02040503050406030204" charset="0"/>
                                          </a:rPr>
                                        </m:ctrlPr>
                                      </m:dPr>
                                      <m:e>
                                        <m:r>
                                          <a:rPr lang="en-US" i="1">
                                            <a:latin typeface="Cambria Math" panose="02040503050406030204" charset="0"/>
                                            <a:cs typeface="Cambria Math" panose="02040503050406030204" charset="0"/>
                                          </a:rPr>
                                          <m:t>𝐵</m:t>
                                        </m:r>
                                      </m:e>
                                    </m:d>
                                  </m:den>
                                </m:f>
                              </m:oMath>
                            </m:oMathPara>
                          </a14:m>
                          <a:endParaRPr lang="en-US" sz="1200"/>
                        </a:p>
                      </a:txBody>
                      <a:tcPr/>
                    </a:tc>
                    <a:tc>
                      <a:txBody>
                        <a:bodyPr/>
                        <a:p>
                          <a:pPr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charset="0"/>
                                    <a:cs typeface="Cambria Math" panose="02040503050406030204" charset="0"/>
                                  </a:rPr>
                                  <m:t>𝑟</m:t>
                                </m:r>
                                <m:r>
                                  <a:rPr lang="en-US" i="1">
                                    <a:latin typeface="Cambria Math" panose="02040503050406030204" charset="0"/>
                                    <a:cs typeface="Cambria Math" panose="02040503050406030204" charset="0"/>
                                  </a:rPr>
                                  <m:t>=</m:t>
                                </m:r>
                                <m:f>
                                  <m:fPr>
                                    <m:ctrlPr>
                                      <a:rPr lang="en-US" i="1">
                                        <a:latin typeface="Cambria Math" panose="02040503050406030204" charset="0"/>
                                        <a:cs typeface="Cambria Math" panose="02040503050406030204" charset="0"/>
                                      </a:rPr>
                                    </m:ctrlPr>
                                  </m:fPr>
                                  <m:num>
                                    <m:nary>
                                      <m:naryPr>
                                        <m:chr m:val="∑"/>
                                        <m:limLoc m:val="undOvr"/>
                                        <m:ctrlPr>
                                          <a:rPr lang="en-US" i="1">
                                            <a:latin typeface="Cambria Math" panose="02040503050406030204" charset="0"/>
                                            <a:cs typeface="Cambria Math" panose="02040503050406030204" charset="0"/>
                                          </a:rPr>
                                        </m:ctrlPr>
                                      </m:naryPr>
                                      <m:sub>
                                        <m:r>
                                          <a:rPr lang="en-US" i="1">
                                            <a:latin typeface="Cambria Math" panose="02040503050406030204" charset="0"/>
                                            <a:cs typeface="Cambria Math" panose="02040503050406030204" charset="0"/>
                                          </a:rPr>
                                          <m:t>𝑖</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1</m:t>
                                        </m:r>
                                      </m:sub>
                                      <m:sup>
                                        <m:r>
                                          <a:rPr lang="en-US" i="1">
                                            <a:latin typeface="Cambria Math" panose="02040503050406030204" charset="0"/>
                                            <a:cs typeface="Cambria Math" panose="02040503050406030204" charset="0"/>
                                          </a:rPr>
                                          <m:t>𝑛</m:t>
                                        </m:r>
                                      </m:sup>
                                      <m:e>
                                        <m:r>
                                          <a:rPr lang="en-US" i="1">
                                            <a:latin typeface="Cambria Math" panose="02040503050406030204" charset="0"/>
                                            <a:cs typeface="Cambria Math" panose="02040503050406030204" charset="0"/>
                                          </a:rPr>
                                          <m:t>(</m:t>
                                        </m:r>
                                        <m:sSub>
                                          <m:sSubPr>
                                            <m:ctrlPr>
                                              <a:rPr lang="en-US" sz="1400" i="1">
                                                <a:latin typeface="Cambria Math" panose="02040503050406030204" charset="0"/>
                                                <a:cs typeface="Cambria Math" panose="02040503050406030204" charset="0"/>
                                              </a:rPr>
                                            </m:ctrlPr>
                                          </m:sSubPr>
                                          <m:e>
                                            <m:r>
                                              <a:rPr lang="en-US" sz="1400" i="1">
                                                <a:latin typeface="Cambria Math" panose="02040503050406030204" charset="0"/>
                                                <a:cs typeface="Cambria Math" panose="02040503050406030204" charset="0"/>
                                              </a:rPr>
                                              <m:t>𝐴</m:t>
                                            </m:r>
                                          </m:e>
                                          <m:sub>
                                            <m:r>
                                              <a:rPr lang="en-US" sz="1400" i="1">
                                                <a:latin typeface="Cambria Math" panose="02040503050406030204" charset="0"/>
                                                <a:cs typeface="Cambria Math" panose="02040503050406030204" charset="0"/>
                                              </a:rPr>
                                              <m:t>𝑖</m:t>
                                            </m:r>
                                          </m:sub>
                                        </m:sSub>
                                        <m:r>
                                          <a:rPr lang="en-US" i="1">
                                            <a:latin typeface="Cambria Math" panose="02040503050406030204" charset="0"/>
                                            <a:cs typeface="Cambria Math" panose="02040503050406030204" charset="0"/>
                                          </a:rPr>
                                          <m:t>−</m:t>
                                        </m:r>
                                        <m:bar>
                                          <m:barPr>
                                            <m:pos m:val="top"/>
                                            <m:ctrlPr>
                                              <a:rPr lang="en-US" i="1">
                                                <a:latin typeface="Cambria Math" panose="02040503050406030204" charset="0"/>
                                                <a:cs typeface="Cambria Math" panose="02040503050406030204" charset="0"/>
                                              </a:rPr>
                                            </m:ctrlPr>
                                          </m:barPr>
                                          <m:e>
                                            <m:r>
                                              <a:rPr lang="en-US" i="1">
                                                <a:latin typeface="Cambria Math" panose="02040503050406030204" charset="0"/>
                                                <a:cs typeface="Cambria Math" panose="02040503050406030204" charset="0"/>
                                              </a:rPr>
                                              <m:t>𝐴</m:t>
                                            </m:r>
                                          </m:e>
                                        </m:bar>
                                        <m:r>
                                          <a:rPr lang="en-US" i="1">
                                            <a:latin typeface="Cambria Math" panose="02040503050406030204" charset="0"/>
                                            <a:cs typeface="Cambria Math" panose="02040503050406030204" charset="0"/>
                                          </a:rPr>
                                          <m:t>)(</m:t>
                                        </m:r>
                                        <m:sSub>
                                          <m:sSubPr>
                                            <m:ctrlPr>
                                              <a:rPr lang="en-US" sz="1400" i="1">
                                                <a:latin typeface="Cambria Math" panose="02040503050406030204" charset="0"/>
                                                <a:cs typeface="Cambria Math" panose="02040503050406030204" charset="0"/>
                                              </a:rPr>
                                            </m:ctrlPr>
                                          </m:sSubPr>
                                          <m:e>
                                            <m:r>
                                              <a:rPr lang="en-US" sz="1400" i="1">
                                                <a:latin typeface="Cambria Math" panose="02040503050406030204" charset="0"/>
                                                <a:cs typeface="Cambria Math" panose="02040503050406030204" charset="0"/>
                                              </a:rPr>
                                              <m:t>𝐵</m:t>
                                            </m:r>
                                          </m:e>
                                          <m:sub>
                                            <m:r>
                                              <a:rPr lang="en-US" sz="1400" i="1">
                                                <a:latin typeface="Cambria Math" panose="02040503050406030204" charset="0"/>
                                                <a:cs typeface="Cambria Math" panose="02040503050406030204" charset="0"/>
                                              </a:rPr>
                                              <m:t>𝑖</m:t>
                                            </m:r>
                                          </m:sub>
                                        </m:sSub>
                                        <m:r>
                                          <a:rPr lang="en-US" sz="1400" i="1">
                                            <a:latin typeface="Cambria Math" panose="02040503050406030204" charset="0"/>
                                            <a:cs typeface="Cambria Math" panose="02040503050406030204" charset="0"/>
                                          </a:rPr>
                                          <m:t>−</m:t>
                                        </m:r>
                                        <m:bar>
                                          <m:barPr>
                                            <m:pos m:val="top"/>
                                            <m:ctrlPr>
                                              <a:rPr lang="en-US" sz="1400" i="1">
                                                <a:latin typeface="Cambria Math" panose="02040503050406030204" charset="0"/>
                                                <a:cs typeface="Cambria Math" panose="02040503050406030204" charset="0"/>
                                              </a:rPr>
                                            </m:ctrlPr>
                                          </m:barPr>
                                          <m:e>
                                            <m:r>
                                              <a:rPr lang="en-US" sz="1400" i="1">
                                                <a:latin typeface="Cambria Math" panose="02040503050406030204" charset="0"/>
                                                <a:cs typeface="Cambria Math" panose="02040503050406030204" charset="0"/>
                                              </a:rPr>
                                              <m:t>𝐵</m:t>
                                            </m:r>
                                          </m:e>
                                        </m:bar>
                                        <m:r>
                                          <a:rPr lang="en-US" i="1">
                                            <a:latin typeface="Cambria Math" panose="02040503050406030204" charset="0"/>
                                            <a:cs typeface="Cambria Math" panose="02040503050406030204" charset="0"/>
                                          </a:rPr>
                                          <m:t>)</m:t>
                                        </m:r>
                                      </m:e>
                                    </m:nary>
                                  </m:num>
                                  <m:den>
                                    <m:rad>
                                      <m:radPr>
                                        <m:degHide m:val="on"/>
                                        <m:ctrlPr>
                                          <a:rPr lang="en-US" sz="1400" i="1">
                                            <a:latin typeface="Cambria Math" panose="02040503050406030204" charset="0"/>
                                            <a:cs typeface="Cambria Math" panose="02040503050406030204" charset="0"/>
                                          </a:rPr>
                                        </m:ctrlPr>
                                      </m:radPr>
                                      <m:deg/>
                                      <m:e>
                                        <m:nary>
                                          <m:naryPr>
                                            <m:chr m:val="∑"/>
                                            <m:limLoc m:val="undOvr"/>
                                            <m:ctrlPr>
                                              <a:rPr lang="en-US" sz="1400" i="1">
                                                <a:latin typeface="Cambria Math" panose="02040503050406030204" charset="0"/>
                                                <a:cs typeface="Cambria Math" panose="02040503050406030204" charset="0"/>
                                              </a:rPr>
                                            </m:ctrlPr>
                                          </m:naryPr>
                                          <m:sub>
                                            <m:r>
                                              <a:rPr lang="en-US" sz="1400" i="1">
                                                <a:latin typeface="Cambria Math" panose="02040503050406030204" charset="0"/>
                                                <a:cs typeface="Cambria Math" panose="02040503050406030204" charset="0"/>
                                              </a:rPr>
                                              <m:t>𝑖</m:t>
                                            </m:r>
                                            <m:r>
                                              <a:rPr lang="en-US" sz="1400" i="1">
                                                <a:latin typeface="Cambria Math" panose="02040503050406030204" charset="0"/>
                                                <a:cs typeface="Cambria Math" panose="02040503050406030204" charset="0"/>
                                              </a:rPr>
                                              <m:t>=</m:t>
                                            </m:r>
                                            <m:r>
                                              <a:rPr lang="en-US" sz="1400" i="1">
                                                <a:latin typeface="Cambria Math" panose="02040503050406030204" charset="0"/>
                                                <a:cs typeface="Cambria Math" panose="02040503050406030204" charset="0"/>
                                              </a:rPr>
                                              <m:t>1</m:t>
                                            </m:r>
                                          </m:sub>
                                          <m:sup>
                                            <m:r>
                                              <a:rPr lang="en-US" sz="1400" i="1">
                                                <a:latin typeface="Cambria Math" panose="02040503050406030204" charset="0"/>
                                                <a:cs typeface="Cambria Math" panose="02040503050406030204" charset="0"/>
                                              </a:rPr>
                                              <m:t>𝑛</m:t>
                                            </m:r>
                                          </m:sup>
                                          <m:e>
                                            <m:sSup>
                                              <m:sSupPr>
                                                <m:ctrlPr>
                                                  <a:rPr lang="en-US" sz="1400" i="1">
                                                    <a:latin typeface="Cambria Math" panose="02040503050406030204" charset="0"/>
                                                    <a:cs typeface="Cambria Math" panose="02040503050406030204" charset="0"/>
                                                  </a:rPr>
                                                </m:ctrlPr>
                                              </m:sSupPr>
                                              <m:e>
                                                <m:r>
                                                  <a:rPr lang="en-US" sz="1400" i="1">
                                                    <a:latin typeface="Cambria Math" panose="02040503050406030204" charset="0"/>
                                                    <a:cs typeface="Cambria Math" panose="02040503050406030204" charset="0"/>
                                                  </a:rPr>
                                                  <m:t>(</m:t>
                                                </m:r>
                                                <m:sSub>
                                                  <m:sSubPr>
                                                    <m:ctrlPr>
                                                      <a:rPr lang="en-US" sz="1400" i="1">
                                                        <a:latin typeface="Cambria Math" panose="02040503050406030204" charset="0"/>
                                                        <a:cs typeface="Cambria Math" panose="02040503050406030204" charset="0"/>
                                                      </a:rPr>
                                                    </m:ctrlPr>
                                                  </m:sSubPr>
                                                  <m:e>
                                                    <m:r>
                                                      <a:rPr lang="en-US" sz="1400" i="1">
                                                        <a:latin typeface="Cambria Math" panose="02040503050406030204" charset="0"/>
                                                        <a:cs typeface="Cambria Math" panose="02040503050406030204" charset="0"/>
                                                      </a:rPr>
                                                      <m:t>𝐴</m:t>
                                                    </m:r>
                                                  </m:e>
                                                  <m:sub>
                                                    <m:r>
                                                      <a:rPr lang="en-US" sz="1400" i="1">
                                                        <a:latin typeface="Cambria Math" panose="02040503050406030204" charset="0"/>
                                                        <a:cs typeface="Cambria Math" panose="02040503050406030204" charset="0"/>
                                                      </a:rPr>
                                                      <m:t>𝑖</m:t>
                                                    </m:r>
                                                  </m:sub>
                                                </m:sSub>
                                                <m:r>
                                                  <a:rPr lang="en-US" sz="1400" i="1">
                                                    <a:latin typeface="Cambria Math" panose="02040503050406030204" charset="0"/>
                                                    <a:cs typeface="Cambria Math" panose="02040503050406030204" charset="0"/>
                                                  </a:rPr>
                                                  <m:t>−</m:t>
                                                </m:r>
                                                <m:bar>
                                                  <m:barPr>
                                                    <m:pos m:val="top"/>
                                                    <m:ctrlPr>
                                                      <a:rPr lang="en-US" sz="1400" i="1">
                                                        <a:latin typeface="Cambria Math" panose="02040503050406030204" charset="0"/>
                                                        <a:cs typeface="Cambria Math" panose="02040503050406030204" charset="0"/>
                                                      </a:rPr>
                                                    </m:ctrlPr>
                                                  </m:barPr>
                                                  <m:e>
                                                    <m:r>
                                                      <a:rPr lang="en-US" sz="1400" i="1">
                                                        <a:latin typeface="Cambria Math" panose="02040503050406030204" charset="0"/>
                                                        <a:cs typeface="Cambria Math" panose="02040503050406030204" charset="0"/>
                                                      </a:rPr>
                                                      <m:t>𝐴</m:t>
                                                    </m:r>
                                                  </m:e>
                                                </m:bar>
                                                <m:r>
                                                  <a:rPr lang="en-US" sz="1400" i="1">
                                                    <a:latin typeface="Cambria Math" panose="02040503050406030204" charset="0"/>
                                                    <a:cs typeface="Cambria Math" panose="02040503050406030204" charset="0"/>
                                                  </a:rPr>
                                                  <m:t>)</m:t>
                                                </m:r>
                                              </m:e>
                                              <m:sup>
                                                <m:r>
                                                  <a:rPr lang="en-US" sz="1400" i="1">
                                                    <a:latin typeface="Cambria Math" panose="02040503050406030204" charset="0"/>
                                                    <a:cs typeface="Cambria Math" panose="02040503050406030204" charset="0"/>
                                                  </a:rPr>
                                                  <m:t>2</m:t>
                                                </m:r>
                                              </m:sup>
                                            </m:sSup>
                                          </m:e>
                                        </m:nary>
                                      </m:e>
                                    </m:rad>
                                    <m:rad>
                                      <m:radPr>
                                        <m:degHide m:val="on"/>
                                        <m:ctrlPr>
                                          <a:rPr lang="en-US" sz="1400" i="1">
                                            <a:latin typeface="Cambria Math" panose="02040503050406030204" charset="0"/>
                                            <a:cs typeface="Cambria Math" panose="02040503050406030204" charset="0"/>
                                          </a:rPr>
                                        </m:ctrlPr>
                                      </m:radPr>
                                      <m:deg/>
                                      <m:e>
                                        <m:nary>
                                          <m:naryPr>
                                            <m:chr m:val="∑"/>
                                            <m:limLoc m:val="undOvr"/>
                                            <m:ctrlPr>
                                              <a:rPr lang="en-US" sz="1400" i="1">
                                                <a:latin typeface="Cambria Math" panose="02040503050406030204" charset="0"/>
                                                <a:cs typeface="Cambria Math" panose="02040503050406030204" charset="0"/>
                                              </a:rPr>
                                            </m:ctrlPr>
                                          </m:naryPr>
                                          <m:sub>
                                            <m:r>
                                              <a:rPr lang="en-US" sz="1400" i="1">
                                                <a:latin typeface="Cambria Math" panose="02040503050406030204" charset="0"/>
                                                <a:cs typeface="Cambria Math" panose="02040503050406030204" charset="0"/>
                                              </a:rPr>
                                              <m:t>𝑖</m:t>
                                            </m:r>
                                            <m:r>
                                              <a:rPr lang="en-US" sz="1400" i="1">
                                                <a:latin typeface="Cambria Math" panose="02040503050406030204" charset="0"/>
                                                <a:cs typeface="Cambria Math" panose="02040503050406030204" charset="0"/>
                                              </a:rPr>
                                              <m:t>=</m:t>
                                            </m:r>
                                            <m:r>
                                              <a:rPr lang="en-US" sz="1400" i="1">
                                                <a:latin typeface="Cambria Math" panose="02040503050406030204" charset="0"/>
                                                <a:cs typeface="Cambria Math" panose="02040503050406030204" charset="0"/>
                                              </a:rPr>
                                              <m:t>1</m:t>
                                            </m:r>
                                          </m:sub>
                                          <m:sup>
                                            <m:r>
                                              <a:rPr lang="en-US" sz="1400" i="1">
                                                <a:latin typeface="Cambria Math" panose="02040503050406030204" charset="0"/>
                                                <a:cs typeface="Cambria Math" panose="02040503050406030204" charset="0"/>
                                              </a:rPr>
                                              <m:t>𝑛</m:t>
                                            </m:r>
                                          </m:sup>
                                          <m:e>
                                            <m:sSup>
                                              <m:sSupPr>
                                                <m:ctrlPr>
                                                  <a:rPr lang="en-US" sz="1400" i="1">
                                                    <a:latin typeface="Cambria Math" panose="02040503050406030204" charset="0"/>
                                                    <a:cs typeface="Cambria Math" panose="02040503050406030204" charset="0"/>
                                                  </a:rPr>
                                                </m:ctrlPr>
                                              </m:sSupPr>
                                              <m:e>
                                                <m:r>
                                                  <a:rPr lang="en-US" sz="1400" i="1">
                                                    <a:latin typeface="Cambria Math" panose="02040503050406030204" charset="0"/>
                                                    <a:cs typeface="Cambria Math" panose="02040503050406030204" charset="0"/>
                                                  </a:rPr>
                                                  <m:t>(</m:t>
                                                </m:r>
                                                <m:sSub>
                                                  <m:sSubPr>
                                                    <m:ctrlPr>
                                                      <a:rPr lang="en-US" sz="1400" i="1">
                                                        <a:latin typeface="Cambria Math" panose="02040503050406030204" charset="0"/>
                                                        <a:cs typeface="Cambria Math" panose="02040503050406030204" charset="0"/>
                                                      </a:rPr>
                                                    </m:ctrlPr>
                                                  </m:sSubPr>
                                                  <m:e>
                                                    <m:r>
                                                      <a:rPr lang="en-US" sz="1400" i="1">
                                                        <a:latin typeface="Cambria Math" panose="02040503050406030204" charset="0"/>
                                                        <a:cs typeface="Cambria Math" panose="02040503050406030204" charset="0"/>
                                                      </a:rPr>
                                                      <m:t>𝐵</m:t>
                                                    </m:r>
                                                  </m:e>
                                                  <m:sub>
                                                    <m:r>
                                                      <a:rPr lang="en-US" sz="1400" i="1">
                                                        <a:latin typeface="Cambria Math" panose="02040503050406030204" charset="0"/>
                                                        <a:cs typeface="Cambria Math" panose="02040503050406030204" charset="0"/>
                                                      </a:rPr>
                                                      <m:t>𝑖</m:t>
                                                    </m:r>
                                                  </m:sub>
                                                </m:sSub>
                                                <m:r>
                                                  <a:rPr lang="en-US" sz="1400" i="1">
                                                    <a:latin typeface="Cambria Math" panose="02040503050406030204" charset="0"/>
                                                    <a:cs typeface="Cambria Math" panose="02040503050406030204" charset="0"/>
                                                  </a:rPr>
                                                  <m:t>−</m:t>
                                                </m:r>
                                                <m:bar>
                                                  <m:barPr>
                                                    <m:pos m:val="top"/>
                                                    <m:ctrlPr>
                                                      <a:rPr lang="en-US" sz="1400" i="1">
                                                        <a:latin typeface="Cambria Math" panose="02040503050406030204" charset="0"/>
                                                        <a:cs typeface="Cambria Math" panose="02040503050406030204" charset="0"/>
                                                      </a:rPr>
                                                    </m:ctrlPr>
                                                  </m:barPr>
                                                  <m:e>
                                                    <m:r>
                                                      <a:rPr lang="en-US" sz="1400" i="1">
                                                        <a:latin typeface="Cambria Math" panose="02040503050406030204" charset="0"/>
                                                        <a:cs typeface="Cambria Math" panose="02040503050406030204" charset="0"/>
                                                      </a:rPr>
                                                      <m:t>𝐵</m:t>
                                                    </m:r>
                                                  </m:e>
                                                </m:bar>
                                                <m:r>
                                                  <a:rPr lang="en-US" sz="1400" i="1">
                                                    <a:latin typeface="Cambria Math" panose="02040503050406030204" charset="0"/>
                                                    <a:cs typeface="Cambria Math" panose="02040503050406030204" charset="0"/>
                                                  </a:rPr>
                                                  <m:t>)</m:t>
                                                </m:r>
                                              </m:e>
                                              <m:sup>
                                                <m:r>
                                                  <a:rPr lang="en-US" sz="1400" i="1">
                                                    <a:latin typeface="Cambria Math" panose="02040503050406030204" charset="0"/>
                                                    <a:cs typeface="Cambria Math" panose="02040503050406030204" charset="0"/>
                                                  </a:rPr>
                                                  <m:t>2</m:t>
                                                </m:r>
                                              </m:sup>
                                            </m:sSup>
                                          </m:e>
                                        </m:nary>
                                      </m:e>
                                    </m:rad>
                                  </m:den>
                                </m:f>
                              </m:oMath>
                            </m:oMathPara>
                          </a14:m>
                          <a:endParaRPr lang="en-US"/>
                        </a:p>
                      </a:txBody>
                      <a:tcPr/>
                    </a:tc>
                  </a:tr>
                  <a:tr h="1463040">
                    <a:tc vMerge="1">
                      <a:tcPr/>
                    </a:tc>
                    <a:tc>
                      <a:txBody>
                        <a:bodyPr/>
                        <a:p>
                          <a:pPr algn="l">
                            <a:buNone/>
                          </a:pPr>
                          <a:r>
                            <a:rPr lang="en-US" sz="1000">
                              <a:sym typeface="+mn-ea"/>
                            </a:rPr>
                            <a:t>Trong đó:</a:t>
                          </a:r>
                          <a:endParaRPr lang="en-US" sz="1000"/>
                        </a:p>
                        <a:p>
                          <a:pPr marL="285750" indent="-285750" algn="l">
                            <a:buFont typeface="Arial" panose="020B0604020202020204" pitchFamily="34" charset="0"/>
                            <a:buChar char="•"/>
                          </a:pPr>
                          <a:r>
                            <a:rPr lang="en-US" sz="1000">
                              <a:sym typeface="+mn-ea"/>
                            </a:rPr>
                            <a:t>A : vector emdedding câu hỏi</a:t>
                          </a:r>
                          <a:endParaRPr lang="en-US" sz="1000"/>
                        </a:p>
                        <a:p>
                          <a:pPr marL="285750" indent="-285750" algn="l">
                            <a:buFont typeface="Arial" panose="020B0604020202020204" pitchFamily="34" charset="0"/>
                            <a:buChar char="•"/>
                          </a:pPr>
                          <a:r>
                            <a:rPr lang="en-US" sz="1000">
                              <a:sym typeface="+mn-ea"/>
                            </a:rPr>
                            <a:t>B : vector embedding tài liệu</a:t>
                          </a:r>
                          <a:endParaRPr lang="en-US" sz="1000">
                            <a:sym typeface="+mn-ea"/>
                          </a:endParaRPr>
                        </a:p>
                        <a:p>
                          <a:pPr marL="285750" indent="-285750" algn="l">
                            <a:buFont typeface="Arial" panose="020B0604020202020204" pitchFamily="34" charset="0"/>
                            <a:buChar char="•"/>
                          </a:pPr>
                          <a:r>
                            <a:rPr lang="en-US" sz="1000">
                              <a:sym typeface="+mn-ea"/>
                            </a:rPr>
                            <a:t>i : số chiều của vector</a:t>
                          </a:r>
                          <a:endParaRPr lang="en-US" sz="1000">
                            <a:sym typeface="+mn-ea"/>
                          </a:endParaRPr>
                        </a:p>
                        <a:p>
                          <a:pPr algn="l">
                            <a:buNone/>
                          </a:pPr>
                          <a:r>
                            <a:rPr lang="en-US" sz="1000">
                              <a:sym typeface="+mn-ea"/>
                            </a:rPr>
                            <a:t>Giá trị:</a:t>
                          </a:r>
                          <a:endParaRPr lang="en-US" sz="1000"/>
                        </a:p>
                        <a:p>
                          <a:pPr marL="171450" indent="-171450">
                            <a:buFont typeface="Arial" panose="020B0604020202020204" pitchFamily="34" charset="0"/>
                            <a:buChar char="•"/>
                          </a:pPr>
                          <a:r>
                            <a:rPr lang="en-US" sz="1000"/>
                            <a:t>Càng gần 0 thì càng trùng khớp</a:t>
                          </a:r>
                          <a:endParaRPr lang="en-US" sz="1000"/>
                        </a:p>
                      </a:txBody>
                      <a:tcPr/>
                    </a:tc>
                    <a:tc>
                      <a:txBody>
                        <a:bodyPr/>
                        <a:p>
                          <a:pPr algn="l">
                            <a:buNone/>
                          </a:pPr>
                          <a:r>
                            <a:rPr lang="en-US" sz="1000">
                              <a:sym typeface="+mn-ea"/>
                            </a:rPr>
                            <a:t>Trong đó:</a:t>
                          </a:r>
                          <a:endParaRPr lang="en-US" sz="1000"/>
                        </a:p>
                        <a:p>
                          <a:pPr marL="285750" indent="-285750" algn="l">
                            <a:buFont typeface="Arial" panose="020B0604020202020204" pitchFamily="34" charset="0"/>
                            <a:buChar char="•"/>
                          </a:pPr>
                          <a:r>
                            <a:rPr lang="en-US" sz="1000">
                              <a:sym typeface="+mn-ea"/>
                            </a:rPr>
                            <a:t>A : vector emdedding câu hỏi</a:t>
                          </a:r>
                          <a:endParaRPr lang="en-US" sz="1000"/>
                        </a:p>
                        <a:p>
                          <a:pPr marL="285750" indent="-285750" algn="l">
                            <a:buFont typeface="Arial" panose="020B0604020202020204" pitchFamily="34" charset="0"/>
                            <a:buChar char="•"/>
                          </a:pPr>
                          <a:r>
                            <a:rPr lang="en-US" sz="1000">
                              <a:sym typeface="+mn-ea"/>
                            </a:rPr>
                            <a:t>B : vector embedding tài liệu</a:t>
                          </a:r>
                          <a:endParaRPr lang="en-US" sz="1000">
                            <a:sym typeface="+mn-ea"/>
                          </a:endParaRPr>
                        </a:p>
                        <a:p>
                          <a:pPr marL="285750" indent="-285750" algn="l">
                            <a:buFont typeface="Arial" panose="020B0604020202020204" pitchFamily="34" charset="0"/>
                            <a:buChar char="•"/>
                          </a:pPr>
                          <a14:m>
                            <m:oMath xmlns:m="http://schemas.openxmlformats.org/officeDocument/2006/math">
                              <m:r>
                                <a:rPr lang="en-US" sz="1000" i="1">
                                  <a:latin typeface="Cambria Math" panose="02040503050406030204" charset="0"/>
                                  <a:cs typeface="Cambria Math" panose="02040503050406030204" charset="0"/>
                                </a:rPr>
                                <m:t>𝐴</m:t>
                              </m:r>
                              <m:r>
                                <a:rPr lang="en-US" sz="1000" i="1">
                                  <a:latin typeface="Cambria Math" panose="02040503050406030204" charset="0"/>
                                  <a:cs typeface="Cambria Math" panose="02040503050406030204" charset="0"/>
                                </a:rPr>
                                <m:t>∙</m:t>
                              </m:r>
                              <m:r>
                                <a:rPr lang="en-US" sz="1000" i="1">
                                  <a:latin typeface="Cambria Math" panose="02040503050406030204" charset="0"/>
                                  <a:cs typeface="Cambria Math" panose="02040503050406030204" charset="0"/>
                                </a:rPr>
                                <m:t>𝐵</m:t>
                              </m:r>
                            </m:oMath>
                          </a14:m>
                          <a:r>
                            <a:rPr lang="en-US" sz="1000"/>
                            <a:t> : tích vô hướng , </a:t>
                          </a:r>
                          <a14:m>
                            <m:oMath xmlns:m="http://schemas.openxmlformats.org/officeDocument/2006/math">
                              <m:d>
                                <m:dPr>
                                  <m:begChr m:val="‖"/>
                                  <m:endChr m:val="‖"/>
                                  <m:ctrlPr>
                                    <a:rPr lang="en-US" sz="1000" i="1">
                                      <a:latin typeface="Cambria Math" panose="02040503050406030204" charset="0"/>
                                      <a:cs typeface="Cambria Math" panose="02040503050406030204" charset="0"/>
                                    </a:rPr>
                                  </m:ctrlPr>
                                </m:dPr>
                                <m:e>
                                  <m:r>
                                    <a:rPr lang="en-US" sz="1000" i="1">
                                      <a:latin typeface="Cambria Math" panose="02040503050406030204" charset="0"/>
                                      <a:cs typeface="Cambria Math" panose="02040503050406030204" charset="0"/>
                                    </a:rPr>
                                    <m:t>𝐴</m:t>
                                  </m:r>
                                </m:e>
                              </m:d>
                            </m:oMath>
                          </a14:m>
                          <a:r>
                            <a:rPr lang="en-US" sz="1000"/>
                            <a:t>, </a:t>
                          </a:r>
                          <a14:m>
                            <m:oMath xmlns:m="http://schemas.openxmlformats.org/officeDocument/2006/math">
                              <m:d>
                                <m:dPr>
                                  <m:begChr m:val="‖"/>
                                  <m:endChr m:val="‖"/>
                                  <m:ctrlPr>
                                    <a:rPr lang="en-US" sz="1000" i="1">
                                      <a:latin typeface="Cambria Math" panose="02040503050406030204" charset="0"/>
                                      <a:cs typeface="Cambria Math" panose="02040503050406030204" charset="0"/>
                                    </a:rPr>
                                  </m:ctrlPr>
                                </m:dPr>
                                <m:e>
                                  <m:r>
                                    <a:rPr lang="en-US" sz="1000" i="1">
                                      <a:latin typeface="Cambria Math" panose="02040503050406030204" charset="0"/>
                                      <a:cs typeface="Cambria Math" panose="02040503050406030204" charset="0"/>
                                    </a:rPr>
                                    <m:t>𝐵</m:t>
                                  </m:r>
                                </m:e>
                              </m:d>
                            </m:oMath>
                          </a14:m>
                          <a:r>
                            <a:rPr lang="en-US" sz="1000"/>
                            <a:t> là độ dài vector</a:t>
                          </a:r>
                          <a:endParaRPr lang="en-US" sz="1000"/>
                        </a:p>
                        <a:p>
                          <a:pPr algn="l">
                            <a:buNone/>
                          </a:pPr>
                          <a:r>
                            <a:rPr lang="en-US" sz="1000">
                              <a:sym typeface="+mn-ea"/>
                            </a:rPr>
                            <a:t>Giá trị:</a:t>
                          </a:r>
                          <a:endParaRPr lang="en-US" sz="1000"/>
                        </a:p>
                        <a:p>
                          <a:pPr marL="285750" indent="-285750" algn="l">
                            <a:buFont typeface="Arial" panose="020B0604020202020204" pitchFamily="34" charset="0"/>
                            <a:buChar char="•"/>
                          </a:pPr>
                          <a:r>
                            <a:rPr lang="en-US" sz="1000">
                              <a:sym typeface="+mn-ea"/>
                            </a:rPr>
                            <a:t>1 : cùng hướng (tương đồng cao nhất)</a:t>
                          </a:r>
                          <a:endParaRPr lang="en-US" sz="1000"/>
                        </a:p>
                        <a:p>
                          <a:pPr marL="285750" indent="-285750" algn="l">
                            <a:buFont typeface="Arial" panose="020B0604020202020204" pitchFamily="34" charset="0"/>
                            <a:buChar char="•"/>
                          </a:pPr>
                          <a:r>
                            <a:rPr lang="en-US" sz="1000">
                              <a:sym typeface="+mn-ea"/>
                            </a:rPr>
                            <a:t>0 : không liên quan</a:t>
                          </a:r>
                          <a:endParaRPr lang="en-US" sz="1000">
                            <a:sym typeface="+mn-ea"/>
                          </a:endParaRPr>
                        </a:p>
                        <a:p>
                          <a:pPr marL="285750" indent="-285750" algn="l">
                            <a:buFont typeface="Arial" panose="020B0604020202020204" pitchFamily="34" charset="0"/>
                            <a:buChar char="•"/>
                          </a:pPr>
                          <a:r>
                            <a:rPr lang="en-US" sz="1000">
                              <a:sym typeface="+mn-ea"/>
                            </a:rPr>
                            <a:t>-1 : ngược hướng</a:t>
                          </a:r>
                          <a:endParaRPr lang="en-US" sz="1000"/>
                        </a:p>
                        <a:p>
                          <a:pPr>
                            <a:buNone/>
                          </a:pPr>
                          <a:endParaRPr lang="en-US" sz="1000"/>
                        </a:p>
                      </a:txBody>
                      <a:tcPr/>
                    </a:tc>
                    <a:tc>
                      <a:txBody>
                        <a:bodyPr/>
                        <a:p>
                          <a:pPr algn="l">
                            <a:buNone/>
                          </a:pPr>
                          <a:r>
                            <a:rPr lang="en-US" sz="1000">
                              <a:sym typeface="+mn-ea"/>
                            </a:rPr>
                            <a:t>Trong đó:</a:t>
                          </a:r>
                          <a:endParaRPr lang="en-US" sz="1000"/>
                        </a:p>
                        <a:p>
                          <a:pPr marL="285750" indent="-285750" algn="l">
                            <a:buFont typeface="Arial" panose="020B0604020202020204" pitchFamily="34" charset="0"/>
                            <a:buChar char="•"/>
                          </a:pPr>
                          <a14:m>
                            <m:oMath xmlns:m="http://schemas.openxmlformats.org/officeDocument/2006/math">
                              <m:bar>
                                <m:barPr>
                                  <m:pos m:val="top"/>
                                  <m:ctrlPr>
                                    <a:rPr lang="en-US" sz="1000" i="1">
                                      <a:latin typeface="Cambria Math" panose="02040503050406030204" charset="0"/>
                                      <a:cs typeface="Cambria Math" panose="02040503050406030204" charset="0"/>
                                      <a:sym typeface="+mn-ea"/>
                                    </a:rPr>
                                  </m:ctrlPr>
                                </m:barPr>
                                <m:e>
                                  <m:r>
                                    <a:rPr lang="en-US" sz="1000" i="1">
                                      <a:latin typeface="Cambria Math" panose="02040503050406030204" charset="0"/>
                                      <a:cs typeface="Cambria Math" panose="02040503050406030204" charset="0"/>
                                      <a:sym typeface="+mn-ea"/>
                                    </a:rPr>
                                    <m:t>𝐴</m:t>
                                  </m:r>
                                </m:e>
                              </m:bar>
                            </m:oMath>
                          </a14:m>
                          <a:r>
                            <a:rPr lang="en-US" sz="1000">
                              <a:sym typeface="+mn-ea"/>
                            </a:rPr>
                            <a:t> : giá trị trung bình vector embedding câu hỏi</a:t>
                          </a:r>
                          <a:endParaRPr lang="en-US" sz="1000"/>
                        </a:p>
                        <a:p>
                          <a:pPr marL="285750" indent="-285750" algn="l">
                            <a:buFont typeface="Arial" panose="020B0604020202020204" pitchFamily="34" charset="0"/>
                            <a:buChar char="•"/>
                          </a:pPr>
                          <a14:m>
                            <m:oMath xmlns:m="http://schemas.openxmlformats.org/officeDocument/2006/math">
                              <m:bar>
                                <m:barPr>
                                  <m:pos m:val="top"/>
                                  <m:ctrlPr>
                                    <a:rPr lang="en-US" sz="1000" i="1">
                                      <a:latin typeface="Cambria Math" panose="02040503050406030204" charset="0"/>
                                      <a:cs typeface="Cambria Math" panose="02040503050406030204" charset="0"/>
                                      <a:sym typeface="+mn-ea"/>
                                    </a:rPr>
                                  </m:ctrlPr>
                                </m:barPr>
                                <m:e>
                                  <m:r>
                                    <a:rPr lang="en-US" sz="1000" i="1">
                                      <a:latin typeface="Cambria Math" panose="02040503050406030204" charset="0"/>
                                      <a:cs typeface="Cambria Math" panose="02040503050406030204" charset="0"/>
                                      <a:sym typeface="+mn-ea"/>
                                    </a:rPr>
                                    <m:t>𝐵</m:t>
                                  </m:r>
                                </m:e>
                              </m:bar>
                            </m:oMath>
                          </a14:m>
                          <a:r>
                            <a:rPr lang="en-US" sz="1000">
                              <a:sym typeface="+mn-ea"/>
                            </a:rPr>
                            <a:t> : giá trị trung bình vector embedding tài liệu</a:t>
                          </a:r>
                          <a:endParaRPr lang="en-US" sz="1000"/>
                        </a:p>
                        <a:p>
                          <a:pPr algn="l">
                            <a:buNone/>
                          </a:pPr>
                          <a:r>
                            <a:rPr lang="en-US" sz="1000">
                              <a:sym typeface="+mn-ea"/>
                            </a:rPr>
                            <a:t>Giá trị:</a:t>
                          </a:r>
                          <a:endParaRPr lang="en-US" sz="1000"/>
                        </a:p>
                        <a:p>
                          <a:pPr marL="285750" indent="-285750" algn="l">
                            <a:buFont typeface="Arial" panose="020B0604020202020204" pitchFamily="34" charset="0"/>
                            <a:buChar char="•"/>
                          </a:pPr>
                          <a:r>
                            <a:rPr lang="en-US" sz="1000">
                              <a:sym typeface="+mn-ea"/>
                            </a:rPr>
                            <a:t>1 : tương quan hoàn hảo</a:t>
                          </a:r>
                          <a:endParaRPr lang="en-US" sz="1000"/>
                        </a:p>
                        <a:p>
                          <a:pPr marL="285750" indent="-285750" algn="l">
                            <a:buFont typeface="Arial" panose="020B0604020202020204" pitchFamily="34" charset="0"/>
                            <a:buChar char="•"/>
                          </a:pPr>
                          <a:r>
                            <a:rPr lang="en-US" sz="1000">
                              <a:sym typeface="+mn-ea"/>
                            </a:rPr>
                            <a:t>0 : không có tương quan tuyến tính</a:t>
                          </a:r>
                          <a:endParaRPr lang="en-US" sz="1000">
                            <a:sym typeface="+mn-ea"/>
                          </a:endParaRPr>
                        </a:p>
                        <a:p>
                          <a:pPr marL="285750" indent="-285750" algn="l">
                            <a:buFont typeface="Arial" panose="020B0604020202020204" pitchFamily="34" charset="0"/>
                            <a:buChar char="•"/>
                          </a:pPr>
                          <a:r>
                            <a:rPr lang="en-US" sz="1000">
                              <a:sym typeface="+mn-ea"/>
                            </a:rPr>
                            <a:t>-1 : tương quan âm hoàn hảo</a:t>
                          </a:r>
                          <a:endParaRPr lang="en-US" sz="1000"/>
                        </a:p>
                        <a:p>
                          <a:pPr>
                            <a:buNone/>
                          </a:pPr>
                          <a:endParaRPr lang="en-US" sz="1000"/>
                        </a:p>
                      </a:txBody>
                      <a:tcPr/>
                    </a:tc>
                  </a:tr>
                  <a:tr h="368300">
                    <a:tc>
                      <a:txBody>
                        <a:bodyPr/>
                        <a:p>
                          <a:pPr>
                            <a:buNone/>
                          </a:pPr>
                          <a:r>
                            <a:rPr lang="en-US" sz="1200"/>
                            <a:t>Ý nghĩa</a:t>
                          </a:r>
                          <a:endParaRPr lang="en-US" sz="1200"/>
                        </a:p>
                      </a:txBody>
                      <a:tcPr/>
                    </a:tc>
                    <a:tc>
                      <a:txBody>
                        <a:bodyPr/>
                        <a:p>
                          <a:pPr>
                            <a:buNone/>
                          </a:pPr>
                          <a:r>
                            <a:rPr lang="en-US" sz="1000"/>
                            <a:t>Đo khoảng cách hình học giữa các vector trong không gian đặc trưng</a:t>
                          </a:r>
                          <a:endParaRPr lang="en-US" sz="1000"/>
                        </a:p>
                      </a:txBody>
                      <a:tcPr/>
                    </a:tc>
                    <a:tc>
                      <a:txBody>
                        <a:bodyPr/>
                        <a:p>
                          <a:pPr>
                            <a:buNone/>
                          </a:pPr>
                          <a:r>
                            <a:rPr lang="en-US" sz="1000"/>
                            <a:t>Đo mức độ tương đồng thông qua góc giữa các vector</a:t>
                          </a:r>
                          <a:endParaRPr lang="en-US" sz="1000"/>
                        </a:p>
                      </a:txBody>
                      <a:tcPr/>
                    </a:tc>
                    <a:tc>
                      <a:txBody>
                        <a:bodyPr/>
                        <a:p>
                          <a:pPr>
                            <a:buNone/>
                          </a:pPr>
                          <a:r>
                            <a:rPr lang="en-US" sz="1000"/>
                            <a:t>Đo mức độ tương quan tuyến tính giữa 2 vector</a:t>
                          </a:r>
                          <a:endParaRPr lang="en-US" sz="1000"/>
                        </a:p>
                      </a:txBody>
                      <a:tcPr/>
                    </a:tc>
                  </a:tr>
                  <a:tr h="395605">
                    <a:tc>
                      <a:txBody>
                        <a:bodyPr/>
                        <a:p>
                          <a:pPr>
                            <a:buNone/>
                          </a:pPr>
                          <a:r>
                            <a:rPr lang="en-US" sz="1200"/>
                            <a:t>Ứng dụng</a:t>
                          </a:r>
                          <a:endParaRPr lang="en-US" sz="1200"/>
                        </a:p>
                      </a:txBody>
                      <a:tcPr/>
                    </a:tc>
                    <a:tc>
                      <a:txBody>
                        <a:bodyPr/>
                        <a:p>
                          <a:pPr>
                            <a:buNone/>
                          </a:pPr>
                          <a:r>
                            <a:rPr lang="en-US" sz="1000"/>
                            <a:t>Phù hợp với dữ liệu mà độ lớn của vector mang nhiều ý nghĩa</a:t>
                          </a:r>
                          <a:endParaRPr lang="en-US" sz="1000"/>
                        </a:p>
                      </a:txBody>
                      <a:tcPr/>
                    </a:tc>
                    <a:tc>
                      <a:txBody>
                        <a:bodyPr/>
                        <a:p>
                          <a:pPr>
                            <a:buNone/>
                          </a:pPr>
                          <a:r>
                            <a:rPr lang="en-US" sz="1000"/>
                            <a:t>Phù hợp với ứng dụng tìm kiếm ngữ nghĩa, góc vector quan trọng hơn độ lớn</a:t>
                          </a:r>
                          <a:endParaRPr lang="en-US" sz="1000"/>
                        </a:p>
                      </a:txBody>
                      <a:tcPr/>
                    </a:tc>
                    <a:tc>
                      <a:txBody>
                        <a:bodyPr/>
                        <a:p>
                          <a:pPr>
                            <a:buNone/>
                          </a:pPr>
                          <a:r>
                            <a:rPr lang="en-US" sz="1000"/>
                            <a:t>Phù hợp với ứng dụng tính độ tương quan tuyến tính giữa các tập dữ liệu khác nhau</a:t>
                          </a:r>
                          <a:endParaRPr lang="en-US" sz="1000"/>
                        </a:p>
                      </a:txBody>
                      <a:tcPr/>
                    </a:tc>
                  </a:tr>
                  <a:tr h="395605">
                    <a:tc>
                      <a:txBody>
                        <a:bodyPr/>
                        <a:p>
                          <a:pPr>
                            <a:buNone/>
                          </a:pPr>
                          <a:r>
                            <a:rPr lang="en-US" sz="1200"/>
                            <a:t>Phù hợp với RAG</a:t>
                          </a:r>
                          <a:endParaRPr lang="en-US" sz="1200"/>
                        </a:p>
                      </a:txBody>
                      <a:tcPr/>
                    </a:tc>
                    <a:tc>
                      <a:txBody>
                        <a:bodyPr/>
                        <a:p>
                          <a:pPr algn="ctr"/>
                          <a:r>
                            <a:rPr lang="en-US" altLang="zh-CN" sz="1100"/>
                            <a:t>✗</a:t>
                          </a:r>
                          <a:endParaRPr lang="en-US" altLang="zh-CN" sz="1100"/>
                        </a:p>
                      </a:txBody>
                      <a:tcPr marL="0" marR="0" marT="0" marB="0" anchor="ctr" anchorCtr="0"/>
                    </a:tc>
                    <a:tc>
                      <a:txBody>
                        <a:bodyPr/>
                        <a:p>
                          <a:pPr algn="ctr"/>
                          <a:r>
                            <a:rPr lang="en-US" altLang="en-US" sz="1100"/>
                            <a:t>✓</a:t>
                          </a:r>
                          <a:endParaRPr lang="en-US" altLang="en-US" sz="1100"/>
                        </a:p>
                      </a:txBody>
                      <a:tcPr marL="0" marR="0" marT="0" marB="0" anchor="ctr" anchorCtr="0"/>
                    </a:tc>
                    <a:tc>
                      <a:txBody>
                        <a:bodyPr/>
                        <a:p>
                          <a:pPr algn="ctr"/>
                          <a:r>
                            <a:rPr lang="en-US" altLang="zh-CN" sz="1100"/>
                            <a:t>✗</a:t>
                          </a:r>
                          <a:endParaRPr lang="en-US" altLang="zh-CN" sz="1100"/>
                        </a:p>
                      </a:txBody>
                      <a:tcPr marL="0" marR="0" marT="0" marB="0" anchor="ctr" anchorCtr="0"/>
                    </a:tc>
                  </a:tr>
                </a:tbl>
              </a:graphicData>
            </a:graphic>
          </p:graphicFrame>
        </mc:Choice>
        <mc:Fallback xmlns="">
          <p:graphicFrame>
            <p:nvGraphicFramePr>
              <p:cNvPr id="2" name="Table 1"/>
              <p:cNvGraphicFramePr/>
              <p:nvPr>
                <p:custDataLst>
                  <p:tags r:id="rId3"/>
                </p:custDataLst>
              </p:nvPr>
            </p:nvGraphicFramePr>
            <p:xfrm>
              <a:off x="936625" y="1725930"/>
              <a:ext cx="10423525" cy="3874770"/>
            </p:xfrm>
            <a:graphic>
              <a:graphicData uri="http://schemas.openxmlformats.org/drawingml/2006/table">
                <a:tbl>
                  <a:tblPr firstRow="1" bandRow="1">
                    <a:tableStyleId>{5C22544A-7EE6-4342-B048-85BDC9FD1C3A}</a:tableStyleId>
                  </a:tblPr>
                  <a:tblGrid>
                    <a:gridCol w="1529080"/>
                    <a:gridCol w="2446655"/>
                    <a:gridCol w="3246120"/>
                    <a:gridCol w="3201670"/>
                  </a:tblGrid>
                  <a:tr h="322580">
                    <a:tc>
                      <a:txBody>
                        <a:bodyPr/>
                        <a:p>
                          <a:pPr algn="ctr">
                            <a:buNone/>
                          </a:pPr>
                          <a:r>
                            <a:rPr lang="en-US"/>
                            <a:t>Tiêu chí</a:t>
                          </a:r>
                          <a:endParaRPr lang="en-US"/>
                        </a:p>
                      </a:txBody>
                      <a:tcPr/>
                    </a:tc>
                    <a:tc>
                      <a:txBody>
                        <a:bodyPr/>
                        <a:p>
                          <a:pPr algn="ctr">
                            <a:buNone/>
                          </a:pPr>
                          <a:r>
                            <a:rPr lang="en-US"/>
                            <a:t>Euclidean Distance</a:t>
                          </a:r>
                          <a:endParaRPr lang="en-US"/>
                        </a:p>
                      </a:txBody>
                      <a:tcPr/>
                    </a:tc>
                    <a:tc>
                      <a:txBody>
                        <a:bodyPr/>
                        <a:p>
                          <a:pPr algn="ctr">
                            <a:buNone/>
                          </a:pPr>
                          <a:r>
                            <a:rPr lang="en-US"/>
                            <a:t>Cosine similarity</a:t>
                          </a:r>
                          <a:endParaRPr lang="en-US"/>
                        </a:p>
                      </a:txBody>
                      <a:tcPr/>
                    </a:tc>
                    <a:tc>
                      <a:txBody>
                        <a:bodyPr/>
                        <a:p>
                          <a:pPr algn="ctr">
                            <a:buNone/>
                          </a:pPr>
                          <a:r>
                            <a:rPr lang="en-US"/>
                            <a:t>Correlation</a:t>
                          </a:r>
                          <a:endParaRPr lang="en-US"/>
                        </a:p>
                      </a:txBody>
                      <a:tcPr/>
                    </a:tc>
                  </a:tr>
                  <a:tr h="901065">
                    <a:tc rowSpan="2">
                      <a:txBody>
                        <a:bodyPr/>
                        <a:p>
                          <a:pPr>
                            <a:buNone/>
                          </a:pPr>
                          <a:r>
                            <a:rPr lang="en-US" sz="1200">
                              <a:sym typeface="+mn-ea"/>
                            </a:rPr>
                            <a:t>Công thức</a:t>
                          </a:r>
                          <a:endParaRPr lang="en-US" sz="1200">
                            <a:sym typeface="+mn-ea"/>
                          </a:endParaRPr>
                        </a:p>
                      </a:txBody>
                      <a:tcPr/>
                    </a:tc>
                    <a:tc>
                      <a:txBody>
                        <a:bodyPr/>
                        <a:lstStyle/>
                        <a:p>
                          <a:endParaRPr lang="en-US"/>
                        </a:p>
                      </a:txBody>
                      <a:tcPr>
                        <a:blipFill>
                          <a:blip r:embed="rId4"/>
                        </a:blipFill>
                      </a:tcPr>
                    </a:tc>
                    <a:tc>
                      <a:txBody>
                        <a:bodyPr/>
                        <a:lstStyle/>
                        <a:p>
                          <a:endParaRPr lang="en-US"/>
                        </a:p>
                      </a:txBody>
                      <a:tcPr>
                        <a:blipFill>
                          <a:blip r:embed="rId4"/>
                        </a:blipFill>
                      </a:tcPr>
                    </a:tc>
                    <a:tc>
                      <a:txBody>
                        <a:bodyPr/>
                        <a:lstStyle/>
                        <a:p>
                          <a:endParaRPr lang="en-US"/>
                        </a:p>
                      </a:txBody>
                      <a:tcPr>
                        <a:blipFill>
                          <a:blip r:embed="rId4"/>
                        </a:blipFill>
                      </a:tcPr>
                    </a:tc>
                  </a:tr>
                  <a:tr h="1463040">
                    <a:tc vMerge="1">
                      <a:tcPr/>
                    </a:tc>
                    <a:tc>
                      <a:txBody>
                        <a:bodyPr/>
                        <a:p>
                          <a:pPr algn="l">
                            <a:buNone/>
                          </a:pPr>
                          <a:r>
                            <a:rPr lang="en-US" sz="1000">
                              <a:sym typeface="+mn-ea"/>
                            </a:rPr>
                            <a:t>Trong đó:</a:t>
                          </a:r>
                          <a:endParaRPr lang="en-US" sz="1000"/>
                        </a:p>
                        <a:p>
                          <a:pPr marL="285750" indent="-285750" algn="l">
                            <a:buFont typeface="Arial" panose="020B0604020202020204" pitchFamily="34" charset="0"/>
                            <a:buChar char="•"/>
                          </a:pPr>
                          <a:r>
                            <a:rPr lang="en-US" sz="1000">
                              <a:sym typeface="+mn-ea"/>
                            </a:rPr>
                            <a:t>A : vector emdedding câu hỏi</a:t>
                          </a:r>
                          <a:endParaRPr lang="en-US" sz="1000"/>
                        </a:p>
                        <a:p>
                          <a:pPr marL="285750" indent="-285750" algn="l">
                            <a:buFont typeface="Arial" panose="020B0604020202020204" pitchFamily="34" charset="0"/>
                            <a:buChar char="•"/>
                          </a:pPr>
                          <a:r>
                            <a:rPr lang="en-US" sz="1000">
                              <a:sym typeface="+mn-ea"/>
                            </a:rPr>
                            <a:t>B : vector embedding tài liệu</a:t>
                          </a:r>
                          <a:endParaRPr lang="en-US" sz="1000">
                            <a:sym typeface="+mn-ea"/>
                          </a:endParaRPr>
                        </a:p>
                        <a:p>
                          <a:pPr marL="285750" indent="-285750" algn="l">
                            <a:buFont typeface="Arial" panose="020B0604020202020204" pitchFamily="34" charset="0"/>
                            <a:buChar char="•"/>
                          </a:pPr>
                          <a:r>
                            <a:rPr lang="en-US" sz="1000">
                              <a:sym typeface="+mn-ea"/>
                            </a:rPr>
                            <a:t>i : số chiều của vector</a:t>
                          </a:r>
                          <a:endParaRPr lang="en-US" sz="1000">
                            <a:sym typeface="+mn-ea"/>
                          </a:endParaRPr>
                        </a:p>
                        <a:p>
                          <a:pPr algn="l">
                            <a:buNone/>
                          </a:pPr>
                          <a:r>
                            <a:rPr lang="en-US" sz="1000">
                              <a:sym typeface="+mn-ea"/>
                            </a:rPr>
                            <a:t>Giá trị:</a:t>
                          </a:r>
                          <a:endParaRPr lang="en-US" sz="1000"/>
                        </a:p>
                        <a:p>
                          <a:pPr marL="171450" indent="-171450">
                            <a:buFont typeface="Arial" panose="020B0604020202020204" pitchFamily="34" charset="0"/>
                            <a:buChar char="•"/>
                          </a:pPr>
                          <a:r>
                            <a:rPr lang="en-US" sz="1000"/>
                            <a:t>Càng gần 0 thì càng trùng khớp</a:t>
                          </a:r>
                          <a:endParaRPr lang="en-US" sz="1000"/>
                        </a:p>
                      </a:txBody>
                      <a:tcPr/>
                    </a:tc>
                    <a:tc>
                      <a:txBody>
                        <a:bodyPr/>
                        <a:lstStyle/>
                        <a:p>
                          <a:endParaRPr lang="en-US"/>
                        </a:p>
                      </a:txBody>
                      <a:tcPr>
                        <a:blipFill>
                          <a:blip r:embed="rId4"/>
                        </a:blipFill>
                      </a:tcPr>
                    </a:tc>
                    <a:tc>
                      <a:txBody>
                        <a:bodyPr/>
                        <a:lstStyle/>
                        <a:p>
                          <a:endParaRPr lang="en-US"/>
                        </a:p>
                      </a:txBody>
                      <a:tcPr>
                        <a:blipFill>
                          <a:blip r:embed="rId4"/>
                        </a:blipFill>
                      </a:tcPr>
                    </a:tc>
                  </a:tr>
                  <a:tr h="368300">
                    <a:tc>
                      <a:txBody>
                        <a:bodyPr/>
                        <a:p>
                          <a:pPr>
                            <a:buNone/>
                          </a:pPr>
                          <a:r>
                            <a:rPr lang="en-US" sz="1200"/>
                            <a:t>Ý nghĩa</a:t>
                          </a:r>
                          <a:endParaRPr lang="en-US" sz="1200"/>
                        </a:p>
                      </a:txBody>
                      <a:tcPr/>
                    </a:tc>
                    <a:tc>
                      <a:txBody>
                        <a:bodyPr/>
                        <a:p>
                          <a:pPr>
                            <a:buNone/>
                          </a:pPr>
                          <a:r>
                            <a:rPr lang="en-US" sz="1000"/>
                            <a:t>Đo khoảng cách hình học giữa các vector trong không gian đặc trưng</a:t>
                          </a:r>
                          <a:endParaRPr lang="en-US" sz="1000"/>
                        </a:p>
                      </a:txBody>
                      <a:tcPr/>
                    </a:tc>
                    <a:tc>
                      <a:txBody>
                        <a:bodyPr/>
                        <a:p>
                          <a:pPr>
                            <a:buNone/>
                          </a:pPr>
                          <a:r>
                            <a:rPr lang="en-US" sz="1000"/>
                            <a:t>Đo mức độ tương đồng thông qua góc giữa các vector</a:t>
                          </a:r>
                          <a:endParaRPr lang="en-US" sz="1000"/>
                        </a:p>
                      </a:txBody>
                      <a:tcPr/>
                    </a:tc>
                    <a:tc>
                      <a:txBody>
                        <a:bodyPr/>
                        <a:p>
                          <a:pPr>
                            <a:buNone/>
                          </a:pPr>
                          <a:r>
                            <a:rPr lang="en-US" sz="1000"/>
                            <a:t>Đo mức độ tương quan tuyến tính giữa 2 vector</a:t>
                          </a:r>
                          <a:endParaRPr lang="en-US" sz="1000"/>
                        </a:p>
                      </a:txBody>
                      <a:tcPr/>
                    </a:tc>
                  </a:tr>
                  <a:tr h="395605">
                    <a:tc>
                      <a:txBody>
                        <a:bodyPr/>
                        <a:p>
                          <a:pPr>
                            <a:buNone/>
                          </a:pPr>
                          <a:r>
                            <a:rPr lang="en-US" sz="1200"/>
                            <a:t>Ứng dụng</a:t>
                          </a:r>
                          <a:endParaRPr lang="en-US" sz="1200"/>
                        </a:p>
                      </a:txBody>
                      <a:tcPr/>
                    </a:tc>
                    <a:tc>
                      <a:txBody>
                        <a:bodyPr/>
                        <a:p>
                          <a:pPr>
                            <a:buNone/>
                          </a:pPr>
                          <a:r>
                            <a:rPr lang="en-US" sz="1000"/>
                            <a:t>Phù hợp với dữ liệu mà độ lớn của vector mang nhiều ý nghĩa</a:t>
                          </a:r>
                          <a:endParaRPr lang="en-US" sz="1000"/>
                        </a:p>
                      </a:txBody>
                      <a:tcPr/>
                    </a:tc>
                    <a:tc>
                      <a:txBody>
                        <a:bodyPr/>
                        <a:p>
                          <a:pPr>
                            <a:buNone/>
                          </a:pPr>
                          <a:r>
                            <a:rPr lang="en-US" sz="1000"/>
                            <a:t>Phù hợp với ứng dụng tìm kiếm ngữ nghĩa, góc vector quan trọng hơn độ lớn</a:t>
                          </a:r>
                          <a:endParaRPr lang="en-US" sz="1000"/>
                        </a:p>
                      </a:txBody>
                      <a:tcPr/>
                    </a:tc>
                    <a:tc>
                      <a:txBody>
                        <a:bodyPr/>
                        <a:p>
                          <a:pPr>
                            <a:buNone/>
                          </a:pPr>
                          <a:r>
                            <a:rPr lang="en-US" sz="1000"/>
                            <a:t>Phù hợp với ứng dụng tính độ tương quan tuyến tính giữa các tập dữ liệu khác nhau</a:t>
                          </a:r>
                          <a:endParaRPr lang="en-US" sz="1000"/>
                        </a:p>
                      </a:txBody>
                      <a:tcPr/>
                    </a:tc>
                  </a:tr>
                  <a:tr h="395605">
                    <a:tc>
                      <a:txBody>
                        <a:bodyPr/>
                        <a:p>
                          <a:pPr>
                            <a:buNone/>
                          </a:pPr>
                          <a:r>
                            <a:rPr lang="en-US" sz="1200"/>
                            <a:t>Phù hợp với RAG</a:t>
                          </a:r>
                          <a:endParaRPr lang="en-US" sz="1200"/>
                        </a:p>
                      </a:txBody>
                      <a:tcPr/>
                    </a:tc>
                    <a:tc>
                      <a:txBody>
                        <a:bodyPr/>
                        <a:p>
                          <a:pPr algn="ctr"/>
                          <a:r>
                            <a:rPr lang="en-US" altLang="zh-CN" sz="1100"/>
                            <a:t>✗</a:t>
                          </a:r>
                          <a:endParaRPr lang="en-US" altLang="zh-CN" sz="1100"/>
                        </a:p>
                      </a:txBody>
                      <a:tcPr marL="0" marR="0" marT="0" marB="0" anchor="ctr" anchorCtr="0"/>
                    </a:tc>
                    <a:tc>
                      <a:txBody>
                        <a:bodyPr/>
                        <a:p>
                          <a:pPr algn="ctr"/>
                          <a:r>
                            <a:rPr lang="en-US" altLang="en-US" sz="1100"/>
                            <a:t>✓</a:t>
                          </a:r>
                          <a:endParaRPr lang="en-US" altLang="en-US" sz="1100"/>
                        </a:p>
                      </a:txBody>
                      <a:tcPr marL="0" marR="0" marT="0" marB="0" anchor="ctr" anchorCtr="0"/>
                    </a:tc>
                    <a:tc>
                      <a:txBody>
                        <a:bodyPr/>
                        <a:p>
                          <a:pPr algn="ctr"/>
                          <a:r>
                            <a:rPr lang="en-US" altLang="zh-CN" sz="1100"/>
                            <a:t>✗</a:t>
                          </a:r>
                          <a:endParaRPr lang="en-US" altLang="zh-CN" sz="1100"/>
                        </a:p>
                      </a:txBody>
                      <a:tcPr marL="0" marR="0" marT="0" marB="0" anchor="ctr" anchorCtr="0"/>
                    </a:tc>
                  </a:tr>
                </a:tbl>
              </a:graphicData>
            </a:graphic>
          </p:graphicFrame>
        </mc:Fallback>
      </mc:AlternateContent>
      <p:sp>
        <p:nvSpPr>
          <p:cNvPr id="17" name="Text Box 16"/>
          <p:cNvSpPr txBox="1"/>
          <p:nvPr/>
        </p:nvSpPr>
        <p:spPr>
          <a:xfrm>
            <a:off x="521335" y="5713095"/>
            <a:ext cx="11294110" cy="720725"/>
          </a:xfrm>
          <a:prstGeom prst="rect">
            <a:avLst/>
          </a:prstGeom>
          <a:noFill/>
        </p:spPr>
        <p:txBody>
          <a:bodyPr wrap="square" rtlCol="0">
            <a:noAutofit/>
          </a:bodyPr>
          <a:p>
            <a:pPr algn="just"/>
            <a:r>
              <a:rPr lang="en-US"/>
              <a:t>Thông qua đó, Cosine Similarity là công thức phù hợp nhất với ứng dụng RAG vì tập trung so sánh tương đồng ngữ nghĩa mà không quan tâm độ dài hay thể thức khác nhau của các câu hỏi </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304800" y="190500"/>
            <a:ext cx="11972290" cy="492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5. Khối đặt câu lệnh cho LLM - Prompting (lý thuyết) </a:t>
            </a:r>
            <a:endPar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Google Shape;162;p19"/>
          <p:cNvSpPr txBox="1"/>
          <p:nvPr/>
        </p:nvSpPr>
        <p:spPr>
          <a:xfrm>
            <a:off x="581025" y="878205"/>
            <a:ext cx="11029950" cy="165417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2000" b="0" i="0" u="none" strike="noStrike" cap="none">
                <a:solidFill>
                  <a:srgbClr val="5A6275"/>
                </a:solidFill>
                <a:latin typeface="Inter" panose="02000503000000020004"/>
                <a:ea typeface="Inter" panose="02000503000000020004"/>
                <a:cs typeface="Inter" panose="02000503000000020004"/>
                <a:sym typeface="Inter" panose="02000503000000020004"/>
              </a:rPr>
              <a:t>Prompting</a:t>
            </a: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 là quá trình xây dựng lời nhắc (prompt) để hướng dẫn cho mô hình ngôn ngữ lớn (LLM) thực hiện tác vụ mong muốn. Trong hệ thống RAG, prompt không chỉ chứa câu hỏi của người dùng mà còn bao gồm các đoạn ngữ cảnh (Retrieved Context) được truy xuất từ Vector Database nhằm giới hạn phạm vi trả lời dựa trên những kiến thức cơ sở có sẵn, bên cạnh đó có thể định hướng phong cách, định dạng câu trả lời tùy theo mục đích ứng dụng.</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
        <p:nvSpPr>
          <p:cNvPr id="5" name="Google Shape;162;p19"/>
          <p:cNvSpPr txBox="1"/>
          <p:nvPr/>
        </p:nvSpPr>
        <p:spPr>
          <a:xfrm>
            <a:off x="6816725" y="2600325"/>
            <a:ext cx="2869565" cy="40005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Các nguyên tắc thiết kế prompt</a:t>
            </a:r>
            <a:endParaRPr lang="en-US" sz="1300"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
        <p:nvSpPr>
          <p:cNvPr id="6" name="Text Box 5"/>
          <p:cNvSpPr txBox="1"/>
          <p:nvPr/>
        </p:nvSpPr>
        <p:spPr>
          <a:xfrm>
            <a:off x="6975475" y="2944495"/>
            <a:ext cx="4819650" cy="1168400"/>
          </a:xfrm>
          <a:prstGeom prst="rect">
            <a:avLst/>
          </a:prstGeom>
          <a:noFill/>
        </p:spPr>
        <p:txBody>
          <a:bodyPr wrap="square" rtlCol="0">
            <a:spAutoFit/>
          </a:bodyPr>
          <a:p>
            <a:r>
              <a:rPr lang="en-US"/>
              <a:t>1. Quy định vai trò của AI</a:t>
            </a:r>
            <a:endParaRPr lang="en-US"/>
          </a:p>
          <a:p>
            <a:r>
              <a:rPr lang="en-US">
                <a:sym typeface="+mn-ea"/>
              </a:rPr>
              <a:t>2. Xác định ngữ cảnh của nhiệm vụ</a:t>
            </a:r>
            <a:endParaRPr lang="en-US"/>
          </a:p>
          <a:p>
            <a:r>
              <a:rPr lang="en-US"/>
              <a:t>3. Xác định rõ nhiệm vụ cần thực hiện</a:t>
            </a:r>
            <a:endParaRPr lang="en-US"/>
          </a:p>
          <a:p>
            <a:r>
              <a:rPr lang="en-US"/>
              <a:t>4. Xác định định dạng kết quả</a:t>
            </a:r>
            <a:endParaRPr lang="en-US"/>
          </a:p>
          <a:p>
            <a:r>
              <a:rPr lang="en-US"/>
              <a:t>5. Tuân theo thứ tự: hướng dẫn </a:t>
            </a:r>
            <a:r>
              <a:rPr lang="en-US">
                <a:latin typeface="Arial" panose="020B0604020202020204" pitchFamily="34" charset="0"/>
                <a:cs typeface="Arial" panose="020B0604020202020204" pitchFamily="34" charset="0"/>
              </a:rPr>
              <a:t>→ ngữ cảnh → câu hỏi</a:t>
            </a:r>
            <a:endParaRPr lang="en-US">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2"/>
          <a:stretch>
            <a:fillRect/>
          </a:stretch>
        </p:blipFill>
        <p:spPr>
          <a:xfrm>
            <a:off x="6975475" y="4636135"/>
            <a:ext cx="2797810" cy="1958975"/>
          </a:xfrm>
          <a:prstGeom prst="rect">
            <a:avLst/>
          </a:prstGeom>
        </p:spPr>
      </p:pic>
      <p:sp>
        <p:nvSpPr>
          <p:cNvPr id="4" name="Google Shape;162;p19"/>
          <p:cNvSpPr txBox="1"/>
          <p:nvPr/>
        </p:nvSpPr>
        <p:spPr>
          <a:xfrm>
            <a:off x="6816725" y="4236085"/>
            <a:ext cx="2632075" cy="40005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Ví dụ biểu mẫu cho Prompt</a:t>
            </a:r>
            <a:endParaRPr lang="en-US" sz="1300"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
        <p:nvSpPr>
          <p:cNvPr id="7" name="Google Shape;162;p19"/>
          <p:cNvSpPr txBox="1"/>
          <p:nvPr/>
        </p:nvSpPr>
        <p:spPr>
          <a:xfrm>
            <a:off x="581025" y="2600325"/>
            <a:ext cx="2869565" cy="40005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Các kỹ thuật Prompting phổ biến</a:t>
            </a:r>
            <a:endParaRPr lang="en-US" sz="1300"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graphicFrame>
        <p:nvGraphicFramePr>
          <p:cNvPr id="8" name="Table 7"/>
          <p:cNvGraphicFramePr/>
          <p:nvPr>
            <p:custDataLst>
              <p:tags r:id="rId3"/>
            </p:custDataLst>
          </p:nvPr>
        </p:nvGraphicFramePr>
        <p:xfrm>
          <a:off x="581025" y="2944495"/>
          <a:ext cx="5781675" cy="2960370"/>
        </p:xfrm>
        <a:graphic>
          <a:graphicData uri="http://schemas.openxmlformats.org/drawingml/2006/table">
            <a:tbl>
              <a:tblPr firstRow="1" bandRow="1">
                <a:tableStyleId>{5C22544A-7EE6-4342-B048-85BDC9FD1C3A}</a:tableStyleId>
              </a:tblPr>
              <a:tblGrid>
                <a:gridCol w="1927225"/>
                <a:gridCol w="1927225"/>
                <a:gridCol w="1927225"/>
              </a:tblGrid>
              <a:tr h="337185">
                <a:tc>
                  <a:txBody>
                    <a:bodyPr/>
                    <a:p>
                      <a:pPr algn="ctr">
                        <a:buNone/>
                      </a:pPr>
                      <a:r>
                        <a:rPr lang="en-US" sz="1200"/>
                        <a:t>Kỹ thuật</a:t>
                      </a:r>
                      <a:endParaRPr lang="en-US" sz="1200"/>
                    </a:p>
                  </a:txBody>
                  <a:tcPr/>
                </a:tc>
                <a:tc>
                  <a:txBody>
                    <a:bodyPr/>
                    <a:p>
                      <a:pPr algn="ctr">
                        <a:buNone/>
                      </a:pPr>
                      <a:r>
                        <a:rPr lang="en-US" sz="1200"/>
                        <a:t>Mô tả</a:t>
                      </a:r>
                      <a:endParaRPr lang="en-US" sz="1200"/>
                    </a:p>
                  </a:txBody>
                  <a:tcPr/>
                </a:tc>
                <a:tc>
                  <a:txBody>
                    <a:bodyPr/>
                    <a:p>
                      <a:pPr algn="ctr">
                        <a:buNone/>
                      </a:pPr>
                      <a:r>
                        <a:rPr lang="en-US" sz="1200"/>
                        <a:t>Ứng dụng</a:t>
                      </a:r>
                      <a:endParaRPr lang="en-US" sz="1200"/>
                    </a:p>
                  </a:txBody>
                  <a:tcPr/>
                </a:tc>
              </a:tr>
              <a:tr h="457200">
                <a:tc>
                  <a:txBody>
                    <a:bodyPr/>
                    <a:p>
                      <a:pPr>
                        <a:buNone/>
                      </a:pPr>
                      <a:r>
                        <a:rPr lang="en-US" sz="1200"/>
                        <a:t>Zero-shot Prompting</a:t>
                      </a:r>
                      <a:endParaRPr lang="en-US" sz="1200"/>
                    </a:p>
                  </a:txBody>
                  <a:tcPr/>
                </a:tc>
                <a:tc>
                  <a:txBody>
                    <a:bodyPr/>
                    <a:p>
                      <a:pPr>
                        <a:buNone/>
                      </a:pPr>
                      <a:r>
                        <a:rPr lang="en-US" sz="1200"/>
                        <a:t>Chỉ đưa hướng dẫn, không có ví dụ</a:t>
                      </a:r>
                      <a:endParaRPr lang="en-US" sz="1200"/>
                    </a:p>
                  </a:txBody>
                  <a:tcPr/>
                </a:tc>
                <a:tc>
                  <a:txBody>
                    <a:bodyPr/>
                    <a:p>
                      <a:pPr>
                        <a:buNone/>
                      </a:pPr>
                      <a:r>
                        <a:rPr lang="en-US" sz="1200"/>
                        <a:t>Phổ biến trong RAG</a:t>
                      </a:r>
                      <a:endParaRPr lang="en-US" sz="1200"/>
                    </a:p>
                  </a:txBody>
                  <a:tcPr/>
                </a:tc>
              </a:tr>
              <a:tr h="457200">
                <a:tc>
                  <a:txBody>
                    <a:bodyPr/>
                    <a:p>
                      <a:pPr>
                        <a:buNone/>
                      </a:pPr>
                      <a:r>
                        <a:rPr lang="en-US" sz="1200"/>
                        <a:t>One-shot Prompting</a:t>
                      </a:r>
                      <a:endParaRPr lang="en-US" sz="1200"/>
                    </a:p>
                  </a:txBody>
                  <a:tcPr/>
                </a:tc>
                <a:tc>
                  <a:txBody>
                    <a:bodyPr/>
                    <a:p>
                      <a:pPr>
                        <a:buNone/>
                      </a:pPr>
                      <a:r>
                        <a:rPr lang="en-US" sz="1200"/>
                        <a:t>Cung cấp một ví dụ</a:t>
                      </a:r>
                      <a:endParaRPr lang="en-US" sz="1200"/>
                    </a:p>
                  </a:txBody>
                  <a:tcPr/>
                </a:tc>
                <a:tc>
                  <a:txBody>
                    <a:bodyPr/>
                    <a:p>
                      <a:pPr>
                        <a:buNone/>
                      </a:pPr>
                      <a:r>
                        <a:rPr lang="en-US" sz="1200"/>
                        <a:t>Khi cần định dạng ổn định</a:t>
                      </a:r>
                      <a:endParaRPr lang="en-US" sz="1200"/>
                    </a:p>
                  </a:txBody>
                  <a:tcPr/>
                </a:tc>
              </a:tr>
              <a:tr h="457200">
                <a:tc>
                  <a:txBody>
                    <a:bodyPr/>
                    <a:p>
                      <a:pPr>
                        <a:buNone/>
                      </a:pPr>
                      <a:r>
                        <a:rPr lang="en-US" sz="1200"/>
                        <a:t>Few-shot Prompting</a:t>
                      </a:r>
                      <a:endParaRPr lang="en-US" sz="1200"/>
                    </a:p>
                  </a:txBody>
                  <a:tcPr/>
                </a:tc>
                <a:tc>
                  <a:txBody>
                    <a:bodyPr/>
                    <a:p>
                      <a:pPr>
                        <a:buNone/>
                      </a:pPr>
                      <a:r>
                        <a:rPr lang="en-US" sz="1200"/>
                        <a:t>Cung cấp nhiều ví dụ</a:t>
                      </a:r>
                      <a:endParaRPr lang="en-US" sz="1200"/>
                    </a:p>
                  </a:txBody>
                  <a:tcPr/>
                </a:tc>
                <a:tc>
                  <a:txBody>
                    <a:bodyPr/>
                    <a:p>
                      <a:pPr>
                        <a:buNone/>
                      </a:pPr>
                      <a:r>
                        <a:rPr lang="en-US" sz="1200"/>
                        <a:t>Phân loại, trích xuất thông tin</a:t>
                      </a:r>
                      <a:endParaRPr lang="en-US" sz="1200"/>
                    </a:p>
                  </a:txBody>
                  <a:tcPr/>
                </a:tc>
              </a:tr>
              <a:tr h="337185">
                <a:tc>
                  <a:txBody>
                    <a:bodyPr/>
                    <a:p>
                      <a:pPr>
                        <a:buNone/>
                      </a:pPr>
                      <a:r>
                        <a:rPr lang="en-US" sz="1200"/>
                        <a:t>Role Prompting</a:t>
                      </a:r>
                      <a:endParaRPr lang="en-US" sz="1200"/>
                    </a:p>
                  </a:txBody>
                  <a:tcPr/>
                </a:tc>
                <a:tc>
                  <a:txBody>
                    <a:bodyPr/>
                    <a:p>
                      <a:pPr>
                        <a:buNone/>
                      </a:pPr>
                      <a:r>
                        <a:rPr lang="en-US" sz="1200"/>
                        <a:t>Gán vai trò cho mô hình</a:t>
                      </a:r>
                      <a:endParaRPr lang="en-US" sz="1200"/>
                    </a:p>
                  </a:txBody>
                  <a:tcPr/>
                </a:tc>
                <a:tc>
                  <a:txBody>
                    <a:bodyPr/>
                    <a:p>
                      <a:pPr>
                        <a:buNone/>
                      </a:pPr>
                      <a:r>
                        <a:rPr lang="en-US" sz="1200"/>
                        <a:t>Chatbot, trợ lý AI</a:t>
                      </a:r>
                      <a:endParaRPr lang="en-US" sz="1200"/>
                    </a:p>
                  </a:txBody>
                  <a:tcPr/>
                </a:tc>
              </a:tr>
              <a:tr h="457200">
                <a:tc>
                  <a:txBody>
                    <a:bodyPr/>
                    <a:p>
                      <a:pPr>
                        <a:buNone/>
                      </a:pPr>
                      <a:r>
                        <a:rPr lang="en-US" sz="1200"/>
                        <a:t>Chain-of-Thought (CoT)</a:t>
                      </a:r>
                      <a:endParaRPr lang="en-US" sz="1200"/>
                    </a:p>
                  </a:txBody>
                  <a:tcPr/>
                </a:tc>
                <a:tc>
                  <a:txBody>
                    <a:bodyPr/>
                    <a:p>
                      <a:pPr>
                        <a:buNone/>
                      </a:pPr>
                      <a:r>
                        <a:rPr lang="en-US" sz="1200"/>
                        <a:t>Khuyến khích mô hình suy luận từng bước</a:t>
                      </a:r>
                      <a:endParaRPr lang="en-US" sz="1200"/>
                    </a:p>
                  </a:txBody>
                  <a:tcPr/>
                </a:tc>
                <a:tc>
                  <a:txBody>
                    <a:bodyPr/>
                    <a:p>
                      <a:pPr>
                        <a:buNone/>
                      </a:pPr>
                      <a:r>
                        <a:rPr lang="en-US" sz="1200"/>
                        <a:t>Bài toán logic, toán học</a:t>
                      </a:r>
                      <a:endParaRPr lang="en-US" sz="1200"/>
                    </a:p>
                  </a:txBody>
                  <a:tcPr/>
                </a:tc>
              </a:tr>
              <a:tr h="457200">
                <a:tc>
                  <a:txBody>
                    <a:bodyPr/>
                    <a:p>
                      <a:pPr>
                        <a:buNone/>
                      </a:pPr>
                      <a:r>
                        <a:rPr lang="en-US" sz="1200"/>
                        <a:t>Retrieval-Augmented Prompting</a:t>
                      </a:r>
                      <a:endParaRPr lang="en-US" sz="1200"/>
                    </a:p>
                  </a:txBody>
                  <a:tcPr/>
                </a:tc>
                <a:tc>
                  <a:txBody>
                    <a:bodyPr/>
                    <a:p>
                      <a:pPr>
                        <a:buNone/>
                      </a:pPr>
                      <a:r>
                        <a:rPr lang="en-US" sz="1200"/>
                        <a:t>Chèn ngữ cảnh được truy xuất vào prompt</a:t>
                      </a:r>
                      <a:endParaRPr lang="en-US" sz="1200"/>
                    </a:p>
                  </a:txBody>
                  <a:tcPr/>
                </a:tc>
                <a:tc>
                  <a:txBody>
                    <a:bodyPr/>
                    <a:p>
                      <a:pPr>
                        <a:buNone/>
                      </a:pPr>
                      <a:r>
                        <a:rPr lang="en-US" sz="1200"/>
                        <a:t>Kiến trúc RAG</a:t>
                      </a:r>
                      <a:endParaRPr lang="en-US" sz="1200"/>
                    </a:p>
                  </a:txBody>
                  <a:tcPr/>
                </a:tc>
              </a:tr>
            </a:tbl>
          </a:graphicData>
        </a:graphic>
      </p:graphicFrame>
      <p:sp>
        <p:nvSpPr>
          <p:cNvPr id="9" name="Text Box 8"/>
          <p:cNvSpPr txBox="1"/>
          <p:nvPr/>
        </p:nvSpPr>
        <p:spPr>
          <a:xfrm>
            <a:off x="575310" y="6025515"/>
            <a:ext cx="5801995" cy="275590"/>
          </a:xfrm>
          <a:prstGeom prst="rect">
            <a:avLst/>
          </a:prstGeom>
          <a:noFill/>
        </p:spPr>
        <p:txBody>
          <a:bodyPr wrap="square" rtlCol="0">
            <a:spAutoFit/>
          </a:bodyPr>
          <a:p>
            <a:r>
              <a:rPr lang="en-US" sz="1200">
                <a:latin typeface="Arial" panose="020B0604020202020204" pitchFamily="34" charset="0"/>
                <a:cs typeface="Arial" panose="020B0604020202020204" pitchFamily="34" charset="0"/>
              </a:rPr>
              <a:t>→ Kỹ thuật prompting được ứng dụng trong dự án là </a:t>
            </a:r>
            <a:r>
              <a:rPr lang="en-US" sz="1200" b="1">
                <a:latin typeface="Arial" panose="020B0604020202020204" pitchFamily="34" charset="0"/>
                <a:cs typeface="Arial" panose="020B0604020202020204" pitchFamily="34" charset="0"/>
              </a:rPr>
              <a:t>Retrieval-Augmented</a:t>
            </a:r>
            <a:endParaRPr lang="en-US" sz="1200" b="1">
              <a:latin typeface="Arial" panose="020B0604020202020204" pitchFamily="34" charset="0"/>
              <a:cs typeface="Arial" panose="020B0604020202020204" pitchFamily="34" charset="0"/>
            </a:endParaRPr>
          </a:p>
        </p:txBody>
      </p:sp>
      <p:cxnSp>
        <p:nvCxnSpPr>
          <p:cNvPr id="10" name="Straight Connector 9"/>
          <p:cNvCxnSpPr/>
          <p:nvPr/>
        </p:nvCxnSpPr>
        <p:spPr>
          <a:xfrm>
            <a:off x="6520180" y="2545080"/>
            <a:ext cx="22860" cy="4194175"/>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304800" y="63500"/>
            <a:ext cx="11972290" cy="492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5. Khối đặt câu lệnh cho LLM - Prompting (ứng dụng) </a:t>
            </a:r>
            <a:endPar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55689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 name="Text Box 5"/>
          <p:cNvSpPr txBox="1"/>
          <p:nvPr/>
        </p:nvSpPr>
        <p:spPr>
          <a:xfrm>
            <a:off x="382905" y="822960"/>
            <a:ext cx="6169660" cy="1695450"/>
          </a:xfrm>
          <a:prstGeom prst="rect">
            <a:avLst/>
          </a:prstGeom>
          <a:noFill/>
        </p:spPr>
        <p:txBody>
          <a:bodyPr wrap="square" rtlCol="0">
            <a:noAutofit/>
          </a:bodyPr>
          <a:p>
            <a:r>
              <a:rPr lang="en-US" sz="1100"/>
              <a:t>- Vai trò là trợ lý tư vấn bán nến, tính cách vui vẻ thân thiện</a:t>
            </a:r>
            <a:endParaRPr lang="en-US" sz="1100"/>
          </a:p>
          <a:p>
            <a:r>
              <a:rPr lang="en-US" sz="1100"/>
              <a:t>- Chỉ sử dụng thông tin từ tài liệu truy xuất</a:t>
            </a:r>
            <a:endParaRPr lang="en-US" sz="1100"/>
          </a:p>
          <a:p>
            <a:r>
              <a:rPr lang="en-US" sz="1100"/>
              <a:t>- Trả lời cùng ngôn ngữ với ngôn ngữ được hỏi</a:t>
            </a:r>
            <a:endParaRPr lang="en-US" sz="1100"/>
          </a:p>
          <a:p>
            <a:r>
              <a:rPr lang="en-US" sz="1100"/>
              <a:t>- Không sử dụng tài liệu bên ngoài, không đoán, không giả thuyết hay tìm kiếm website</a:t>
            </a:r>
            <a:endParaRPr lang="en-US" sz="1100"/>
          </a:p>
          <a:p>
            <a:r>
              <a:rPr lang="en-US" sz="1100"/>
              <a:t>- Nếu thông tin không rõ thì nói “Không tìm thấy dựa trên tài liệu được cung cấp”</a:t>
            </a:r>
            <a:endParaRPr lang="en-US" sz="1100"/>
          </a:p>
          <a:p>
            <a:r>
              <a:rPr lang="en-US" sz="1100"/>
              <a:t>- Các hướng dẫn mẫu khi trả lời về thông tin sản phẩm</a:t>
            </a:r>
            <a:endParaRPr lang="en-US" sz="1100"/>
          </a:p>
          <a:p>
            <a:r>
              <a:rPr lang="en-US" sz="1100"/>
              <a:t>- Các hướng dẫn mấu khi trả lời về tư vấn sản phẩm phủ hợp</a:t>
            </a:r>
            <a:endParaRPr lang="en-US" sz="1100"/>
          </a:p>
          <a:p>
            <a:r>
              <a:rPr lang="en-US" sz="1100"/>
              <a:t>- Lịch sử hội thoại (tùy chọn)</a:t>
            </a:r>
            <a:endParaRPr lang="en-US" sz="1100"/>
          </a:p>
          <a:p>
            <a:r>
              <a:rPr lang="en-US" sz="1100"/>
              <a:t>- Ngữ cảnh của câu hỏi</a:t>
            </a:r>
            <a:endParaRPr lang="en-US" sz="1100"/>
          </a:p>
          <a:p>
            <a:r>
              <a:rPr lang="en-US" sz="1100"/>
              <a:t>- Câu hỏi</a:t>
            </a:r>
            <a:endParaRPr lang="en-US" sz="1100"/>
          </a:p>
        </p:txBody>
      </p:sp>
      <p:sp>
        <p:nvSpPr>
          <p:cNvPr id="7" name="Google Shape;162;p19"/>
          <p:cNvSpPr txBox="1"/>
          <p:nvPr/>
        </p:nvSpPr>
        <p:spPr>
          <a:xfrm>
            <a:off x="382905" y="556260"/>
            <a:ext cx="2869565" cy="32385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Biểu mẫu prompting trong dự án</a:t>
            </a:r>
            <a:endParaRPr lang="en-US" sz="1300"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
        <p:nvSpPr>
          <p:cNvPr id="4" name="Google Shape;162;p19"/>
          <p:cNvSpPr txBox="1"/>
          <p:nvPr/>
        </p:nvSpPr>
        <p:spPr>
          <a:xfrm>
            <a:off x="304800" y="2470150"/>
            <a:ext cx="2869565" cy="40005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i="0" u="none" strike="noStrike" cap="none">
                <a:solidFill>
                  <a:schemeClr val="tx1"/>
                </a:solidFill>
                <a:latin typeface="Inter" panose="02000503000000020004"/>
                <a:ea typeface="Inter" panose="02000503000000020004"/>
                <a:cs typeface="Inter" panose="02000503000000020004"/>
                <a:sym typeface="Inter" panose="02000503000000020004"/>
              </a:rPr>
              <a:t>Triển khai trong biểu mẫu</a:t>
            </a:r>
            <a:endParaRPr lang="en-US" sz="1300"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
        <p:nvSpPr>
          <p:cNvPr id="3" name="Text Box 2"/>
          <p:cNvSpPr txBox="1"/>
          <p:nvPr/>
        </p:nvSpPr>
        <p:spPr>
          <a:xfrm>
            <a:off x="304800" y="2765425"/>
            <a:ext cx="3647440" cy="3896995"/>
          </a:xfrm>
          <a:prstGeom prst="rect">
            <a:avLst/>
          </a:prstGeom>
          <a:noFill/>
          <a:ln>
            <a:solidFill>
              <a:schemeClr val="accent4"/>
            </a:solidFill>
          </a:ln>
        </p:spPr>
        <p:txBody>
          <a:bodyPr wrap="square" rtlCol="0">
            <a:noAutofit/>
          </a:bodyPr>
          <a:p>
            <a:r>
              <a:rPr lang="en-US" altLang="en-US" sz="900"/>
              <a:t>template = </a:t>
            </a:r>
            <a:endParaRPr lang="en-US" altLang="en-US" sz="900"/>
          </a:p>
          <a:p>
            <a:r>
              <a:rPr lang="en-US" altLang="en-US" sz="900"/>
              <a:t>(</a:t>
            </a:r>
            <a:endParaRPr lang="en-US" altLang="en-US" sz="900"/>
          </a:p>
          <a:p>
            <a:r>
              <a:rPr lang="en-US" altLang="en-US" sz="900"/>
              <a:t>"You are a helpful, friendly, and natural assistant for a private 	knowledge base.\n"</a:t>
            </a:r>
            <a:endParaRPr lang="en-US" altLang="en-US" sz="900"/>
          </a:p>
          <a:p>
            <a:r>
              <a:rPr lang="en-US" altLang="en-US" sz="900"/>
              <a:t> "\n"</a:t>
            </a:r>
            <a:endParaRPr lang="en-US" altLang="en-US" sz="900"/>
          </a:p>
          <a:p>
            <a:r>
              <a:rPr lang="en-US" altLang="en-US" sz="900"/>
              <a:t> "RULES:\n"</a:t>
            </a:r>
            <a:endParaRPr lang="en-US" altLang="en-US" sz="900"/>
          </a:p>
          <a:p>
            <a:r>
              <a:rPr lang="en-US" altLang="en-US" sz="900"/>
              <a:t>"1) Use ONLY the provided context to answer.\n"</a:t>
            </a:r>
            <a:endParaRPr lang="en-US" altLang="en-US" sz="900"/>
          </a:p>
          <a:p>
            <a:r>
              <a:rPr lang="en-US" altLang="en-US" sz="900"/>
              <a:t>        "\n"</a:t>
            </a:r>
            <a:endParaRPr lang="en-US" altLang="en-US" sz="900"/>
          </a:p>
          <a:p>
            <a:r>
              <a:rPr lang="en-US" altLang="en-US" sz="900"/>
              <a:t>"2) Answer in {language} language.\n"</a:t>
            </a:r>
            <a:endParaRPr lang="en-US" altLang="en-US" sz="900"/>
          </a:p>
          <a:p>
            <a:r>
              <a:rPr lang="en-US" altLang="en-US" sz="900"/>
              <a:t>        "\n"</a:t>
            </a:r>
            <a:endParaRPr lang="en-US" altLang="en-US" sz="900"/>
          </a:p>
          <a:p>
            <a:r>
              <a:rPr lang="en-US" altLang="en-US" sz="900"/>
              <a:t>"3) Do NOT use outside knowledge, guessing, assumptions, or 	web information.\n"</a:t>
            </a:r>
            <a:endParaRPr lang="en-US" altLang="en-US" sz="900"/>
          </a:p>
          <a:p>
            <a:r>
              <a:rPr lang="en-US" altLang="en-US" sz="900"/>
              <a:t>        "\n"</a:t>
            </a:r>
            <a:endParaRPr lang="en-US" altLang="en-US" sz="900"/>
          </a:p>
          <a:p>
            <a:r>
              <a:rPr lang="en-US" altLang="en-US" sz="900"/>
              <a:t>"4) If the answer cannot be clearly found in the provided context, 	reply ONLY with:\n"</a:t>
            </a:r>
            <a:endParaRPr lang="en-US" altLang="en-US" sz="900"/>
          </a:p>
          <a:p>
            <a:r>
              <a:rPr lang="en-US" altLang="en-US" sz="900"/>
              <a:t>        "\"I don't know based on the provided documents, you should 	contact admin for detail information.\"\n"</a:t>
            </a:r>
            <a:endParaRPr lang="en-US" altLang="en-US" sz="900"/>
          </a:p>
          <a:p>
            <a:r>
              <a:rPr lang="en-US" altLang="en-US" sz="900"/>
              <a:t>        "Do not add extra explanations.\n"</a:t>
            </a:r>
            <a:endParaRPr lang="en-US" altLang="en-US" sz="900"/>
          </a:p>
          <a:p>
            <a:r>
              <a:rPr lang="en-US" altLang="en-US" sz="900"/>
              <a:t>        "\n"</a:t>
            </a:r>
            <a:endParaRPr lang="en-US" altLang="en-US" sz="900"/>
          </a:p>
          <a:p>
            <a:r>
              <a:rPr lang="en-US" altLang="en-US" sz="900"/>
              <a:t>"5) Never say phrases such as:\n"</a:t>
            </a:r>
            <a:endParaRPr lang="en-US" altLang="en-US" sz="900"/>
          </a:p>
          <a:p>
            <a:r>
              <a:rPr lang="en-US" altLang="en-US" sz="900"/>
              <a:t>        "\"According to the provided documents\"\n"</a:t>
            </a:r>
            <a:endParaRPr lang="en-US" altLang="en-US" sz="900"/>
          </a:p>
          <a:p>
            <a:r>
              <a:rPr lang="en-US" altLang="en-US" sz="900"/>
              <a:t>        "\"Based on the context\"\n"</a:t>
            </a:r>
            <a:endParaRPr lang="en-US" altLang="en-US" sz="900"/>
          </a:p>
          <a:p>
            <a:r>
              <a:rPr lang="en-US" altLang="en-US" sz="900"/>
              <a:t>        "\"The documents indicate\"\n"</a:t>
            </a:r>
            <a:endParaRPr lang="en-US" altLang="en-US" sz="900"/>
          </a:p>
          <a:p>
            <a:r>
              <a:rPr lang="en-US" altLang="en-US" sz="900"/>
              <a:t>        "or similar machine-like wording.\n"</a:t>
            </a:r>
            <a:endParaRPr lang="en-US" altLang="en-US" sz="900"/>
          </a:p>
          <a:p>
            <a:r>
              <a:rPr lang="en-US" altLang="en-US" sz="900"/>
              <a:t>        "\n"</a:t>
            </a:r>
            <a:endParaRPr lang="en-US" altLang="en-US" sz="900"/>
          </a:p>
          <a:p>
            <a:r>
              <a:rPr lang="en-US" altLang="en-US" sz="900"/>
              <a:t>"6) Generate natural and human-friendly answers.\n"</a:t>
            </a:r>
            <a:endParaRPr lang="en-US" altLang="en-US" sz="900"/>
          </a:p>
          <a:p>
            <a:r>
              <a:rPr lang="en-US" altLang="en-US" sz="900"/>
              <a:t>        "\n"</a:t>
            </a:r>
            <a:endParaRPr lang="en-US" altLang="en-US" sz="900"/>
          </a:p>
          <a:p>
            <a:r>
              <a:rPr lang="en-US" altLang="en-US" sz="900"/>
              <a:t>        </a:t>
            </a:r>
            <a:endParaRPr lang="en-US" altLang="en-US" sz="900"/>
          </a:p>
          <a:p>
            <a:r>
              <a:rPr lang="en-US" altLang="en-US" sz="900"/>
              <a:t>        </a:t>
            </a:r>
            <a:endParaRPr lang="en-US" altLang="en-US" sz="900"/>
          </a:p>
        </p:txBody>
      </p:sp>
      <p:sp>
        <p:nvSpPr>
          <p:cNvPr id="5" name="Text Box 4"/>
          <p:cNvSpPr txBox="1"/>
          <p:nvPr/>
        </p:nvSpPr>
        <p:spPr>
          <a:xfrm>
            <a:off x="3952240" y="2764790"/>
            <a:ext cx="4013835" cy="3892550"/>
          </a:xfrm>
          <a:prstGeom prst="rect">
            <a:avLst/>
          </a:prstGeom>
          <a:noFill/>
          <a:ln>
            <a:solidFill>
              <a:srgbClr val="7030A0"/>
            </a:solidFill>
          </a:ln>
        </p:spPr>
        <p:txBody>
          <a:bodyPr wrap="square" rtlCol="0">
            <a:noAutofit/>
          </a:bodyPr>
          <a:p>
            <a:r>
              <a:rPr lang="en-US" altLang="en-US" sz="900">
                <a:sym typeface="+mn-ea"/>
              </a:rPr>
              <a:t>"7) When the user asks for product recommendations:\n"</a:t>
            </a:r>
            <a:endParaRPr lang="en-US" altLang="en-US" sz="900"/>
          </a:p>
          <a:p>
            <a:r>
              <a:rPr lang="en-US" altLang="en-US" sz="900">
                <a:sym typeface="+mn-ea"/>
              </a:rPr>
              <a:t>        "   - Recommend the most relevant products from the context.\n"</a:t>
            </a:r>
            <a:endParaRPr lang="en-US" altLang="en-US" sz="900"/>
          </a:p>
          <a:p>
            <a:r>
              <a:rPr lang="en-US" altLang="en-US" sz="900">
                <a:sym typeface="+mn-ea"/>
              </a:rPr>
              <a:t>        "   - Explain briefly why each product matches the user's request.\n"</a:t>
            </a:r>
            <a:endParaRPr lang="en-US" altLang="en-US" sz="900"/>
          </a:p>
          <a:p>
            <a:r>
              <a:rPr lang="en-US" altLang="en-US" sz="900">
                <a:sym typeface="+mn-ea"/>
              </a:rPr>
              <a:t>        "   - Focus on fragrance, mood, atmosphere, occasion, and benefits.\n"</a:t>
            </a:r>
            <a:endParaRPr lang="en-US" altLang="en-US" sz="900"/>
          </a:p>
          <a:p>
            <a:r>
              <a:rPr lang="en-US" altLang="en-US" sz="900">
                <a:sym typeface="+mn-ea"/>
              </a:rPr>
              <a:t>        "   - Help the user make a decision.\n"</a:t>
            </a:r>
            <a:endParaRPr lang="en-US" altLang="en-US" sz="900"/>
          </a:p>
          <a:p>
            <a:r>
              <a:rPr lang="en-US" altLang="en-US" sz="900">
                <a:sym typeface="+mn-ea"/>
              </a:rPr>
              <a:t>        "   - Do NOT simply copy document content.\n"</a:t>
            </a:r>
            <a:endParaRPr lang="en-US" altLang="en-US" sz="900"/>
          </a:p>
          <a:p>
            <a:r>
              <a:rPr lang="en-US" altLang="en-US" sz="900">
                <a:sym typeface="+mn-ea"/>
              </a:rPr>
              <a:t>        "\n"</a:t>
            </a:r>
            <a:endParaRPr lang="en-US" altLang="en-US" sz="900">
              <a:sym typeface="+mn-ea"/>
            </a:endParaRPr>
          </a:p>
          <a:p>
            <a:r>
              <a:rPr lang="en-US" altLang="en-US" sz="900">
                <a:sym typeface="+mn-ea"/>
              </a:rPr>
              <a:t>"8) Product documents may contain fields such as:\n"</a:t>
            </a:r>
            <a:endParaRPr lang="en-US" altLang="en-US" sz="900"/>
          </a:p>
          <a:p>
            <a:r>
              <a:rPr lang="en-US" altLang="en-US" sz="900">
                <a:sym typeface="+mn-ea"/>
              </a:rPr>
              <a:t>        "   Product Name\n"</a:t>
            </a:r>
            <a:endParaRPr lang="en-US" altLang="en-US" sz="900"/>
          </a:p>
          <a:p>
            <a:r>
              <a:rPr lang="en-US" altLang="en-US" sz="900">
                <a:sym typeface="+mn-ea"/>
              </a:rPr>
              <a:t>        "   Brand\n"</a:t>
            </a:r>
            <a:endParaRPr lang="en-US" altLang="en-US" sz="900"/>
          </a:p>
          <a:p>
            <a:r>
              <a:rPr lang="en-US" altLang="en-US" sz="900">
                <a:sym typeface="+mn-ea"/>
              </a:rPr>
              <a:t>        "   Price\n"</a:t>
            </a:r>
            <a:endParaRPr lang="en-US" altLang="en-US" sz="900"/>
          </a:p>
          <a:p>
            <a:r>
              <a:rPr lang="en-US" altLang="en-US" sz="900">
                <a:sym typeface="+mn-ea"/>
              </a:rPr>
              <a:t>        "   Color\n"</a:t>
            </a:r>
            <a:endParaRPr lang="en-US" altLang="en-US" sz="900"/>
          </a:p>
          <a:p>
            <a:r>
              <a:rPr lang="en-US" altLang="en-US" sz="900">
                <a:sym typeface="+mn-ea"/>
              </a:rPr>
              <a:t>        "   Weight\n"</a:t>
            </a:r>
            <a:endParaRPr lang="en-US" altLang="en-US" sz="900"/>
          </a:p>
          <a:p>
            <a:r>
              <a:rPr lang="en-US" altLang="en-US" sz="900">
                <a:sym typeface="+mn-ea"/>
              </a:rPr>
              <a:t>        "   Material\n"</a:t>
            </a:r>
            <a:endParaRPr lang="en-US" altLang="en-US" sz="900"/>
          </a:p>
          <a:p>
            <a:r>
              <a:rPr lang="en-US" altLang="en-US" sz="900">
                <a:sym typeface="+mn-ea"/>
              </a:rPr>
              <a:t>        "   Fragrance Family\n"</a:t>
            </a:r>
            <a:endParaRPr lang="en-US" altLang="en-US" sz="900"/>
          </a:p>
          <a:p>
            <a:r>
              <a:rPr lang="en-US" altLang="en-US" sz="900">
                <a:sym typeface="+mn-ea"/>
              </a:rPr>
              <a:t>        "   Top Notes\n"</a:t>
            </a:r>
            <a:endParaRPr lang="en-US" altLang="en-US" sz="900"/>
          </a:p>
          <a:p>
            <a:r>
              <a:rPr lang="en-US" altLang="en-US" sz="900">
                <a:sym typeface="+mn-ea"/>
              </a:rPr>
              <a:t>        "   Middle Notes\n"</a:t>
            </a:r>
            <a:endParaRPr lang="en-US" altLang="en-US" sz="900"/>
          </a:p>
          <a:p>
            <a:r>
              <a:rPr lang="en-US" altLang="en-US" sz="900">
                <a:sym typeface="+mn-ea"/>
              </a:rPr>
              <a:t>        "   Base Notes\n"</a:t>
            </a:r>
            <a:endParaRPr lang="en-US" altLang="en-US" sz="900"/>
          </a:p>
          <a:p>
            <a:r>
              <a:rPr lang="en-US" altLang="en-US" sz="900">
                <a:sym typeface="+mn-ea"/>
              </a:rPr>
              <a:t>        "   Keywords\n"</a:t>
            </a:r>
            <a:endParaRPr lang="en-US" altLang="en-US" sz="900"/>
          </a:p>
          <a:p>
            <a:r>
              <a:rPr lang="en-US" altLang="en-US" sz="900">
                <a:sym typeface="+mn-ea"/>
              </a:rPr>
              <a:t>        "\n"</a:t>
            </a:r>
            <a:endParaRPr lang="en-US" altLang="en-US" sz="900"/>
          </a:p>
          <a:p>
            <a:r>
              <a:rPr lang="en-US" altLang="en-US" sz="900">
                <a:sym typeface="+mn-ea"/>
              </a:rPr>
              <a:t>        "   Only show fields that are relevant to the user's question.\n"</a:t>
            </a:r>
            <a:endParaRPr lang="en-US" altLang="en-US" sz="900"/>
          </a:p>
          <a:p>
            <a:r>
              <a:rPr lang="en-US" altLang="en-US" sz="900">
                <a:sym typeface="+mn-ea"/>
              </a:rPr>
              <a:t>        "   Do NOT dump all product attributes automatically.\n"</a:t>
            </a:r>
            <a:endParaRPr lang="en-US" altLang="en-US" sz="900"/>
          </a:p>
          <a:p>
            <a:r>
              <a:rPr lang="en-US" altLang="en-US" sz="900">
                <a:sym typeface="+mn-ea"/>
              </a:rPr>
              <a:t>        "\n"</a:t>
            </a:r>
            <a:endParaRPr lang="en-US" altLang="en-US" sz="900">
              <a:sym typeface="+mn-ea"/>
            </a:endParaRPr>
          </a:p>
          <a:p>
            <a:r>
              <a:rPr lang="en-US" altLang="en-US" sz="900">
                <a:sym typeface="+mn-ea"/>
              </a:rPr>
              <a:t>"9) If the user asks specifically about:\n"</a:t>
            </a:r>
            <a:endParaRPr lang="en-US" altLang="en-US" sz="900"/>
          </a:p>
          <a:p>
            <a:r>
              <a:rPr lang="en-US" altLang="en-US" sz="900">
                <a:sym typeface="+mn-ea"/>
              </a:rPr>
              <a:t>        "   - Price\n"</a:t>
            </a:r>
            <a:endParaRPr lang="en-US" altLang="en-US" sz="900"/>
          </a:p>
          <a:p>
            <a:r>
              <a:rPr lang="en-US" altLang="en-US" sz="900">
                <a:sym typeface="+mn-ea"/>
              </a:rPr>
              <a:t>        "   - Weight\n"</a:t>
            </a:r>
            <a:endParaRPr lang="en-US" altLang="en-US" sz="900"/>
          </a:p>
          <a:p>
            <a:r>
              <a:rPr lang="en-US" altLang="en-US" sz="900">
                <a:sym typeface="+mn-ea"/>
              </a:rPr>
              <a:t>        "   - Material\n"</a:t>
            </a:r>
            <a:endParaRPr lang="en-US" altLang="en-US" sz="900"/>
          </a:p>
          <a:p>
            <a:r>
              <a:rPr lang="en-US" altLang="en-US" sz="900">
                <a:sym typeface="+mn-ea"/>
              </a:rPr>
              <a:t>        </a:t>
            </a:r>
            <a:r>
              <a:rPr lang="en-US" altLang="en-US" sz="900">
                <a:sym typeface="+mn-ea"/>
              </a:rPr>
              <a:t>"   - Specifications\n"</a:t>
            </a:r>
            <a:endParaRPr lang="en-US" altLang="en-US" sz="900"/>
          </a:p>
          <a:p>
            <a:endParaRPr lang="en-US" altLang="en-US" sz="900">
              <a:sym typeface="+mn-ea"/>
            </a:endParaRPr>
          </a:p>
        </p:txBody>
      </p:sp>
      <p:sp>
        <p:nvSpPr>
          <p:cNvPr id="8" name="Text Box 7"/>
          <p:cNvSpPr txBox="1"/>
          <p:nvPr/>
        </p:nvSpPr>
        <p:spPr>
          <a:xfrm>
            <a:off x="7966075" y="2764790"/>
            <a:ext cx="3923030" cy="3892550"/>
          </a:xfrm>
          <a:prstGeom prst="rect">
            <a:avLst/>
          </a:prstGeom>
          <a:noFill/>
          <a:ln>
            <a:solidFill>
              <a:srgbClr val="7030A0"/>
            </a:solidFill>
          </a:ln>
        </p:spPr>
        <p:txBody>
          <a:bodyPr wrap="square" rtlCol="0">
            <a:noAutofit/>
          </a:bodyPr>
          <a:p>
            <a:r>
              <a:rPr lang="en-US" altLang="en-US" sz="900">
                <a:sym typeface="+mn-ea"/>
              </a:rPr>
              <a:t>        "   Then provide those details from the context.\n"</a:t>
            </a:r>
            <a:endParaRPr lang="en-US" altLang="en-US" sz="900"/>
          </a:p>
          <a:p>
            <a:r>
              <a:rPr lang="en-US" altLang="en-US" sz="900">
                <a:sym typeface="+mn-ea"/>
              </a:rPr>
              <a:t>        "\n"</a:t>
            </a:r>
            <a:endParaRPr lang="en-US" altLang="en-US" sz="900">
              <a:sym typeface="+mn-ea"/>
            </a:endParaRPr>
          </a:p>
          <a:p>
            <a:r>
              <a:rPr lang="en-US" altLang="en-US" sz="900">
                <a:sym typeface="+mn-ea"/>
              </a:rPr>
              <a:t>"10) Do NOT mix languages in the final answer unless the user explicitly requests it.\n"</a:t>
            </a:r>
            <a:endParaRPr lang="en-US" altLang="en-US" sz="900"/>
          </a:p>
          <a:p>
            <a:r>
              <a:rPr lang="en-US" altLang="en-US" sz="900">
                <a:sym typeface="+mn-ea"/>
              </a:rPr>
              <a:t>        "\n"</a:t>
            </a:r>
            <a:endParaRPr lang="en-US" altLang="en-US" sz="900">
              <a:sym typeface="+mn-ea"/>
            </a:endParaRPr>
          </a:p>
          <a:p>
            <a:r>
              <a:rPr lang="en-US" altLang="en-US" sz="900">
                <a:sym typeface="+mn-ea"/>
              </a:rPr>
              <a:t>"11) Do NOT show image paths, file paths, internal IDs, vector IDs, source file names, or creation dates.\n"</a:t>
            </a:r>
            <a:endParaRPr lang="en-US" altLang="en-US" sz="900"/>
          </a:p>
          <a:p>
            <a:r>
              <a:rPr lang="en-US" altLang="en-US" sz="900">
                <a:sym typeface="+mn-ea"/>
              </a:rPr>
              <a:t>        "\n"</a:t>
            </a:r>
            <a:endParaRPr lang="en-US" altLang="en-US" sz="900"/>
          </a:p>
          <a:p>
            <a:r>
              <a:rPr lang="en-US" altLang="en-US" sz="900">
                <a:sym typeface="+mn-ea"/>
              </a:rPr>
              <a:t>        "RESPONSE STYLE:\n"</a:t>
            </a:r>
            <a:endParaRPr lang="en-US" altLang="en-US" sz="900"/>
          </a:p>
          <a:p>
            <a:r>
              <a:rPr lang="en-US" altLang="en-US" sz="900">
                <a:sym typeface="+mn-ea"/>
              </a:rPr>
              <a:t>        "- Use Markdown.\n"</a:t>
            </a:r>
            <a:endParaRPr lang="en-US" altLang="en-US" sz="900"/>
          </a:p>
          <a:p>
            <a:r>
              <a:rPr lang="en-US" altLang="en-US" sz="900">
                <a:sym typeface="+mn-ea"/>
              </a:rPr>
              <a:t>        "- Use headings when listing multiple products.\n"</a:t>
            </a:r>
            <a:endParaRPr lang="en-US" altLang="en-US" sz="900"/>
          </a:p>
          <a:p>
            <a:r>
              <a:rPr lang="en-US" altLang="en-US" sz="900">
                <a:sym typeface="+mn-ea"/>
              </a:rPr>
              <a:t>        "- Use bullet points when presenting attributes.\n"</a:t>
            </a:r>
            <a:endParaRPr lang="en-US" altLang="en-US" sz="900"/>
          </a:p>
          <a:p>
            <a:r>
              <a:rPr lang="en-US" altLang="en-US" sz="900">
                <a:sym typeface="+mn-ea"/>
              </a:rPr>
              <a:t>        "- Do NOT use tables.\n"</a:t>
            </a:r>
            <a:endParaRPr lang="en-US" altLang="en-US" sz="900"/>
          </a:p>
          <a:p>
            <a:r>
              <a:rPr lang="en-US" altLang="en-US" sz="900">
                <a:sym typeface="+mn-ea"/>
              </a:rPr>
              <a:t>        "- Use line breaks generously for readability.\n"</a:t>
            </a:r>
            <a:endParaRPr lang="en-US" altLang="en-US" sz="900"/>
          </a:p>
          <a:p>
            <a:r>
              <a:rPr lang="en-US" altLang="en-US" sz="900">
                <a:sym typeface="+mn-ea"/>
              </a:rPr>
              <a:t>        "- Keep answers concise but helpful.\n"</a:t>
            </a:r>
            <a:endParaRPr lang="en-US" altLang="en-US" sz="900"/>
          </a:p>
          <a:p>
            <a:r>
              <a:rPr lang="en-US" altLang="en-US" sz="900">
                <a:sym typeface="+mn-ea"/>
              </a:rPr>
              <a:t>        "- Never output large blocks of raw catalog data.\n"</a:t>
            </a:r>
            <a:endParaRPr lang="en-US" altLang="en-US" sz="900"/>
          </a:p>
          <a:p>
            <a:r>
              <a:rPr lang="en-US" altLang="en-US" sz="900">
                <a:sym typeface="+mn-ea"/>
              </a:rPr>
              <a:t>        "- Highlight prices, discount percentages, coupon codes, and 	important dates using bold formatting.\n"</a:t>
            </a:r>
            <a:endParaRPr lang="en-US" altLang="en-US" sz="900"/>
          </a:p>
          <a:p>
            <a:r>
              <a:rPr lang="en-US" altLang="en-US" sz="900">
                <a:sym typeface="+mn-ea"/>
              </a:rPr>
              <a:t>        "\n"</a:t>
            </a:r>
            <a:endParaRPr lang="en-US" altLang="en-US" sz="900"/>
          </a:p>
          <a:p>
            <a:r>
              <a:rPr lang="en-US" altLang="en-US" sz="900">
                <a:sym typeface="+mn-ea"/>
              </a:rPr>
              <a:t>        "Chat History:\n"</a:t>
            </a:r>
            <a:endParaRPr lang="en-US" altLang="en-US" sz="900"/>
          </a:p>
          <a:p>
            <a:r>
              <a:rPr lang="en-US" altLang="en-US" sz="900">
                <a:sym typeface="+mn-ea"/>
              </a:rPr>
              <a:t>        "{chat_history}\n"</a:t>
            </a:r>
            <a:endParaRPr lang="en-US" altLang="en-US" sz="900"/>
          </a:p>
          <a:p>
            <a:r>
              <a:rPr lang="en-US" altLang="en-US" sz="900">
                <a:sym typeface="+mn-ea"/>
              </a:rPr>
              <a:t>        "\n"</a:t>
            </a:r>
            <a:endParaRPr lang="en-US" altLang="en-US" sz="900"/>
          </a:p>
          <a:p>
            <a:r>
              <a:rPr lang="en-US" altLang="en-US" sz="900">
                <a:sym typeface="+mn-ea"/>
              </a:rPr>
              <a:t>        "Context:\n"</a:t>
            </a:r>
            <a:endParaRPr lang="en-US" altLang="en-US" sz="900"/>
          </a:p>
          <a:p>
            <a:r>
              <a:rPr lang="en-US" altLang="en-US" sz="900">
                <a:sym typeface="+mn-ea"/>
              </a:rPr>
              <a:t>        "{context}\n"</a:t>
            </a:r>
            <a:endParaRPr lang="en-US" altLang="en-US" sz="900"/>
          </a:p>
          <a:p>
            <a:r>
              <a:rPr lang="en-US" altLang="en-US" sz="900">
                <a:sym typeface="+mn-ea"/>
              </a:rPr>
              <a:t>        "\n"</a:t>
            </a:r>
            <a:endParaRPr lang="en-US" altLang="en-US" sz="900"/>
          </a:p>
          <a:p>
            <a:r>
              <a:rPr lang="en-US" altLang="en-US" sz="900">
                <a:sym typeface="+mn-ea"/>
              </a:rPr>
              <a:t>        "Question:\n"</a:t>
            </a:r>
            <a:endParaRPr lang="en-US" altLang="en-US" sz="900"/>
          </a:p>
          <a:p>
            <a:r>
              <a:rPr lang="en-US" altLang="en-US" sz="900">
                <a:sym typeface="+mn-ea"/>
              </a:rPr>
              <a:t>        "{question}"</a:t>
            </a:r>
            <a:endParaRPr lang="en-US" altLang="en-US" sz="900"/>
          </a:p>
          <a:p>
            <a:r>
              <a:rPr lang="en-US" altLang="en-US" sz="900">
                <a:sym typeface="+mn-ea"/>
              </a:rPr>
              <a:t>    )</a:t>
            </a:r>
            <a:endParaRPr lang="en-US" altLang="en-US" sz="900">
              <a:sym typeface="+mn-ea"/>
            </a:endParaRPr>
          </a:p>
          <a:p>
            <a:endParaRPr lang="en-US" altLang="en-US" sz="90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304800" y="190500"/>
            <a:ext cx="11972290" cy="492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6. Khối mô hình ngôn ngữ lớn - LLM</a:t>
            </a:r>
            <a:endParaRPr lang="en-US" sz="32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Google Shape;162;p19"/>
          <p:cNvSpPr txBox="1"/>
          <p:nvPr/>
        </p:nvSpPr>
        <p:spPr>
          <a:xfrm>
            <a:off x="304800" y="949960"/>
            <a:ext cx="11029950" cy="1318895"/>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2000" b="0" i="0" u="none" strike="noStrike" cap="none">
                <a:solidFill>
                  <a:srgbClr val="5A6275"/>
                </a:solidFill>
                <a:latin typeface="Inter" panose="02000503000000020004"/>
                <a:ea typeface="Inter" panose="02000503000000020004"/>
                <a:cs typeface="Inter" panose="02000503000000020004"/>
                <a:sym typeface="Inter" panose="02000503000000020004"/>
              </a:rPr>
              <a:t>Mô hình ngôn ngữ lớn (LLM)</a:t>
            </a:r>
            <a:r>
              <a:rPr lang="en-US" sz="1300" b="0" i="0" u="none" strike="noStrike" cap="none">
                <a:solidFill>
                  <a:srgbClr val="5A6275"/>
                </a:solidFill>
                <a:latin typeface="Inter" panose="02000503000000020004"/>
                <a:ea typeface="Inter" panose="02000503000000020004"/>
                <a:cs typeface="Inter" panose="02000503000000020004"/>
                <a:sym typeface="Inter" panose="02000503000000020004"/>
              </a:rPr>
              <a:t> </a:t>
            </a: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là mô hình học sâu được huấn luyện trên lượng lớn dữ liệu văn bản nhằm hiểu và sinh ngôn ngữ tự nhiên. Trong hệ thống RAG, LLM không trực tiếp tìm kiếm dữ liệu mà chịu trách nhiệm phân tích ngữ cảnh được truy xuất, hiểu yêu cầu prompt đã tạo, suy luận, tổng hợp và tạo ra câu trả lời tự nhiên cho người dùng</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
        <p:nvSpPr>
          <p:cNvPr id="7" name="Google Shape;162;p19"/>
          <p:cNvSpPr txBox="1"/>
          <p:nvPr/>
        </p:nvSpPr>
        <p:spPr>
          <a:xfrm>
            <a:off x="304800" y="2409190"/>
            <a:ext cx="4552950" cy="40005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So sánh vai trò của LLM đơn thuần và kết hợp với RAG</a:t>
            </a:r>
            <a:endParaRPr lang="en-US" sz="1300"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graphicFrame>
        <p:nvGraphicFramePr>
          <p:cNvPr id="8" name="Table 7"/>
          <p:cNvGraphicFramePr/>
          <p:nvPr>
            <p:custDataLst>
              <p:tags r:id="rId2"/>
            </p:custDataLst>
          </p:nvPr>
        </p:nvGraphicFramePr>
        <p:xfrm>
          <a:off x="304800" y="2809240"/>
          <a:ext cx="5029200" cy="1535430"/>
        </p:xfrm>
        <a:graphic>
          <a:graphicData uri="http://schemas.openxmlformats.org/drawingml/2006/table">
            <a:tbl>
              <a:tblPr firstRow="1" bandRow="1">
                <a:tableStyleId>{5C22544A-7EE6-4342-B048-85BDC9FD1C3A}</a:tableStyleId>
              </a:tblPr>
              <a:tblGrid>
                <a:gridCol w="2279015"/>
                <a:gridCol w="2750185"/>
              </a:tblGrid>
              <a:tr h="359410">
                <a:tc>
                  <a:txBody>
                    <a:bodyPr/>
                    <a:p>
                      <a:pPr algn="ctr">
                        <a:buNone/>
                      </a:pPr>
                      <a:r>
                        <a:rPr lang="en-US" sz="1200"/>
                        <a:t>LLM đơn thuần</a:t>
                      </a:r>
                      <a:endParaRPr lang="en-US" sz="1200"/>
                    </a:p>
                  </a:txBody>
                  <a:tcPr/>
                </a:tc>
                <a:tc>
                  <a:txBody>
                    <a:bodyPr/>
                    <a:p>
                      <a:pPr algn="ctr">
                        <a:buNone/>
                      </a:pPr>
                      <a:r>
                        <a:rPr lang="en-US" sz="1200"/>
                        <a:t>LLM với RAG</a:t>
                      </a:r>
                      <a:endParaRPr lang="en-US" sz="1200"/>
                    </a:p>
                  </a:txBody>
                  <a:tcPr/>
                </a:tc>
              </a:tr>
              <a:tr h="457200">
                <a:tc>
                  <a:txBody>
                    <a:bodyPr/>
                    <a:p>
                      <a:pPr>
                        <a:buNone/>
                      </a:pPr>
                      <a:r>
                        <a:rPr lang="en-US" sz="1200"/>
                        <a:t>Trả lời dựa trên dữ liệu đã huấn luyện</a:t>
                      </a:r>
                      <a:endParaRPr lang="en-US" sz="1200"/>
                    </a:p>
                  </a:txBody>
                  <a:tcPr/>
                </a:tc>
                <a:tc>
                  <a:txBody>
                    <a:bodyPr/>
                    <a:p>
                      <a:pPr>
                        <a:buNone/>
                      </a:pPr>
                      <a:r>
                        <a:rPr lang="en-US" sz="1200"/>
                        <a:t>Trả lời dựa trên dữ liệu được truy xuất</a:t>
                      </a:r>
                      <a:endParaRPr lang="en-US" sz="1200"/>
                    </a:p>
                  </a:txBody>
                  <a:tcPr/>
                </a:tc>
              </a:tr>
              <a:tr h="359410">
                <a:tc>
                  <a:txBody>
                    <a:bodyPr/>
                    <a:p>
                      <a:pPr>
                        <a:buNone/>
                      </a:pPr>
                      <a:r>
                        <a:rPr lang="en-US" sz="1200"/>
                        <a:t>Dễ bị hiện tượng “Ảo giác” </a:t>
                      </a:r>
                      <a:endParaRPr lang="en-US" sz="1200"/>
                    </a:p>
                  </a:txBody>
                  <a:tcPr/>
                </a:tc>
                <a:tc>
                  <a:txBody>
                    <a:bodyPr/>
                    <a:p>
                      <a:pPr>
                        <a:buNone/>
                      </a:pPr>
                      <a:r>
                        <a:rPr lang="en-US" sz="1200">
                          <a:sym typeface="+mn-ea"/>
                        </a:rPr>
                        <a:t>Giảm bị hiện tượng “Ảo giác” </a:t>
                      </a:r>
                      <a:endParaRPr lang="en-US" sz="1200">
                        <a:sym typeface="+mn-ea"/>
                      </a:endParaRPr>
                    </a:p>
                  </a:txBody>
                  <a:tcPr/>
                </a:tc>
              </a:tr>
              <a:tr h="359410">
                <a:tc>
                  <a:txBody>
                    <a:bodyPr/>
                    <a:p>
                      <a:pPr>
                        <a:buNone/>
                      </a:pPr>
                      <a:r>
                        <a:rPr lang="en-US" sz="1200"/>
                        <a:t>Không biết dữ liệu nội bộ</a:t>
                      </a:r>
                      <a:endParaRPr lang="en-US" sz="1200"/>
                    </a:p>
                  </a:txBody>
                  <a:tcPr/>
                </a:tc>
                <a:tc>
                  <a:txBody>
                    <a:bodyPr/>
                    <a:p>
                      <a:pPr>
                        <a:buNone/>
                      </a:pPr>
                      <a:r>
                        <a:rPr lang="en-US" sz="1200"/>
                        <a:t>Hiểu dữ liệu nội bộ</a:t>
                      </a:r>
                      <a:endParaRPr lang="en-US" sz="1200"/>
                    </a:p>
                  </a:txBody>
                  <a:tcPr/>
                </a:tc>
              </a:tr>
            </a:tbl>
          </a:graphicData>
        </a:graphic>
      </p:graphicFrame>
      <p:sp>
        <p:nvSpPr>
          <p:cNvPr id="2" name="Text Box 1"/>
          <p:cNvSpPr txBox="1"/>
          <p:nvPr/>
        </p:nvSpPr>
        <p:spPr>
          <a:xfrm>
            <a:off x="152400" y="4344670"/>
            <a:ext cx="5326380" cy="737235"/>
          </a:xfrm>
          <a:prstGeom prst="rect">
            <a:avLst/>
          </a:prstGeom>
          <a:noFill/>
        </p:spPr>
        <p:txBody>
          <a:bodyPr wrap="square" rtlCol="0">
            <a:spAutoFit/>
          </a:bodyPr>
          <a:p>
            <a:r>
              <a:rPr lang="en-US">
                <a:latin typeface="Arial" panose="020B0604020202020204" pitchFamily="34" charset="0"/>
                <a:cs typeface="Arial" panose="020B0604020202020204" pitchFamily="34" charset="0"/>
              </a:rPr>
              <a:t>→ RAG không thay đổi mô hình LLM mà tăng cường khả năng trả lời bằng cách cung cấp ngữ cảnh liên quan trước khi sinh phản hồi</a:t>
            </a:r>
            <a:endParaRPr lang="en-US">
              <a:latin typeface="Arial" panose="020B0604020202020204" pitchFamily="34" charset="0"/>
              <a:cs typeface="Arial" panose="020B0604020202020204" pitchFamily="34" charset="0"/>
            </a:endParaRPr>
          </a:p>
        </p:txBody>
      </p:sp>
      <p:graphicFrame>
        <p:nvGraphicFramePr>
          <p:cNvPr id="4" name="Table 3"/>
          <p:cNvGraphicFramePr/>
          <p:nvPr/>
        </p:nvGraphicFramePr>
        <p:xfrm>
          <a:off x="5593080" y="2809240"/>
          <a:ext cx="6398895" cy="2286000"/>
        </p:xfrm>
        <a:graphic>
          <a:graphicData uri="http://schemas.openxmlformats.org/drawingml/2006/table">
            <a:tbl>
              <a:tblPr firstRow="1" bandRow="1">
                <a:tableStyleId>{5C22544A-7EE6-4342-B048-85BDC9FD1C3A}</a:tableStyleId>
              </a:tblPr>
              <a:tblGrid>
                <a:gridCol w="1668145"/>
                <a:gridCol w="2437765"/>
                <a:gridCol w="2292985"/>
              </a:tblGrid>
              <a:tr h="381000">
                <a:tc>
                  <a:txBody>
                    <a:bodyPr/>
                    <a:p>
                      <a:pPr algn="ctr">
                        <a:buNone/>
                      </a:pPr>
                      <a:r>
                        <a:rPr lang="en-US" sz="1200"/>
                        <a:t>Model</a:t>
                      </a:r>
                      <a:endParaRPr lang="en-US" sz="1200"/>
                    </a:p>
                  </a:txBody>
                  <a:tcPr/>
                </a:tc>
                <a:tc>
                  <a:txBody>
                    <a:bodyPr/>
                    <a:p>
                      <a:pPr algn="ctr">
                        <a:buNone/>
                      </a:pPr>
                      <a:r>
                        <a:rPr lang="en-US" sz="1200"/>
                        <a:t>Ưu điểm</a:t>
                      </a:r>
                      <a:endParaRPr lang="en-US" sz="1200"/>
                    </a:p>
                  </a:txBody>
                  <a:tcPr/>
                </a:tc>
                <a:tc>
                  <a:txBody>
                    <a:bodyPr/>
                    <a:p>
                      <a:pPr algn="ctr">
                        <a:buNone/>
                      </a:pPr>
                      <a:r>
                        <a:rPr lang="en-US" sz="1200"/>
                        <a:t>Hạn chế</a:t>
                      </a:r>
                      <a:endParaRPr lang="en-US" sz="1200"/>
                    </a:p>
                  </a:txBody>
                  <a:tcPr/>
                </a:tc>
              </a:tr>
              <a:tr h="381000">
                <a:tc>
                  <a:txBody>
                    <a:bodyPr/>
                    <a:p>
                      <a:pPr>
                        <a:buNone/>
                      </a:pPr>
                      <a:r>
                        <a:rPr lang="en-US" sz="1200"/>
                        <a:t>GPT-5 / GPT-5 mini</a:t>
                      </a:r>
                      <a:endParaRPr lang="en-US" sz="1200"/>
                    </a:p>
                  </a:txBody>
                  <a:tcPr/>
                </a:tc>
                <a:tc>
                  <a:txBody>
                    <a:bodyPr/>
                    <a:p>
                      <a:pPr>
                        <a:buNone/>
                      </a:pPr>
                      <a:r>
                        <a:rPr lang="en-US" sz="1200"/>
                        <a:t>Khả năng suy luận mạnh, tuân thủ prompt, tốc độ và chất lượng trả lời tốt</a:t>
                      </a:r>
                      <a:endParaRPr lang="en-US" sz="1200"/>
                    </a:p>
                  </a:txBody>
                  <a:tcPr/>
                </a:tc>
                <a:tc>
                  <a:txBody>
                    <a:bodyPr/>
                    <a:p>
                      <a:pPr>
                        <a:buNone/>
                      </a:pPr>
                      <a:r>
                        <a:rPr lang="en-US" sz="1200"/>
                        <a:t>Có chi phí sử dụng</a:t>
                      </a:r>
                      <a:endParaRPr lang="en-US" sz="1200"/>
                    </a:p>
                  </a:txBody>
                  <a:tcPr/>
                </a:tc>
              </a:tr>
              <a:tr h="381000">
                <a:tc>
                  <a:txBody>
                    <a:bodyPr/>
                    <a:p>
                      <a:pPr>
                        <a:buNone/>
                      </a:pPr>
                      <a:r>
                        <a:rPr lang="en-US" sz="1200"/>
                        <a:t>Gemini 2.5</a:t>
                      </a:r>
                      <a:endParaRPr lang="en-US" sz="1200"/>
                    </a:p>
                  </a:txBody>
                  <a:tcPr/>
                </a:tc>
                <a:tc>
                  <a:txBody>
                    <a:bodyPr/>
                    <a:p>
                      <a:pPr>
                        <a:buNone/>
                      </a:pPr>
                      <a:r>
                        <a:rPr lang="en-US" sz="1200"/>
                        <a:t>Đa phương thức (văn bản, hình ảnh), tốc độ tốt</a:t>
                      </a:r>
                      <a:endParaRPr lang="en-US" sz="1200"/>
                    </a:p>
                  </a:txBody>
                  <a:tcPr/>
                </a:tc>
                <a:tc>
                  <a:txBody>
                    <a:bodyPr/>
                    <a:p>
                      <a:pPr>
                        <a:buNone/>
                      </a:pPr>
                      <a:r>
                        <a:rPr lang="en-US" sz="1200"/>
                        <a:t>API thay đổi theo dịch vụ</a:t>
                      </a:r>
                      <a:endParaRPr lang="en-US" sz="1200"/>
                    </a:p>
                  </a:txBody>
                  <a:tcPr/>
                </a:tc>
              </a:tr>
              <a:tr h="381000">
                <a:tc>
                  <a:txBody>
                    <a:bodyPr/>
                    <a:p>
                      <a:pPr>
                        <a:buNone/>
                      </a:pPr>
                      <a:r>
                        <a:rPr lang="en-US" sz="1200"/>
                        <a:t>Claude 4</a:t>
                      </a:r>
                      <a:endParaRPr lang="en-US" sz="1200"/>
                    </a:p>
                  </a:txBody>
                  <a:tcPr/>
                </a:tc>
                <a:tc>
                  <a:txBody>
                    <a:bodyPr/>
                    <a:p>
                      <a:pPr>
                        <a:buNone/>
                      </a:pPr>
                      <a:r>
                        <a:rPr lang="en-US" sz="1200"/>
                        <a:t>Đọc tài liệu dài, lập luận tốt</a:t>
                      </a:r>
                      <a:endParaRPr lang="en-US" sz="1200"/>
                    </a:p>
                  </a:txBody>
                  <a:tcPr/>
                </a:tc>
                <a:tc>
                  <a:txBody>
                    <a:bodyPr/>
                    <a:p>
                      <a:pPr>
                        <a:buNone/>
                      </a:pPr>
                      <a:r>
                        <a:rPr lang="en-US" sz="1200"/>
                        <a:t>Chi phí, giới hạn khu vực và tốc độ chậm hơn</a:t>
                      </a:r>
                      <a:endParaRPr lang="en-US" sz="1200"/>
                    </a:p>
                  </a:txBody>
                  <a:tcPr/>
                </a:tc>
              </a:tr>
              <a:tr h="381000">
                <a:tc>
                  <a:txBody>
                    <a:bodyPr/>
                    <a:p>
                      <a:pPr>
                        <a:buNone/>
                      </a:pPr>
                      <a:r>
                        <a:rPr lang="en-US" sz="1200"/>
                        <a:t>Llama 3.3</a:t>
                      </a:r>
                      <a:endParaRPr lang="en-US" sz="1200"/>
                    </a:p>
                  </a:txBody>
                  <a:tcPr/>
                </a:tc>
                <a:tc>
                  <a:txBody>
                    <a:bodyPr/>
                    <a:p>
                      <a:pPr>
                        <a:buNone/>
                      </a:pPr>
                      <a:r>
                        <a:rPr lang="en-US" sz="1200"/>
                        <a:t>Có thể triển khai cục bộ, tùy chỉnh cao</a:t>
                      </a:r>
                      <a:endParaRPr lang="en-US" sz="1200"/>
                    </a:p>
                  </a:txBody>
                  <a:tcPr/>
                </a:tc>
                <a:tc>
                  <a:txBody>
                    <a:bodyPr/>
                    <a:p>
                      <a:pPr>
                        <a:buNone/>
                      </a:pPr>
                      <a:r>
                        <a:rPr lang="en-US" sz="1200"/>
                        <a:t>Cần GPU mạnh để chạy hiểu quả</a:t>
                      </a:r>
                      <a:endParaRPr lang="en-US" sz="1200"/>
                    </a:p>
                  </a:txBody>
                  <a:tcPr/>
                </a:tc>
              </a:tr>
            </a:tbl>
          </a:graphicData>
        </a:graphic>
      </p:graphicFrame>
      <p:sp>
        <p:nvSpPr>
          <p:cNvPr id="5" name="Google Shape;162;p19"/>
          <p:cNvSpPr txBox="1"/>
          <p:nvPr/>
        </p:nvSpPr>
        <p:spPr>
          <a:xfrm>
            <a:off x="5593080" y="2409190"/>
            <a:ext cx="4552950" cy="400050"/>
          </a:xfrm>
          <a:prstGeom prst="rect">
            <a:avLst/>
          </a:prstGeom>
          <a:noFill/>
          <a:ln>
            <a:noFill/>
          </a:ln>
        </p:spPr>
        <p:txBody>
          <a:bodyPr spcFirstLastPara="1" wrap="square" lIns="0" tIns="0" rIns="0" bIns="0" anchor="t" anchorCtr="0">
            <a:noAutofit/>
          </a:bodyPr>
          <a:lstStyle/>
          <a:p>
            <a:pPr marL="0" marR="0" lvl="0" indent="0" algn="just" rtl="0">
              <a:lnSpc>
                <a:spcPct val="160000"/>
              </a:lnSpc>
              <a:spcBef>
                <a:spcPts val="0"/>
              </a:spcBef>
              <a:spcAft>
                <a:spcPts val="0"/>
              </a:spcAft>
              <a:buNone/>
            </a:pPr>
            <a:r>
              <a:rPr lang="en-US" sz="1300" b="1" i="0" u="none" strike="noStrike" cap="none">
                <a:solidFill>
                  <a:schemeClr val="tx1"/>
                </a:solidFill>
                <a:latin typeface="Inter" panose="02000503000000020004"/>
                <a:ea typeface="Inter" panose="02000503000000020004"/>
                <a:cs typeface="Inter" panose="02000503000000020004"/>
                <a:sym typeface="Inter" panose="02000503000000020004"/>
              </a:rPr>
              <a:t>So sánh các mô hình ngôn ngữ lớn (LLM)</a:t>
            </a:r>
            <a:endParaRPr lang="en-US" sz="1300" i="0" u="none" strike="noStrike" cap="none">
              <a:solidFill>
                <a:schemeClr val="tx1"/>
              </a:solidFill>
              <a:latin typeface="Inter" panose="02000503000000020004"/>
              <a:ea typeface="Inter" panose="02000503000000020004"/>
              <a:cs typeface="Inter" panose="02000503000000020004"/>
              <a:sym typeface="Inter" panose="02000503000000020004"/>
            </a:endParaRPr>
          </a:p>
        </p:txBody>
      </p:sp>
      <p:sp>
        <p:nvSpPr>
          <p:cNvPr id="6" name="Text Box 5"/>
          <p:cNvSpPr txBox="1"/>
          <p:nvPr/>
        </p:nvSpPr>
        <p:spPr>
          <a:xfrm>
            <a:off x="5593080" y="5201920"/>
            <a:ext cx="6399530" cy="737235"/>
          </a:xfrm>
          <a:prstGeom prst="rect">
            <a:avLst/>
          </a:prstGeom>
          <a:noFill/>
        </p:spPr>
        <p:txBody>
          <a:bodyPr wrap="square" rtlCol="0">
            <a:spAutoFit/>
          </a:bodyPr>
          <a:p>
            <a:r>
              <a:rPr lang="en-US">
                <a:latin typeface="Arial" panose="020B0604020202020204" pitchFamily="34" charset="0"/>
                <a:cs typeface="Arial" panose="020B0604020202020204" pitchFamily="34" charset="0"/>
              </a:rPr>
              <a:t>→ Trong dự án, chọn GPT-5 mini bởi các ưu điểm về chất lượng và thời gian phản hồi, ngoài ra đồng bộ với bộ Embedding Model đã được sử dụng của OpenAI</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55" name="Shape 155"/>
        <p:cNvGrpSpPr/>
        <p:nvPr/>
      </p:nvGrpSpPr>
      <p:grpSpPr>
        <a:xfrm>
          <a:off x="0" y="0"/>
          <a:ext cx="0" cy="0"/>
          <a:chOff x="0" y="0"/>
          <a:chExt cx="0" cy="0"/>
        </a:xfrm>
      </p:grpSpPr>
      <p:pic>
        <p:nvPicPr>
          <p:cNvPr id="156" name="Google Shape;15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9"/>
          <p:cNvSpPr txBox="1"/>
          <p:nvPr/>
        </p:nvSpPr>
        <p:spPr>
          <a:xfrm>
            <a:off x="581025" y="19050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Ý nghĩa của chức năng đề xuất</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9"/>
          <p:cNvSpPr/>
          <p:nvPr/>
        </p:nvSpPr>
        <p:spPr>
          <a:xfrm>
            <a:off x="581025" y="79057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5" name="Picture 4"/>
          <p:cNvPicPr>
            <a:picLocks noChangeAspect="1"/>
          </p:cNvPicPr>
          <p:nvPr/>
        </p:nvPicPr>
        <p:blipFill>
          <a:blip r:embed="rId2"/>
          <a:stretch>
            <a:fillRect/>
          </a:stretch>
        </p:blipFill>
        <p:spPr>
          <a:xfrm>
            <a:off x="290195" y="977265"/>
            <a:ext cx="11610975" cy="532193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0" name="Shape 180"/>
        <p:cNvGrpSpPr/>
        <p:nvPr/>
      </p:nvGrpSpPr>
      <p:grpSpPr>
        <a:xfrm>
          <a:off x="0" y="0"/>
          <a:ext cx="0" cy="0"/>
          <a:chOff x="0" y="0"/>
          <a:chExt cx="0" cy="0"/>
        </a:xfrm>
      </p:grpSpPr>
      <p:pic>
        <p:nvPicPr>
          <p:cNvPr id="181" name="Google Shape;181;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82" name="Google Shape;182;p21"/>
          <p:cNvSpPr/>
          <p:nvPr/>
        </p:nvSpPr>
        <p:spPr>
          <a:xfrm>
            <a:off x="5715000" y="2695575"/>
            <a:ext cx="762000" cy="47625"/>
          </a:xfrm>
          <a:prstGeom prst="rect">
            <a:avLst/>
          </a:prstGeom>
          <a:solidFill>
            <a:srgbClr val="B7791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3" name="Google Shape;183;p21"/>
          <p:cNvSpPr txBox="1"/>
          <p:nvPr/>
        </p:nvSpPr>
        <p:spPr>
          <a:xfrm>
            <a:off x="305276" y="3028950"/>
            <a:ext cx="11581447" cy="733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1A202C"/>
                </a:solidFill>
                <a:latin typeface="Urbanist" panose="020B0A04040200000203"/>
                <a:ea typeface="Urbanist" panose="020B0A04040200000203"/>
                <a:cs typeface="Urbanist" panose="020B0A04040200000203"/>
                <a:sym typeface="Urbanist" panose="020B0A04040200000203"/>
              </a:rPr>
              <a:t>PHẦN 3: ĐÁNH GIÁ GIẢI PHÁP</a:t>
            </a:r>
            <a:endParaRPr lang="en-US" sz="4800" b="1" i="0" u="none" strike="noStrike" cap="none">
              <a:solidFill>
                <a:srgbClr val="1A202C"/>
              </a:solidFill>
              <a:latin typeface="Urbanist" panose="020B0A04040200000203"/>
              <a:ea typeface="Urbanist" panose="020B0A04040200000203"/>
              <a:cs typeface="Urbanist" panose="020B0A04040200000203"/>
              <a:sym typeface="Urbanist" panose="020B0A04040200000203"/>
            </a:endParaRPr>
          </a:p>
        </p:txBody>
      </p:sp>
      <p:sp>
        <p:nvSpPr>
          <p:cNvPr id="184" name="Google Shape;184;p21"/>
          <p:cNvSpPr txBox="1"/>
          <p:nvPr/>
        </p:nvSpPr>
        <p:spPr>
          <a:xfrm>
            <a:off x="581025" y="3952875"/>
            <a:ext cx="1102995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Kiểm nghiệm thực tế và so sánh hiệu quả</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8" name="Shape 188"/>
        <p:cNvGrpSpPr/>
        <p:nvPr/>
      </p:nvGrpSpPr>
      <p:grpSpPr>
        <a:xfrm>
          <a:off x="0" y="0"/>
          <a:ext cx="0" cy="0"/>
          <a:chOff x="0" y="0"/>
          <a:chExt cx="0" cy="0"/>
        </a:xfrm>
      </p:grpSpPr>
      <p:pic>
        <p:nvPicPr>
          <p:cNvPr id="189" name="Google Shape;189;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90" name="Google Shape;190;p22"/>
          <p:cNvSpPr txBox="1"/>
          <p:nvPr/>
        </p:nvSpPr>
        <p:spPr>
          <a:xfrm>
            <a:off x="581025" y="22479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Input và Output của giải pháp đề xuất</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91" name="Google Shape;191;p22"/>
          <p:cNvSpPr/>
          <p:nvPr/>
        </p:nvSpPr>
        <p:spPr>
          <a:xfrm>
            <a:off x="581025" y="82486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Picture 1"/>
          <p:cNvPicPr>
            <a:picLocks noChangeAspect="1"/>
          </p:cNvPicPr>
          <p:nvPr/>
        </p:nvPicPr>
        <p:blipFill>
          <a:blip r:embed="rId2"/>
          <a:stretch>
            <a:fillRect/>
          </a:stretch>
        </p:blipFill>
        <p:spPr>
          <a:xfrm>
            <a:off x="1201420" y="1078230"/>
            <a:ext cx="10101580" cy="5130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8" name="Shape 188"/>
        <p:cNvGrpSpPr/>
        <p:nvPr/>
      </p:nvGrpSpPr>
      <p:grpSpPr>
        <a:xfrm>
          <a:off x="0" y="0"/>
          <a:ext cx="0" cy="0"/>
          <a:chOff x="0" y="0"/>
          <a:chExt cx="0" cy="0"/>
        </a:xfrm>
      </p:grpSpPr>
      <p:pic>
        <p:nvPicPr>
          <p:cNvPr id="189" name="Google Shape;189;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90" name="Google Shape;190;p22"/>
          <p:cNvSpPr txBox="1"/>
          <p:nvPr/>
        </p:nvSpPr>
        <p:spPr>
          <a:xfrm>
            <a:off x="581025" y="22479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So sánh với một số giải pháp hiện có</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91" name="Google Shape;191;p22"/>
          <p:cNvSpPr/>
          <p:nvPr/>
        </p:nvSpPr>
        <p:spPr>
          <a:xfrm>
            <a:off x="581025" y="82486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2" name="Table 1"/>
          <p:cNvGraphicFramePr/>
          <p:nvPr>
            <p:custDataLst>
              <p:tags r:id="rId2"/>
            </p:custDataLst>
          </p:nvPr>
        </p:nvGraphicFramePr>
        <p:xfrm>
          <a:off x="1544955" y="1299210"/>
          <a:ext cx="9102090" cy="3342640"/>
        </p:xfrm>
        <a:graphic>
          <a:graphicData uri="http://schemas.openxmlformats.org/drawingml/2006/table">
            <a:tbl>
              <a:tblPr firstRow="1" bandRow="1">
                <a:tableStyleId>{5C22544A-7EE6-4342-B048-85BDC9FD1C3A}</a:tableStyleId>
              </a:tblPr>
              <a:tblGrid>
                <a:gridCol w="3034030"/>
                <a:gridCol w="3034030"/>
                <a:gridCol w="3034030"/>
              </a:tblGrid>
              <a:tr h="564515">
                <a:tc>
                  <a:txBody>
                    <a:bodyPr/>
                    <a:p>
                      <a:pPr algn="ctr">
                        <a:buNone/>
                      </a:pPr>
                      <a:r>
                        <a:rPr lang="en-US"/>
                        <a:t>Giải pháp</a:t>
                      </a:r>
                      <a:endParaRPr lang="en-US"/>
                    </a:p>
                  </a:txBody>
                  <a:tcPr anchor="ctr" anchorCtr="0"/>
                </a:tc>
                <a:tc>
                  <a:txBody>
                    <a:bodyPr/>
                    <a:p>
                      <a:pPr algn="ctr">
                        <a:buNone/>
                      </a:pPr>
                      <a:r>
                        <a:rPr lang="en-US"/>
                        <a:t>Ưu điểm</a:t>
                      </a:r>
                      <a:endParaRPr lang="en-US"/>
                    </a:p>
                  </a:txBody>
                  <a:tcPr anchor="ctr" anchorCtr="0"/>
                </a:tc>
                <a:tc>
                  <a:txBody>
                    <a:bodyPr/>
                    <a:p>
                      <a:pPr algn="ctr">
                        <a:buNone/>
                      </a:pPr>
                      <a:r>
                        <a:rPr lang="en-US"/>
                        <a:t>Nhược điểm</a:t>
                      </a:r>
                      <a:endParaRPr lang="en-US"/>
                    </a:p>
                  </a:txBody>
                  <a:tcPr anchor="ctr" anchorCtr="0"/>
                </a:tc>
              </a:tr>
              <a:tr h="1083945">
                <a:tc>
                  <a:txBody>
                    <a:bodyPr/>
                    <a:p>
                      <a:pPr algn="l">
                        <a:buNone/>
                      </a:pPr>
                      <a:r>
                        <a:rPr lang="en-US"/>
                        <a:t>Tìm kiếm truyền thống (Keyword Search)</a:t>
                      </a:r>
                      <a:endParaRPr lang="en-US"/>
                    </a:p>
                  </a:txBody>
                  <a:tcPr anchor="ctr" anchorCtr="0"/>
                </a:tc>
                <a:tc>
                  <a:txBody>
                    <a:bodyPr/>
                    <a:p>
                      <a:pPr algn="l">
                        <a:buNone/>
                      </a:pPr>
                      <a:r>
                        <a:rPr lang="en-US"/>
                        <a:t>Nhanh và dễ triển khai cho chủ doanh nghiệp</a:t>
                      </a:r>
                      <a:endParaRPr lang="en-US"/>
                    </a:p>
                  </a:txBody>
                  <a:tcPr anchor="ctr" anchorCtr="0"/>
                </a:tc>
                <a:tc>
                  <a:txBody>
                    <a:bodyPr/>
                    <a:p>
                      <a:pPr algn="l">
                        <a:buNone/>
                      </a:pPr>
                      <a:r>
                        <a:rPr lang="en-US"/>
                        <a:t>Phụ thuộc từ ngữ tìm kiếm và lượng dữ liệu được chuẩn bị sẵn. Người dùng phải đọc lượng lớn dữ liệu để tìm thông tin</a:t>
                      </a:r>
                      <a:endParaRPr lang="en-US"/>
                    </a:p>
                  </a:txBody>
                  <a:tcPr anchor="ctr" anchorCtr="0"/>
                </a:tc>
              </a:tr>
              <a:tr h="565150">
                <a:tc>
                  <a:txBody>
                    <a:bodyPr/>
                    <a:p>
                      <a:pPr algn="l">
                        <a:buNone/>
                      </a:pPr>
                      <a:r>
                        <a:rPr lang="en-US"/>
                        <a:t>Chatbot dựa trên kịch bản cố định (Rule-based Chatbot)</a:t>
                      </a:r>
                      <a:endParaRPr lang="en-US"/>
                    </a:p>
                  </a:txBody>
                  <a:tcPr anchor="ctr" anchorCtr="0"/>
                </a:tc>
                <a:tc>
                  <a:txBody>
                    <a:bodyPr/>
                    <a:p>
                      <a:pPr algn="l">
                        <a:buNone/>
                      </a:pPr>
                      <a:r>
                        <a:rPr lang="en-US"/>
                        <a:t>Dễ triển khai với công nghệ hơn và vượt trội hơn kiểu tìm kiếm truyền thống</a:t>
                      </a:r>
                      <a:endParaRPr lang="en-US"/>
                    </a:p>
                  </a:txBody>
                  <a:tcPr anchor="ctr" anchorCtr="0"/>
                </a:tc>
                <a:tc>
                  <a:txBody>
                    <a:bodyPr/>
                    <a:p>
                      <a:pPr algn="l">
                        <a:buNone/>
                      </a:pPr>
                      <a:r>
                        <a:rPr lang="en-US"/>
                        <a:t>Chatbot không hiểu về mặt ngữ nghĩa, chỉ hiểu được hội thoại đơn giản, kém hiệu quả với câu hỏi diễn đạt phức tạp, khiến giảm sự hài lòng của khác hàng</a:t>
                      </a:r>
                      <a:endParaRPr lang="en-US"/>
                    </a:p>
                  </a:txBody>
                  <a:tcPr anchor="ctr" anchorCtr="0"/>
                </a:tc>
              </a:tr>
              <a:tr h="564515">
                <a:tc>
                  <a:txBody>
                    <a:bodyPr/>
                    <a:p>
                      <a:pPr algn="l">
                        <a:buNone/>
                      </a:pPr>
                      <a:r>
                        <a:rPr lang="en-US"/>
                        <a:t>Chatbot dựa vào mô hình ngôn ngữ lớn thuần (LLM)</a:t>
                      </a:r>
                      <a:endParaRPr lang="en-US"/>
                    </a:p>
                  </a:txBody>
                  <a:tcPr anchor="ctr" anchorCtr="0"/>
                </a:tc>
                <a:tc>
                  <a:txBody>
                    <a:bodyPr/>
                    <a:p>
                      <a:pPr algn="l">
                        <a:buNone/>
                      </a:pPr>
                      <a:r>
                        <a:rPr lang="en-US"/>
                        <a:t>Câu trả lời có độ tự nhiên cao với lượng dữ liệu tổng hợp lớn</a:t>
                      </a:r>
                      <a:endParaRPr lang="en-US"/>
                    </a:p>
                  </a:txBody>
                  <a:tcPr anchor="ctr" anchorCtr="0"/>
                </a:tc>
                <a:tc>
                  <a:txBody>
                    <a:bodyPr/>
                    <a:p>
                      <a:pPr algn="l">
                        <a:buNone/>
                      </a:pPr>
                      <a:r>
                        <a:rPr lang="en-US"/>
                        <a:t>Dễ bị ảo giác hay mất ngữ cảnh khi giao tiếp, nguy cơ về bảo mật dữ liệu nội bộ</a:t>
                      </a:r>
                      <a:endParaRPr lang="en-US"/>
                    </a:p>
                  </a:txBody>
                  <a:tcPr anchor="ctr" anchorCtr="0"/>
                </a:tc>
              </a:tr>
              <a:tr h="564515">
                <a:tc>
                  <a:txBody>
                    <a:bodyPr/>
                    <a:p>
                      <a:pPr algn="l">
                        <a:buNone/>
                      </a:pPr>
                      <a:r>
                        <a:rPr lang="en-US"/>
                        <a:t>Chatbot dựa vào hệ thống truy xuất (RAG)</a:t>
                      </a:r>
                      <a:endParaRPr lang="en-US"/>
                    </a:p>
                  </a:txBody>
                  <a:tcPr anchor="ctr" anchorCtr="0"/>
                </a:tc>
                <a:tc>
                  <a:txBody>
                    <a:bodyPr/>
                    <a:p>
                      <a:pPr algn="l">
                        <a:buNone/>
                      </a:pPr>
                      <a:r>
                        <a:rPr lang="en-US"/>
                        <a:t>Hệ thống hiểu ngữ cảnh tốt hơn. Có thể cập nhật lại dữ liệu nội bộ nhanh chóng dựa trên mô hình ngôn ngữ lớn có sẵn.</a:t>
                      </a:r>
                      <a:endParaRPr lang="en-US"/>
                    </a:p>
                  </a:txBody>
                  <a:tcPr anchor="ctr" anchorCtr="0"/>
                </a:tc>
                <a:tc>
                  <a:txBody>
                    <a:bodyPr/>
                    <a:p>
                      <a:pPr algn="l">
                        <a:buNone/>
                      </a:pPr>
                      <a:r>
                        <a:rPr lang="en-US"/>
                        <a:t>Cần thời gian, công sức xây dựng bộ kiến thức nền, các câu hỏi phổ biến để giúp hệ thống truy xuất</a:t>
                      </a:r>
                      <a:endParaRPr lang="en-US"/>
                    </a:p>
                  </a:txBody>
                  <a:tcPr anchor="ctr" anchorCtr="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8" name="Shape 188"/>
        <p:cNvGrpSpPr/>
        <p:nvPr/>
      </p:nvGrpSpPr>
      <p:grpSpPr>
        <a:xfrm>
          <a:off x="0" y="0"/>
          <a:ext cx="0" cy="0"/>
          <a:chOff x="0" y="0"/>
          <a:chExt cx="0" cy="0"/>
        </a:xfrm>
      </p:grpSpPr>
      <p:pic>
        <p:nvPicPr>
          <p:cNvPr id="189" name="Google Shape;189;p22" descr="image.png"/>
          <p:cNvPicPr preferRelativeResize="0"/>
          <p:nvPr/>
        </p:nvPicPr>
        <p:blipFill rotWithShape="1">
          <a:blip r:embed="rId1"/>
          <a:srcRect/>
          <a:stretch>
            <a:fillRect/>
          </a:stretch>
        </p:blipFill>
        <p:spPr>
          <a:xfrm>
            <a:off x="581025" y="-40640"/>
            <a:ext cx="12192000" cy="6858000"/>
          </a:xfrm>
          <a:prstGeom prst="rect">
            <a:avLst/>
          </a:prstGeom>
          <a:noFill/>
          <a:ln>
            <a:noFill/>
          </a:ln>
        </p:spPr>
      </p:pic>
      <p:sp>
        <p:nvSpPr>
          <p:cNvPr id="190" name="Google Shape;190;p22"/>
          <p:cNvSpPr txBox="1"/>
          <p:nvPr/>
        </p:nvSpPr>
        <p:spPr>
          <a:xfrm>
            <a:off x="581025" y="11303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Phương thức đo đạc chất lượng (Các tiêu chí)</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91" name="Google Shape;191;p22"/>
          <p:cNvSpPr/>
          <p:nvPr/>
        </p:nvSpPr>
        <p:spPr>
          <a:xfrm>
            <a:off x="581025" y="71310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41" name="Table 40"/>
          <p:cNvGraphicFramePr/>
          <p:nvPr>
            <p:custDataLst>
              <p:tags r:id="rId2"/>
            </p:custDataLst>
          </p:nvPr>
        </p:nvGraphicFramePr>
        <p:xfrm>
          <a:off x="581025" y="870585"/>
          <a:ext cx="8638540" cy="5633720"/>
        </p:xfrm>
        <a:graphic>
          <a:graphicData uri="http://schemas.openxmlformats.org/drawingml/2006/table">
            <a:tbl>
              <a:tblPr firstRow="1" bandRow="1">
                <a:tableStyleId>{5C22544A-7EE6-4342-B048-85BDC9FD1C3A}</a:tableStyleId>
              </a:tblPr>
              <a:tblGrid>
                <a:gridCol w="956310"/>
                <a:gridCol w="1295400"/>
                <a:gridCol w="3478530"/>
                <a:gridCol w="2908300"/>
              </a:tblGrid>
              <a:tr h="368935">
                <a:tc>
                  <a:txBody>
                    <a:bodyPr/>
                    <a:p>
                      <a:pPr algn="ctr">
                        <a:buNone/>
                      </a:pPr>
                      <a:r>
                        <a:rPr lang="en-US" sz="900"/>
                        <a:t>Nhóm</a:t>
                      </a:r>
                      <a:endParaRPr lang="en-US" sz="900"/>
                    </a:p>
                  </a:txBody>
                  <a:tcPr anchor="ctr" anchorCtr="0"/>
                </a:tc>
                <a:tc>
                  <a:txBody>
                    <a:bodyPr/>
                    <a:p>
                      <a:pPr algn="ctr">
                        <a:buNone/>
                      </a:pPr>
                      <a:r>
                        <a:rPr lang="en-US" sz="900"/>
                        <a:t>Tiêu chí</a:t>
                      </a:r>
                      <a:endParaRPr lang="en-US" sz="900"/>
                    </a:p>
                  </a:txBody>
                  <a:tcPr anchor="ctr" anchorCtr="0"/>
                </a:tc>
                <a:tc>
                  <a:txBody>
                    <a:bodyPr/>
                    <a:p>
                      <a:pPr algn="ctr">
                        <a:buNone/>
                      </a:pPr>
                      <a:r>
                        <a:rPr lang="en-US" sz="900"/>
                        <a:t>Miêu tả</a:t>
                      </a:r>
                      <a:endParaRPr lang="en-US" sz="900"/>
                    </a:p>
                  </a:txBody>
                  <a:tcPr anchor="ctr" anchorCtr="0"/>
                </a:tc>
                <a:tc>
                  <a:txBody>
                    <a:bodyPr/>
                    <a:p>
                      <a:pPr algn="ctr">
                        <a:buNone/>
                      </a:pPr>
                      <a:r>
                        <a:rPr lang="en-US" sz="900"/>
                        <a:t>Ví dụ</a:t>
                      </a:r>
                      <a:endParaRPr lang="en-US" sz="900"/>
                    </a:p>
                  </a:txBody>
                  <a:tcPr anchor="ctr" anchorCtr="0"/>
                </a:tc>
              </a:tr>
              <a:tr h="369570">
                <a:tc rowSpan="3">
                  <a:txBody>
                    <a:bodyPr/>
                    <a:p>
                      <a:pPr algn="ctr">
                        <a:buNone/>
                      </a:pPr>
                      <a:r>
                        <a:rPr lang="en-US" sz="900" b="1"/>
                        <a:t>Retrieval</a:t>
                      </a:r>
                      <a:endParaRPr lang="en-US" sz="900" b="1"/>
                    </a:p>
                  </a:txBody>
                  <a:tcPr anchor="ctr" anchorCtr="0"/>
                </a:tc>
                <a:tc>
                  <a:txBody>
                    <a:bodyPr/>
                    <a:p>
                      <a:pPr algn="l">
                        <a:buNone/>
                      </a:pPr>
                      <a:r>
                        <a:rPr lang="en-US" sz="900" b="1">
                          <a:sym typeface="+mn-ea"/>
                        </a:rPr>
                        <a:t>Precision@k</a:t>
                      </a:r>
                      <a:endParaRPr lang="en-US" sz="900" b="1">
                        <a:sym typeface="+mn-ea"/>
                      </a:endParaRPr>
                    </a:p>
                  </a:txBody>
                  <a:tcPr anchor="ctr" anchorCtr="0"/>
                </a:tc>
                <a:tc>
                  <a:txBody>
                    <a:bodyPr/>
                    <a:p>
                      <a:pPr>
                        <a:buNone/>
                      </a:pPr>
                      <a:r>
                        <a:rPr lang="en-US" sz="900">
                          <a:sym typeface="+mn-ea"/>
                        </a:rPr>
                        <a:t>Trong k tài liệu trả về có bao nhiêu tài liệu đúng</a:t>
                      </a:r>
                      <a:endParaRPr lang="en-US" sz="900"/>
                    </a:p>
                    <a:p>
                      <a:pPr>
                        <a:buNone/>
                      </a:pPr>
                      <a:endParaRPr lang="en-US" sz="900"/>
                    </a:p>
                  </a:txBody>
                  <a:tcPr anchor="ctr" anchorCtr="0"/>
                </a:tc>
                <a:tc>
                  <a:txBody>
                    <a:bodyPr/>
                    <a:p>
                      <a:pPr marL="171450" indent="-171450">
                        <a:buFont typeface="Arial" panose="020B0604020202020204" pitchFamily="34" charset="0"/>
                        <a:buChar char="•"/>
                      </a:pPr>
                      <a:r>
                        <a:rPr lang="en-US" sz="900">
                          <a:sym typeface="+mn-ea"/>
                        </a:rPr>
                        <a:t>Top 5 (1:</a:t>
                      </a:r>
                      <a:r>
                        <a:rPr lang="en-US" sz="900">
                          <a:solidFill>
                            <a:srgbClr val="FF0000"/>
                          </a:solidFill>
                          <a:sym typeface="+mn-ea"/>
                        </a:rPr>
                        <a:t>S</a:t>
                      </a:r>
                      <a:r>
                        <a:rPr lang="en-US" sz="900">
                          <a:sym typeface="+mn-ea"/>
                        </a:rPr>
                        <a:t>, 2:</a:t>
                      </a:r>
                      <a:r>
                        <a:rPr lang="en-US" sz="900">
                          <a:solidFill>
                            <a:srgbClr val="00B050"/>
                          </a:solidFill>
                          <a:sym typeface="+mn-ea"/>
                        </a:rPr>
                        <a:t>Đ</a:t>
                      </a:r>
                      <a:r>
                        <a:rPr lang="en-US" sz="900">
                          <a:sym typeface="+mn-ea"/>
                        </a:rPr>
                        <a:t>, 3:</a:t>
                      </a:r>
                      <a:r>
                        <a:rPr lang="en-US" sz="900">
                          <a:solidFill>
                            <a:srgbClr val="FF0000"/>
                          </a:solidFill>
                          <a:sym typeface="+mn-ea"/>
                        </a:rPr>
                        <a:t>S</a:t>
                      </a:r>
                      <a:r>
                        <a:rPr lang="en-US" sz="900">
                          <a:sym typeface="+mn-ea"/>
                        </a:rPr>
                        <a:t>, 4:</a:t>
                      </a:r>
                      <a:r>
                        <a:rPr lang="en-US" sz="900">
                          <a:solidFill>
                            <a:srgbClr val="00B050"/>
                          </a:solidFill>
                          <a:sym typeface="+mn-ea"/>
                        </a:rPr>
                        <a:t>Đ</a:t>
                      </a:r>
                      <a:r>
                        <a:rPr lang="en-US" sz="900">
                          <a:sym typeface="+mn-ea"/>
                        </a:rPr>
                        <a:t>, 5:</a:t>
                      </a:r>
                      <a:r>
                        <a:rPr lang="en-US" sz="900">
                          <a:solidFill>
                            <a:srgbClr val="FF0000"/>
                          </a:solidFill>
                          <a:sym typeface="+mn-ea"/>
                        </a:rPr>
                        <a:t>S</a:t>
                      </a:r>
                      <a:r>
                        <a:rPr lang="en-US" sz="900">
                          <a:sym typeface="+mn-ea"/>
                        </a:rPr>
                        <a:t>) </a:t>
                      </a:r>
                      <a:endParaRPr lang="en-US" sz="900">
                        <a:sym typeface="+mn-ea"/>
                      </a:endParaRPr>
                    </a:p>
                    <a:p>
                      <a:pPr>
                        <a:buNone/>
                      </a:pPr>
                      <a:r>
                        <a:rPr lang="en-US" sz="900">
                          <a:latin typeface="Arial" panose="020B0604020202020204" pitchFamily="34" charset="0"/>
                          <a:cs typeface="Arial" panose="020B0604020202020204" pitchFamily="34" charset="0"/>
                          <a:sym typeface="+mn-ea"/>
                        </a:rPr>
                        <a:t>→ Precision@k = 2/5=0.4 (40%)</a:t>
                      </a:r>
                      <a:endParaRPr lang="en-US" sz="900">
                        <a:latin typeface="Arial" panose="020B0604020202020204" pitchFamily="34" charset="0"/>
                        <a:cs typeface="Arial" panose="020B0604020202020204" pitchFamily="34" charset="0"/>
                        <a:sym typeface="+mn-ea"/>
                      </a:endParaRPr>
                    </a:p>
                  </a:txBody>
                  <a:tcPr/>
                </a:tc>
              </a:tr>
              <a:tr h="502920">
                <a:tc vMerge="1">
                  <a:tcPr/>
                </a:tc>
                <a:tc>
                  <a:txBody>
                    <a:bodyPr/>
                    <a:p>
                      <a:pPr algn="l">
                        <a:buNone/>
                      </a:pPr>
                      <a:r>
                        <a:rPr lang="en-US" sz="900" b="1">
                          <a:sym typeface="+mn-ea"/>
                        </a:rPr>
                        <a:t>Recall@k</a:t>
                      </a:r>
                      <a:endParaRPr lang="en-US" sz="900" b="1">
                        <a:sym typeface="+mn-ea"/>
                      </a:endParaRPr>
                    </a:p>
                  </a:txBody>
                  <a:tcPr anchor="ctr" anchorCtr="0"/>
                </a:tc>
                <a:tc>
                  <a:txBody>
                    <a:bodyPr/>
                    <a:p>
                      <a:pPr>
                        <a:buNone/>
                      </a:pPr>
                      <a:r>
                        <a:rPr lang="en-US" sz="900">
                          <a:sym typeface="+mn-ea"/>
                        </a:rPr>
                        <a:t>Bao nhiêu tài liệu đúng đã tìm thấy trong Top k</a:t>
                      </a:r>
                      <a:endParaRPr lang="en-US" sz="900">
                        <a:sym typeface="+mn-ea"/>
                      </a:endParaRPr>
                    </a:p>
                  </a:txBody>
                  <a:tcPr anchor="ctr" anchorCtr="0"/>
                </a:tc>
                <a:tc>
                  <a:txBody>
                    <a:bodyPr/>
                    <a:p>
                      <a:pPr marL="171450" indent="-171450">
                        <a:buFont typeface="Arial" panose="020B0604020202020204" pitchFamily="34" charset="0"/>
                        <a:buChar char="•"/>
                      </a:pPr>
                      <a:r>
                        <a:rPr lang="en-US" sz="900">
                          <a:sym typeface="+mn-ea"/>
                        </a:rPr>
                        <a:t>Tổng cộng 4 document đúng. </a:t>
                      </a:r>
                      <a:endParaRPr lang="en-US" sz="900"/>
                    </a:p>
                    <a:p>
                      <a:pPr marL="171450" indent="-171450">
                        <a:buFont typeface="Arial" panose="020B0604020202020204" pitchFamily="34" charset="0"/>
                        <a:buChar char="•"/>
                      </a:pPr>
                      <a:r>
                        <a:rPr lang="en-US" sz="900">
                          <a:sym typeface="+mn-ea"/>
                        </a:rPr>
                        <a:t>Top k=5 tìm được 3 document đúng</a:t>
                      </a:r>
                      <a:endParaRPr lang="en-US" sz="900"/>
                    </a:p>
                    <a:p>
                      <a:pPr marL="0" indent="0">
                        <a:buFont typeface="Arial" panose="020B0604020202020204" pitchFamily="34" charset="0"/>
                        <a:buNone/>
                      </a:pPr>
                      <a:r>
                        <a:rPr lang="en-US" sz="900">
                          <a:latin typeface="Arial" panose="020B0604020202020204" pitchFamily="34" charset="0"/>
                          <a:cs typeface="Arial" panose="020B0604020202020204" pitchFamily="34" charset="0"/>
                          <a:sym typeface="+mn-ea"/>
                        </a:rPr>
                        <a:t>→ Recall@5 = 3/4 = 0.75 (75%)</a:t>
                      </a:r>
                      <a:endParaRPr lang="en-US" sz="900">
                        <a:latin typeface="Arial" panose="020B0604020202020204" pitchFamily="34" charset="0"/>
                        <a:cs typeface="Arial" panose="020B0604020202020204" pitchFamily="34" charset="0"/>
                        <a:sym typeface="+mn-ea"/>
                      </a:endParaRPr>
                    </a:p>
                  </a:txBody>
                  <a:tcPr/>
                </a:tc>
              </a:tr>
              <a:tr h="1051560">
                <a:tc vMerge="1">
                  <a:tcPr/>
                </a:tc>
                <a:tc>
                  <a:txBody>
                    <a:bodyPr/>
                    <a:p>
                      <a:pPr algn="l">
                        <a:buNone/>
                      </a:pPr>
                      <a:r>
                        <a:rPr lang="en-US" sz="900" b="1">
                          <a:sym typeface="+mn-ea"/>
                        </a:rPr>
                        <a:t>MRR (Mean Reciprocal Rank)</a:t>
                      </a:r>
                      <a:endParaRPr lang="en-US" sz="900" b="1">
                        <a:sym typeface="+mn-ea"/>
                      </a:endParaRPr>
                    </a:p>
                  </a:txBody>
                  <a:tcPr anchor="ctr" anchorCtr="0"/>
                </a:tc>
                <a:tc>
                  <a:txBody>
                    <a:bodyPr/>
                    <a:p>
                      <a:pPr>
                        <a:buNone/>
                      </a:pPr>
                      <a:r>
                        <a:rPr lang="en-US" sz="900">
                          <a:sym typeface="+mn-ea"/>
                        </a:rPr>
                        <a:t>Tài liệu đúng đầu tiên đứng ở vị trí bao nhiêu</a:t>
                      </a:r>
                      <a:endParaRPr lang="en-US" sz="900">
                        <a:sym typeface="+mn-ea"/>
                      </a:endParaRPr>
                    </a:p>
                  </a:txBody>
                  <a:tcPr anchor="ctr" anchorCtr="0"/>
                </a:tc>
                <a:tc>
                  <a:txBody>
                    <a:bodyPr/>
                    <a:p>
                      <a:pPr marL="171450" indent="-171450">
                        <a:buFont typeface="Arial" panose="020B0604020202020204" pitchFamily="34" charset="0"/>
                        <a:buChar char="•"/>
                      </a:pPr>
                      <a:r>
                        <a:rPr lang="en-US" sz="900">
                          <a:sym typeface="+mn-ea"/>
                        </a:rPr>
                        <a:t>Rank 1: </a:t>
                      </a:r>
                      <a:r>
                        <a:rPr lang="en-US" sz="900">
                          <a:solidFill>
                            <a:srgbClr val="00B050"/>
                          </a:solidFill>
                          <a:sym typeface="+mn-ea"/>
                        </a:rPr>
                        <a:t>Đ</a:t>
                      </a:r>
                      <a:r>
                        <a:rPr lang="en-US" sz="900">
                          <a:sym typeface="+mn-ea"/>
                        </a:rPr>
                        <a:t>, Rank 2:</a:t>
                      </a:r>
                      <a:r>
                        <a:rPr lang="en-US" sz="900">
                          <a:solidFill>
                            <a:srgbClr val="FF0000"/>
                          </a:solidFill>
                          <a:sym typeface="+mn-ea"/>
                        </a:rPr>
                        <a:t>S</a:t>
                      </a:r>
                      <a:r>
                        <a:rPr lang="en-US" sz="900">
                          <a:sym typeface="+mn-ea"/>
                        </a:rPr>
                        <a:t>, Rank 3: </a:t>
                      </a:r>
                      <a:r>
                        <a:rPr lang="en-US" sz="900">
                          <a:solidFill>
                            <a:srgbClr val="00B050"/>
                          </a:solidFill>
                          <a:sym typeface="+mn-ea"/>
                        </a:rPr>
                        <a:t>Đ  </a:t>
                      </a:r>
                      <a:endParaRPr lang="en-US" sz="900">
                        <a:solidFill>
                          <a:srgbClr val="00B050"/>
                        </a:solidFill>
                        <a:sym typeface="+mn-ea"/>
                      </a:endParaRPr>
                    </a:p>
                    <a:p>
                      <a:pPr marL="0" indent="0">
                        <a:buFont typeface="Arial" panose="020B0604020202020204" pitchFamily="34" charset="0"/>
                        <a:buNone/>
                      </a:pPr>
                      <a:r>
                        <a:rPr lang="en-US" sz="900">
                          <a:latin typeface="Arial" panose="020B0604020202020204" pitchFamily="34" charset="0"/>
                          <a:cs typeface="Arial" panose="020B0604020202020204" pitchFamily="34" charset="0"/>
                          <a:sym typeface="+mn-ea"/>
                        </a:rPr>
                        <a:t>→ MRR = 1/1 = 100%</a:t>
                      </a:r>
                      <a:endParaRPr lang="en-US" sz="900"/>
                    </a:p>
                    <a:p>
                      <a:pPr marL="171450" indent="-171450">
                        <a:buFont typeface="Arial" panose="020B0604020202020204" pitchFamily="34" charset="0"/>
                        <a:buChar char="•"/>
                      </a:pPr>
                      <a:r>
                        <a:rPr lang="en-US" sz="900">
                          <a:sym typeface="+mn-ea"/>
                        </a:rPr>
                        <a:t>Rank 1: </a:t>
                      </a:r>
                      <a:r>
                        <a:rPr lang="en-US" sz="900">
                          <a:solidFill>
                            <a:srgbClr val="FF0000"/>
                          </a:solidFill>
                          <a:sym typeface="+mn-ea"/>
                        </a:rPr>
                        <a:t>S</a:t>
                      </a:r>
                      <a:r>
                        <a:rPr lang="en-US" sz="900">
                          <a:sym typeface="+mn-ea"/>
                        </a:rPr>
                        <a:t>, Rank 2:</a:t>
                      </a:r>
                      <a:r>
                        <a:rPr lang="en-US" sz="900">
                          <a:solidFill>
                            <a:srgbClr val="00B050"/>
                          </a:solidFill>
                          <a:sym typeface="+mn-ea"/>
                        </a:rPr>
                        <a:t>Đ</a:t>
                      </a:r>
                      <a:r>
                        <a:rPr lang="en-US" sz="900">
                          <a:sym typeface="+mn-ea"/>
                        </a:rPr>
                        <a:t>, Rank 3: </a:t>
                      </a:r>
                      <a:r>
                        <a:rPr lang="en-US" sz="900">
                          <a:solidFill>
                            <a:srgbClr val="00B050"/>
                          </a:solidFill>
                          <a:sym typeface="+mn-ea"/>
                        </a:rPr>
                        <a:t>Đ  </a:t>
                      </a:r>
                      <a:endParaRPr lang="en-US" sz="900">
                        <a:solidFill>
                          <a:srgbClr val="00B050"/>
                        </a:solidFill>
                        <a:sym typeface="+mn-ea"/>
                      </a:endParaRPr>
                    </a:p>
                    <a:p>
                      <a:pPr marL="0" indent="0">
                        <a:buFont typeface="Arial" panose="020B0604020202020204" pitchFamily="34" charset="0"/>
                        <a:buNone/>
                      </a:pPr>
                      <a:r>
                        <a:rPr lang="en-US" sz="900">
                          <a:latin typeface="Arial" panose="020B0604020202020204" pitchFamily="34" charset="0"/>
                          <a:cs typeface="Arial" panose="020B0604020202020204" pitchFamily="34" charset="0"/>
                          <a:sym typeface="+mn-ea"/>
                        </a:rPr>
                        <a:t>→ MRR = 1/2 = 50%</a:t>
                      </a:r>
                      <a:endParaRPr lang="en-US" sz="900"/>
                    </a:p>
                    <a:p>
                      <a:pPr marL="171450" indent="-171450">
                        <a:buFont typeface="Arial" panose="020B0604020202020204" pitchFamily="34" charset="0"/>
                        <a:buChar char="•"/>
                      </a:pPr>
                      <a:r>
                        <a:rPr lang="en-US" sz="900">
                          <a:sym typeface="+mn-ea"/>
                        </a:rPr>
                        <a:t>Rank 1: </a:t>
                      </a:r>
                      <a:r>
                        <a:rPr lang="en-US" sz="900">
                          <a:solidFill>
                            <a:srgbClr val="FF0000"/>
                          </a:solidFill>
                          <a:sym typeface="+mn-ea"/>
                        </a:rPr>
                        <a:t>S</a:t>
                      </a:r>
                      <a:r>
                        <a:rPr lang="en-US" sz="900">
                          <a:sym typeface="+mn-ea"/>
                        </a:rPr>
                        <a:t>, Rank 2:</a:t>
                      </a:r>
                      <a:r>
                        <a:rPr lang="en-US" sz="900">
                          <a:solidFill>
                            <a:srgbClr val="FF0000"/>
                          </a:solidFill>
                          <a:sym typeface="+mn-ea"/>
                        </a:rPr>
                        <a:t>S</a:t>
                      </a:r>
                      <a:r>
                        <a:rPr lang="en-US" sz="900">
                          <a:sym typeface="+mn-ea"/>
                        </a:rPr>
                        <a:t>, Rank 3: </a:t>
                      </a:r>
                      <a:r>
                        <a:rPr lang="en-US" sz="900">
                          <a:solidFill>
                            <a:srgbClr val="00B050"/>
                          </a:solidFill>
                          <a:sym typeface="+mn-ea"/>
                        </a:rPr>
                        <a:t>Đ  </a:t>
                      </a:r>
                      <a:endParaRPr lang="en-US" sz="900">
                        <a:solidFill>
                          <a:srgbClr val="00B050"/>
                        </a:solidFill>
                        <a:sym typeface="+mn-ea"/>
                      </a:endParaRPr>
                    </a:p>
                    <a:p>
                      <a:pPr marL="0" indent="0">
                        <a:buFont typeface="Arial" panose="020B0604020202020204" pitchFamily="34" charset="0"/>
                        <a:buNone/>
                      </a:pPr>
                      <a:r>
                        <a:rPr lang="en-US" sz="900">
                          <a:latin typeface="Arial" panose="020B0604020202020204" pitchFamily="34" charset="0"/>
                          <a:cs typeface="Arial" panose="020B0604020202020204" pitchFamily="34" charset="0"/>
                          <a:sym typeface="+mn-ea"/>
                        </a:rPr>
                        <a:t>→ MRR = 1/3  ~ 33%</a:t>
                      </a:r>
                      <a:endParaRPr lang="en-US" sz="90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sz="900">
                        <a:latin typeface="Arial" panose="020B0604020202020204" pitchFamily="34" charset="0"/>
                        <a:cs typeface="Arial" panose="020B0604020202020204" pitchFamily="34" charset="0"/>
                      </a:endParaRPr>
                    </a:p>
                  </a:txBody>
                  <a:tcPr/>
                </a:tc>
              </a:tr>
              <a:tr h="1188720">
                <a:tc rowSpan="4">
                  <a:txBody>
                    <a:bodyPr/>
                    <a:p>
                      <a:pPr algn="ctr">
                        <a:buNone/>
                      </a:pPr>
                      <a:r>
                        <a:rPr lang="en-US" sz="900" b="1"/>
                        <a:t>Generation</a:t>
                      </a:r>
                      <a:endParaRPr lang="en-US" sz="900" b="1"/>
                    </a:p>
                  </a:txBody>
                  <a:tcPr anchor="ctr" anchorCtr="0"/>
                </a:tc>
                <a:tc>
                  <a:txBody>
                    <a:bodyPr/>
                    <a:p>
                      <a:pPr algn="l">
                        <a:buNone/>
                      </a:pPr>
                      <a:r>
                        <a:rPr lang="en-US" sz="900" b="1">
                          <a:sym typeface="+mn-ea"/>
                        </a:rPr>
                        <a:t>Faithfulness</a:t>
                      </a:r>
                      <a:endParaRPr lang="en-US" sz="900" b="1">
                        <a:sym typeface="+mn-ea"/>
                      </a:endParaRPr>
                    </a:p>
                  </a:txBody>
                  <a:tcPr anchor="ctr" anchorCtr="0"/>
                </a:tc>
                <a:tc>
                  <a:txBody>
                    <a:bodyPr/>
                    <a:p>
                      <a:pPr>
                        <a:buNone/>
                      </a:pPr>
                      <a:r>
                        <a:rPr lang="en-US" sz="900">
                          <a:sym typeface="+mn-ea"/>
                        </a:rPr>
                        <a:t>Kiểm tra câu trả lời dựa ngữ cảnh hay không </a:t>
                      </a:r>
                      <a:endParaRPr lang="en-US" sz="900">
                        <a:sym typeface="+mn-ea"/>
                      </a:endParaRPr>
                    </a:p>
                    <a:p>
                      <a:pPr>
                        <a:buNone/>
                      </a:pPr>
                      <a:r>
                        <a:rPr lang="en-US" sz="900">
                          <a:sym typeface="+mn-ea"/>
                        </a:rPr>
                        <a:t>(dùng công cụ RAGAS đánh giá)</a:t>
                      </a:r>
                      <a:endParaRPr lang="en-US" sz="900">
                        <a:sym typeface="+mn-ea"/>
                      </a:endParaRPr>
                    </a:p>
                  </a:txBody>
                  <a:tcPr anchor="ctr" anchorCtr="0"/>
                </a:tc>
                <a:tc>
                  <a:txBody>
                    <a:bodyPr/>
                    <a:p>
                      <a:pPr marL="171450" indent="-171450">
                        <a:buFont typeface="Arial" panose="020B0604020202020204" pitchFamily="34" charset="0"/>
                        <a:buChar char="•"/>
                      </a:pPr>
                      <a:r>
                        <a:rPr lang="en-US" sz="900" b="1">
                          <a:sym typeface="+mn-ea"/>
                        </a:rPr>
                        <a:t>Context</a:t>
                      </a:r>
                      <a:r>
                        <a:rPr lang="en-US" sz="900">
                          <a:sym typeface="+mn-ea"/>
                        </a:rPr>
                        <a:t>: Recursive chunking chia tài liệu theo heading </a:t>
                      </a:r>
                      <a:endParaRPr lang="en-US" sz="900"/>
                    </a:p>
                    <a:p>
                      <a:pPr marL="171450" indent="-171450">
                        <a:buFont typeface="Arial" panose="020B0604020202020204" pitchFamily="34" charset="0"/>
                        <a:buChar char="•"/>
                      </a:pPr>
                      <a:r>
                        <a:rPr lang="en-US" sz="900" b="1">
                          <a:sym typeface="+mn-ea"/>
                        </a:rPr>
                        <a:t>LLM Generation 1</a:t>
                      </a:r>
                      <a:r>
                        <a:rPr lang="en-US" sz="900">
                          <a:sym typeface="+mn-ea"/>
                        </a:rPr>
                        <a:t>: Recursive chunking chia theo heading</a:t>
                      </a:r>
                      <a:endParaRPr lang="en-US" sz="900"/>
                    </a:p>
                    <a:p>
                      <a:pPr marL="0" indent="0">
                        <a:buFont typeface="Arial" panose="020B0604020202020204" pitchFamily="34" charset="0"/>
                        <a:buNone/>
                      </a:pPr>
                      <a:r>
                        <a:rPr lang="en-US" sz="900">
                          <a:latin typeface="Arial" panose="020B0604020202020204" pitchFamily="34" charset="0"/>
                          <a:cs typeface="Arial" panose="020B0604020202020204" pitchFamily="34" charset="0"/>
                          <a:sym typeface="+mn-ea"/>
                        </a:rPr>
                        <a:t>→ </a:t>
                      </a:r>
                      <a:r>
                        <a:rPr lang="en-US" sz="900" b="1">
                          <a:sym typeface="+mn-ea"/>
                        </a:rPr>
                        <a:t>Faithfulness 1</a:t>
                      </a:r>
                      <a:r>
                        <a:rPr lang="en-US" sz="900">
                          <a:latin typeface="Arial" panose="020B0604020202020204" pitchFamily="34" charset="0"/>
                          <a:cs typeface="Arial" panose="020B0604020202020204" pitchFamily="34" charset="0"/>
                          <a:sym typeface="+mn-ea"/>
                        </a:rPr>
                        <a:t> = Cao</a:t>
                      </a:r>
                      <a:endParaRPr lang="en-US" sz="900">
                        <a:latin typeface="Arial" panose="020B0604020202020204" pitchFamily="34" charset="0"/>
                        <a:cs typeface="Arial" panose="020B0604020202020204" pitchFamily="34" charset="0"/>
                        <a:sym typeface="+mn-ea"/>
                      </a:endParaRPr>
                    </a:p>
                    <a:p>
                      <a:pPr marL="171450" indent="-171450">
                        <a:buFont typeface="Arial" panose="020B0604020202020204" pitchFamily="34" charset="0"/>
                        <a:buChar char="•"/>
                      </a:pPr>
                      <a:r>
                        <a:rPr lang="en-US" sz="900" b="1">
                          <a:sym typeface="+mn-ea"/>
                        </a:rPr>
                        <a:t>LLM Generation 2</a:t>
                      </a:r>
                      <a:r>
                        <a:rPr lang="en-US" sz="900">
                          <a:sym typeface="+mn-ea"/>
                        </a:rPr>
                        <a:t>: Recursive chunking được phát triển năm 2023</a:t>
                      </a:r>
                      <a:endParaRPr lang="en-US" sz="900">
                        <a:sym typeface="+mn-ea"/>
                      </a:endParaRPr>
                    </a:p>
                    <a:p>
                      <a:pPr marL="0" indent="0">
                        <a:buFont typeface="Arial" panose="020B0604020202020204" pitchFamily="34" charset="0"/>
                        <a:buNone/>
                      </a:pPr>
                      <a:r>
                        <a:rPr lang="en-US" sz="900">
                          <a:latin typeface="Arial" panose="020B0604020202020204" pitchFamily="34" charset="0"/>
                          <a:cs typeface="Arial" panose="020B0604020202020204" pitchFamily="34" charset="0"/>
                          <a:sym typeface="+mn-ea"/>
                        </a:rPr>
                        <a:t>→ </a:t>
                      </a:r>
                      <a:r>
                        <a:rPr lang="en-US" sz="900" b="1">
                          <a:sym typeface="+mn-ea"/>
                        </a:rPr>
                        <a:t>Faithfulness 2</a:t>
                      </a:r>
                      <a:r>
                        <a:rPr lang="en-US" sz="900">
                          <a:latin typeface="Arial" panose="020B0604020202020204" pitchFamily="34" charset="0"/>
                          <a:cs typeface="Arial" panose="020B0604020202020204" pitchFamily="34" charset="0"/>
                          <a:sym typeface="+mn-ea"/>
                        </a:rPr>
                        <a:t> = Thấp (Context không có)</a:t>
                      </a:r>
                      <a:endParaRPr lang="en-US" sz="900">
                        <a:latin typeface="Arial" panose="020B0604020202020204" pitchFamily="34" charset="0"/>
                        <a:cs typeface="Arial" panose="020B0604020202020204" pitchFamily="34" charset="0"/>
                        <a:sym typeface="+mn-ea"/>
                      </a:endParaRPr>
                    </a:p>
                  </a:txBody>
                  <a:tcPr/>
                </a:tc>
              </a:tr>
              <a:tr h="777240">
                <a:tc vMerge="1">
                  <a:tcPr/>
                </a:tc>
                <a:tc>
                  <a:txBody>
                    <a:bodyPr/>
                    <a:p>
                      <a:pPr algn="l">
                        <a:buNone/>
                      </a:pPr>
                      <a:r>
                        <a:rPr lang="en-US" sz="900" b="1"/>
                        <a:t>Aswer Relevancy</a:t>
                      </a:r>
                      <a:endParaRPr lang="en-US" sz="900" b="1"/>
                    </a:p>
                  </a:txBody>
                  <a:tcPr anchor="ctr" anchorCtr="0"/>
                </a:tc>
                <a:tc>
                  <a:txBody>
                    <a:bodyPr/>
                    <a:p>
                      <a:pPr>
                        <a:buNone/>
                      </a:pPr>
                      <a:r>
                        <a:rPr lang="en-US" sz="900"/>
                        <a:t>Kiểm tra câu trả lời đúng câu hỏi không</a:t>
                      </a:r>
                      <a:endParaRPr lang="en-US" sz="900"/>
                    </a:p>
                    <a:p>
                      <a:pPr>
                        <a:buNone/>
                      </a:pPr>
                      <a:r>
                        <a:rPr lang="en-US" sz="900">
                          <a:sym typeface="+mn-ea"/>
                        </a:rPr>
                        <a:t>(dùng công cụ RAGAS đánh giá)</a:t>
                      </a:r>
                      <a:endParaRPr lang="en-US" sz="900"/>
                    </a:p>
                  </a:txBody>
                  <a:tcPr anchor="ctr" anchorCtr="0"/>
                </a:tc>
                <a:tc>
                  <a:txBody>
                    <a:bodyPr/>
                    <a:p>
                      <a:pPr marL="0" indent="0">
                        <a:buFont typeface="Arial" panose="020B0604020202020204" pitchFamily="34" charset="0"/>
                        <a:buNone/>
                      </a:pPr>
                      <a:r>
                        <a:rPr lang="en-US" sz="900" b="1"/>
                        <a:t>Question</a:t>
                      </a:r>
                      <a:r>
                        <a:rPr lang="en-US" sz="900"/>
                        <a:t>: Embedding là gì?</a:t>
                      </a:r>
                      <a:endParaRPr lang="en-US" sz="900"/>
                    </a:p>
                    <a:p>
                      <a:pPr marL="0" indent="0">
                        <a:buFont typeface="Arial" panose="020B0604020202020204" pitchFamily="34" charset="0"/>
                        <a:buNone/>
                      </a:pPr>
                      <a:r>
                        <a:rPr lang="en-US" sz="900" b="1"/>
                        <a:t>Aswer 1:</a:t>
                      </a:r>
                      <a:r>
                        <a:rPr lang="en-US" sz="900"/>
                        <a:t> Embedding chuyển văn bản thành vector</a:t>
                      </a:r>
                      <a:endParaRPr lang="en-US" sz="900"/>
                    </a:p>
                    <a:p>
                      <a:pPr marL="0" indent="0">
                        <a:buFont typeface="Arial" panose="020B0604020202020204" pitchFamily="34" charset="0"/>
                        <a:buNone/>
                      </a:pPr>
                      <a:r>
                        <a:rPr lang="en-US" sz="900">
                          <a:latin typeface="Arial" panose="020B0604020202020204" pitchFamily="34" charset="0"/>
                          <a:cs typeface="Arial" panose="020B0604020202020204" pitchFamily="34" charset="0"/>
                          <a:sym typeface="+mn-ea"/>
                        </a:rPr>
                        <a:t>→ Rất liên quan</a:t>
                      </a:r>
                      <a:endParaRPr lang="en-US" sz="900">
                        <a:latin typeface="Arial" panose="020B0604020202020204" pitchFamily="34" charset="0"/>
                        <a:cs typeface="Arial" panose="020B0604020202020204" pitchFamily="34" charset="0"/>
                        <a:sym typeface="+mn-ea"/>
                      </a:endParaRPr>
                    </a:p>
                    <a:p>
                      <a:pPr marL="0" indent="0">
                        <a:buFont typeface="Arial" panose="020B0604020202020204" pitchFamily="34" charset="0"/>
                        <a:buNone/>
                      </a:pPr>
                      <a:r>
                        <a:rPr lang="en-US" sz="900" b="1"/>
                        <a:t>Aswer 2</a:t>
                      </a:r>
                      <a:r>
                        <a:rPr lang="en-US" sz="900"/>
                        <a:t>: Embedding được OpenAI phát triển</a:t>
                      </a:r>
                      <a:endParaRPr lang="en-US" sz="900"/>
                    </a:p>
                    <a:p>
                      <a:pPr marL="0" indent="0">
                        <a:buFont typeface="Arial" panose="020B0604020202020204" pitchFamily="34" charset="0"/>
                        <a:buNone/>
                      </a:pPr>
                      <a:r>
                        <a:rPr lang="en-US" sz="900">
                          <a:latin typeface="Arial" panose="020B0604020202020204" pitchFamily="34" charset="0"/>
                          <a:cs typeface="Arial" panose="020B0604020202020204" pitchFamily="34" charset="0"/>
                          <a:sym typeface="+mn-ea"/>
                        </a:rPr>
                        <a:t>→ Không liên quan</a:t>
                      </a:r>
                      <a:endParaRPr lang="en-US" sz="900">
                        <a:latin typeface="Arial" panose="020B0604020202020204" pitchFamily="34" charset="0"/>
                        <a:cs typeface="Arial" panose="020B0604020202020204" pitchFamily="34" charset="0"/>
                        <a:sym typeface="+mn-ea"/>
                      </a:endParaRPr>
                    </a:p>
                  </a:txBody>
                  <a:tcPr/>
                </a:tc>
              </a:tr>
              <a:tr h="502920">
                <a:tc vMerge="1">
                  <a:tcPr/>
                </a:tc>
                <a:tc>
                  <a:txBody>
                    <a:bodyPr/>
                    <a:p>
                      <a:pPr algn="l">
                        <a:buNone/>
                      </a:pPr>
                      <a:r>
                        <a:rPr lang="en-US" sz="900" b="1"/>
                        <a:t>Context Precision</a:t>
                      </a:r>
                      <a:endParaRPr lang="en-US" sz="900" b="1"/>
                    </a:p>
                  </a:txBody>
                  <a:tcPr anchor="ctr" anchorCtr="0"/>
                </a:tc>
                <a:tc>
                  <a:txBody>
                    <a:bodyPr/>
                    <a:p>
                      <a:pPr>
                        <a:buNone/>
                      </a:pPr>
                      <a:r>
                        <a:rPr lang="en-US" sz="900"/>
                        <a:t>Kiểm tra ngữ cảnh đưa vào Prompt có thực sự cần thiết không</a:t>
                      </a:r>
                      <a:endParaRPr lang="en-US" sz="900"/>
                    </a:p>
                    <a:p>
                      <a:pPr>
                        <a:buNone/>
                      </a:pPr>
                      <a:r>
                        <a:rPr lang="en-US" sz="900">
                          <a:sym typeface="+mn-ea"/>
                        </a:rPr>
                        <a:t>(dùng công cụ RAGAS đánh giá)</a:t>
                      </a:r>
                      <a:endParaRPr lang="en-US" sz="900"/>
                    </a:p>
                  </a:txBody>
                  <a:tcPr anchor="ctr" anchorCtr="0"/>
                </a:tc>
                <a:tc>
                  <a:txBody>
                    <a:bodyPr/>
                    <a:p>
                      <a:pPr marL="0" indent="0">
                        <a:buFont typeface="Arial" panose="020B0604020202020204" pitchFamily="34" charset="0"/>
                        <a:buNone/>
                      </a:pPr>
                      <a:r>
                        <a:rPr lang="en-US" sz="900" b="1"/>
                        <a:t>Prompt</a:t>
                      </a:r>
                      <a:r>
                        <a:rPr lang="en-US" sz="900"/>
                        <a:t>: Chứa 10 chunk</a:t>
                      </a:r>
                      <a:endParaRPr lang="en-US" sz="900"/>
                    </a:p>
                    <a:p>
                      <a:pPr marL="0" indent="0">
                        <a:buFont typeface="Arial" panose="020B0604020202020204" pitchFamily="34" charset="0"/>
                        <a:buNone/>
                      </a:pPr>
                      <a:r>
                        <a:rPr lang="en-US" sz="900" b="1"/>
                        <a:t>LLM</a:t>
                      </a:r>
                      <a:r>
                        <a:rPr lang="en-US" sz="900"/>
                        <a:t>: 2 chunk hữu ích</a:t>
                      </a:r>
                      <a:endParaRPr lang="en-US" sz="900"/>
                    </a:p>
                    <a:p>
                      <a:pPr marL="0" indent="0">
                        <a:buFont typeface="Arial" panose="020B0604020202020204" pitchFamily="34" charset="0"/>
                        <a:buNone/>
                      </a:pPr>
                      <a:r>
                        <a:rPr lang="en-US" sz="900">
                          <a:latin typeface="Arial" panose="020B0604020202020204" pitchFamily="34" charset="0"/>
                          <a:cs typeface="Arial" panose="020B0604020202020204" pitchFamily="34" charset="0"/>
                          <a:sym typeface="+mn-ea"/>
                        </a:rPr>
                        <a:t>→ Độ chính xác ngữ cảnh thấp</a:t>
                      </a:r>
                      <a:endParaRPr lang="en-US" sz="900">
                        <a:latin typeface="Arial" panose="020B0604020202020204" pitchFamily="34" charset="0"/>
                        <a:cs typeface="Arial" panose="020B0604020202020204" pitchFamily="34" charset="0"/>
                        <a:sym typeface="+mn-ea"/>
                      </a:endParaRPr>
                    </a:p>
                  </a:txBody>
                  <a:tcPr/>
                </a:tc>
              </a:tr>
              <a:tr h="502920">
                <a:tc vMerge="1">
                  <a:tcPr/>
                </a:tc>
                <a:tc>
                  <a:txBody>
                    <a:bodyPr/>
                    <a:p>
                      <a:pPr algn="l">
                        <a:buNone/>
                      </a:pPr>
                      <a:r>
                        <a:rPr lang="en-US" sz="900" b="1"/>
                        <a:t>Context Recall</a:t>
                      </a:r>
                      <a:endParaRPr lang="en-US" sz="900" b="1"/>
                    </a:p>
                  </a:txBody>
                  <a:tcPr anchor="ctr" anchorCtr="0"/>
                </a:tc>
                <a:tc>
                  <a:txBody>
                    <a:bodyPr/>
                    <a:p>
                      <a:pPr>
                        <a:buNone/>
                      </a:pPr>
                      <a:r>
                        <a:rPr lang="en-US" sz="900"/>
                        <a:t>Kiểm tra có thiếu ngữ cảnh quan trọng không</a:t>
                      </a:r>
                      <a:endParaRPr lang="en-US" sz="900"/>
                    </a:p>
                    <a:p>
                      <a:pPr>
                        <a:buNone/>
                      </a:pPr>
                      <a:r>
                        <a:rPr lang="en-US" sz="900">
                          <a:sym typeface="+mn-ea"/>
                        </a:rPr>
                        <a:t>(dùng công cụ RAGAS đánh giá)</a:t>
                      </a:r>
                      <a:endParaRPr lang="en-US" sz="900"/>
                    </a:p>
                  </a:txBody>
                  <a:tcPr anchor="ctr" anchorCtr="0"/>
                </a:tc>
                <a:tc>
                  <a:txBody>
                    <a:bodyPr/>
                    <a:p>
                      <a:pPr marL="0" indent="0">
                        <a:buFont typeface="Arial" panose="020B0604020202020204" pitchFamily="34" charset="0"/>
                        <a:buNone/>
                      </a:pPr>
                      <a:r>
                        <a:rPr lang="en-US" sz="900" b="1"/>
                        <a:t>Groud Truth</a:t>
                      </a:r>
                      <a:r>
                        <a:rPr lang="en-US" sz="900"/>
                        <a:t>: Chunk A, B, C</a:t>
                      </a:r>
                      <a:endParaRPr lang="en-US" sz="900"/>
                    </a:p>
                    <a:p>
                      <a:pPr marL="0" indent="0">
                        <a:buFont typeface="Arial" panose="020B0604020202020204" pitchFamily="34" charset="0"/>
                        <a:buNone/>
                      </a:pPr>
                      <a:r>
                        <a:rPr lang="en-US" sz="900" b="1"/>
                        <a:t>Retriever</a:t>
                      </a:r>
                      <a:r>
                        <a:rPr lang="en-US" sz="900"/>
                        <a:t>: Chunk A, B</a:t>
                      </a:r>
                      <a:endParaRPr lang="en-US" sz="900"/>
                    </a:p>
                    <a:p>
                      <a:pPr marL="0" indent="0">
                        <a:buFont typeface="Arial" panose="020B0604020202020204" pitchFamily="34" charset="0"/>
                        <a:buNone/>
                      </a:pPr>
                      <a:r>
                        <a:rPr lang="en-US" sz="900">
                          <a:latin typeface="Arial" panose="020B0604020202020204" pitchFamily="34" charset="0"/>
                          <a:cs typeface="Arial" panose="020B0604020202020204" pitchFamily="34" charset="0"/>
                          <a:sym typeface="+mn-ea"/>
                        </a:rPr>
                        <a:t>→ Thiếu C, Recall thấp</a:t>
                      </a:r>
                      <a:endParaRPr lang="en-US" sz="900">
                        <a:latin typeface="Arial" panose="020B0604020202020204" pitchFamily="34" charset="0"/>
                        <a:cs typeface="Arial" panose="020B0604020202020204" pitchFamily="34" charset="0"/>
                        <a:sym typeface="+mn-ea"/>
                      </a:endParaRPr>
                    </a:p>
                  </a:txBody>
                  <a:tcPr/>
                </a:tc>
              </a:tr>
              <a:tr h="368935">
                <a:tc>
                  <a:txBody>
                    <a:bodyPr/>
                    <a:p>
                      <a:pPr algn="ctr">
                        <a:buNone/>
                      </a:pPr>
                      <a:r>
                        <a:rPr lang="en-US" sz="900" b="1"/>
                        <a:t>Performance</a:t>
                      </a:r>
                      <a:endParaRPr lang="en-US" sz="900" b="1"/>
                    </a:p>
                  </a:txBody>
                  <a:tcPr anchor="ctr" anchorCtr="0"/>
                </a:tc>
                <a:tc>
                  <a:txBody>
                    <a:bodyPr/>
                    <a:p>
                      <a:pPr algn="l">
                        <a:buNone/>
                      </a:pPr>
                      <a:r>
                        <a:rPr lang="en-US" sz="900" b="1"/>
                        <a:t>Response Time</a:t>
                      </a:r>
                      <a:endParaRPr lang="en-US" sz="900" b="1"/>
                    </a:p>
                  </a:txBody>
                  <a:tcPr anchor="ctr" anchorCtr="0"/>
                </a:tc>
                <a:tc>
                  <a:txBody>
                    <a:bodyPr/>
                    <a:p>
                      <a:pPr>
                        <a:buNone/>
                      </a:pPr>
                      <a:r>
                        <a:rPr lang="en-US" sz="900"/>
                        <a:t>Đánh giá tốc độ phản hồi hệ thống</a:t>
                      </a:r>
                      <a:endParaRPr lang="en-US" sz="900"/>
                    </a:p>
                  </a:txBody>
                  <a:tcPr anchor="ctr" anchorCtr="0"/>
                </a:tc>
                <a:tc>
                  <a:txBody>
                    <a:bodyPr/>
                    <a:p>
                      <a:pPr marL="0" indent="0">
                        <a:buFont typeface="Arial" panose="020B0604020202020204" pitchFamily="34" charset="0"/>
                        <a:buNone/>
                      </a:pPr>
                      <a:r>
                        <a:rPr lang="en-US" sz="900">
                          <a:latin typeface="Arial" panose="020B0604020202020204" pitchFamily="34" charset="0"/>
                          <a:cs typeface="Arial" panose="020B0604020202020204" pitchFamily="34" charset="0"/>
                          <a:sym typeface="+mn-ea"/>
                        </a:rPr>
                        <a:t>Đo thời gian từ lúc bắt đầu truy xuất đến khi LLM trả hồi đáp</a:t>
                      </a:r>
                      <a:endParaRPr lang="en-US" sz="900">
                        <a:latin typeface="Arial" panose="020B0604020202020204" pitchFamily="34" charset="0"/>
                        <a:cs typeface="Arial" panose="020B0604020202020204" pitchFamily="34" charset="0"/>
                        <a:sym typeface="+mn-ea"/>
                      </a:endParaRPr>
                    </a:p>
                  </a:txBody>
                  <a:tcPr/>
                </a:tc>
              </a:tr>
            </a:tbl>
          </a:graphicData>
        </a:graphic>
      </p:graphicFrame>
      <p:sp>
        <p:nvSpPr>
          <p:cNvPr id="43" name="Text Box 42"/>
          <p:cNvSpPr txBox="1"/>
          <p:nvPr/>
        </p:nvSpPr>
        <p:spPr>
          <a:xfrm>
            <a:off x="733425" y="6541770"/>
            <a:ext cx="8275320" cy="275590"/>
          </a:xfrm>
          <a:prstGeom prst="rect">
            <a:avLst/>
          </a:prstGeom>
          <a:noFill/>
        </p:spPr>
        <p:txBody>
          <a:bodyPr wrap="square" rtlCol="0">
            <a:spAutoFit/>
          </a:bodyPr>
          <a:p>
            <a:pPr algn="ctr"/>
            <a:r>
              <a:rPr lang="en-US" sz="1200" b="1" i="1"/>
              <a:t>Bảng liệt kê các tiêu chí</a:t>
            </a:r>
            <a:endParaRPr lang="en-US" sz="1200" b="1" i="1"/>
          </a:p>
        </p:txBody>
      </p:sp>
      <p:sp>
        <p:nvSpPr>
          <p:cNvPr id="44" name="Text Box 43"/>
          <p:cNvSpPr txBox="1"/>
          <p:nvPr/>
        </p:nvSpPr>
        <p:spPr>
          <a:xfrm>
            <a:off x="9505950" y="6503670"/>
            <a:ext cx="2248535" cy="275590"/>
          </a:xfrm>
          <a:prstGeom prst="rect">
            <a:avLst/>
          </a:prstGeom>
          <a:noFill/>
        </p:spPr>
        <p:txBody>
          <a:bodyPr wrap="square" rtlCol="0">
            <a:spAutoFit/>
          </a:bodyPr>
          <a:p>
            <a:pPr algn="ctr"/>
            <a:r>
              <a:rPr lang="en-US" sz="1200" b="1" i="1"/>
              <a:t>Đánh giá qua RAGAS</a:t>
            </a:r>
            <a:endParaRPr lang="en-US" sz="1200" b="1" i="1"/>
          </a:p>
        </p:txBody>
      </p:sp>
      <p:pic>
        <p:nvPicPr>
          <p:cNvPr id="45" name="Picture 44"/>
          <p:cNvPicPr>
            <a:picLocks noChangeAspect="1"/>
          </p:cNvPicPr>
          <p:nvPr/>
        </p:nvPicPr>
        <p:blipFill>
          <a:blip r:embed="rId3"/>
          <a:stretch>
            <a:fillRect/>
          </a:stretch>
        </p:blipFill>
        <p:spPr>
          <a:xfrm>
            <a:off x="9733915" y="958215"/>
            <a:ext cx="1791970" cy="53193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8" name="Shape 188"/>
        <p:cNvGrpSpPr/>
        <p:nvPr/>
      </p:nvGrpSpPr>
      <p:grpSpPr>
        <a:xfrm>
          <a:off x="0" y="0"/>
          <a:ext cx="0" cy="0"/>
          <a:chOff x="0" y="0"/>
          <a:chExt cx="0" cy="0"/>
        </a:xfrm>
      </p:grpSpPr>
      <p:pic>
        <p:nvPicPr>
          <p:cNvPr id="189" name="Google Shape;189;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90" name="Google Shape;190;p22"/>
          <p:cNvSpPr txBox="1"/>
          <p:nvPr/>
        </p:nvSpPr>
        <p:spPr>
          <a:xfrm>
            <a:off x="581025" y="22479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Thiết kế thí nghiệm</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91" name="Google Shape;191;p22"/>
          <p:cNvSpPr/>
          <p:nvPr/>
        </p:nvSpPr>
        <p:spPr>
          <a:xfrm>
            <a:off x="581025" y="82486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 name="Picture 2"/>
          <p:cNvPicPr>
            <a:picLocks noChangeAspect="1"/>
          </p:cNvPicPr>
          <p:nvPr/>
        </p:nvPicPr>
        <p:blipFill>
          <a:blip r:embed="rId2"/>
          <a:stretch>
            <a:fillRect/>
          </a:stretch>
        </p:blipFill>
        <p:spPr>
          <a:xfrm>
            <a:off x="687070" y="1242060"/>
            <a:ext cx="4702810" cy="4679315"/>
          </a:xfrm>
          <a:prstGeom prst="rect">
            <a:avLst/>
          </a:prstGeom>
        </p:spPr>
      </p:pic>
      <p:sp>
        <p:nvSpPr>
          <p:cNvPr id="7" name="Text Box 6"/>
          <p:cNvSpPr txBox="1"/>
          <p:nvPr/>
        </p:nvSpPr>
        <p:spPr>
          <a:xfrm>
            <a:off x="803275" y="6058535"/>
            <a:ext cx="4422775" cy="306705"/>
          </a:xfrm>
          <a:prstGeom prst="rect">
            <a:avLst/>
          </a:prstGeom>
          <a:noFill/>
        </p:spPr>
        <p:txBody>
          <a:bodyPr wrap="square" rtlCol="0">
            <a:spAutoFit/>
          </a:bodyPr>
          <a:p>
            <a:pPr algn="ctr"/>
            <a:r>
              <a:rPr lang="en-US" b="1" i="1"/>
              <a:t>Quy trình biên soạn câu hỏi và chạy kiểm thử</a:t>
            </a:r>
            <a:endParaRPr lang="en-US" b="1" i="1"/>
          </a:p>
        </p:txBody>
      </p:sp>
      <p:sp>
        <p:nvSpPr>
          <p:cNvPr id="8" name="Text Box 7"/>
          <p:cNvSpPr txBox="1"/>
          <p:nvPr/>
        </p:nvSpPr>
        <p:spPr>
          <a:xfrm>
            <a:off x="6462395" y="6432550"/>
            <a:ext cx="4422775" cy="306705"/>
          </a:xfrm>
          <a:prstGeom prst="rect">
            <a:avLst/>
          </a:prstGeom>
          <a:noFill/>
        </p:spPr>
        <p:txBody>
          <a:bodyPr wrap="square" rtlCol="0">
            <a:spAutoFit/>
          </a:bodyPr>
          <a:p>
            <a:pPr algn="ctr"/>
            <a:r>
              <a:rPr lang="en-US" b="1" i="1"/>
              <a:t>Câu hỏi tiếng việt và tiếng anh cho kiểm thử</a:t>
            </a:r>
            <a:endParaRPr lang="en-US" b="1" i="1"/>
          </a:p>
        </p:txBody>
      </p:sp>
      <p:pic>
        <p:nvPicPr>
          <p:cNvPr id="2" name="Picture 1"/>
          <p:cNvPicPr>
            <a:picLocks noChangeAspect="1"/>
          </p:cNvPicPr>
          <p:nvPr/>
        </p:nvPicPr>
        <p:blipFill>
          <a:blip r:embed="rId3"/>
          <a:stretch>
            <a:fillRect/>
          </a:stretch>
        </p:blipFill>
        <p:spPr>
          <a:xfrm>
            <a:off x="6287770" y="3537585"/>
            <a:ext cx="4597400" cy="2730500"/>
          </a:xfrm>
          <a:prstGeom prst="rect">
            <a:avLst/>
          </a:prstGeom>
          <a:ln w="19050">
            <a:solidFill>
              <a:schemeClr val="accent1"/>
            </a:solidFill>
          </a:ln>
        </p:spPr>
      </p:pic>
      <p:pic>
        <p:nvPicPr>
          <p:cNvPr id="4" name="Picture 3"/>
          <p:cNvPicPr>
            <a:picLocks noChangeAspect="1"/>
          </p:cNvPicPr>
          <p:nvPr/>
        </p:nvPicPr>
        <p:blipFill>
          <a:blip r:embed="rId4"/>
          <a:stretch>
            <a:fillRect/>
          </a:stretch>
        </p:blipFill>
        <p:spPr>
          <a:xfrm>
            <a:off x="6287135" y="897890"/>
            <a:ext cx="4598035" cy="2473960"/>
          </a:xfrm>
          <a:prstGeom prst="rect">
            <a:avLst/>
          </a:prstGeom>
          <a:ln w="19050">
            <a:solidFill>
              <a:schemeClr val="accent1"/>
            </a:solid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8" name="Shape 188"/>
        <p:cNvGrpSpPr/>
        <p:nvPr/>
      </p:nvGrpSpPr>
      <p:grpSpPr>
        <a:xfrm>
          <a:off x="0" y="0"/>
          <a:ext cx="0" cy="0"/>
          <a:chOff x="0" y="0"/>
          <a:chExt cx="0" cy="0"/>
        </a:xfrm>
      </p:grpSpPr>
      <p:pic>
        <p:nvPicPr>
          <p:cNvPr id="189" name="Google Shape;189;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90" name="Google Shape;190;p22"/>
          <p:cNvSpPr txBox="1"/>
          <p:nvPr/>
        </p:nvSpPr>
        <p:spPr>
          <a:xfrm>
            <a:off x="581025" y="22479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So sánh kết quả thực thi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91" name="Google Shape;191;p22"/>
          <p:cNvSpPr/>
          <p:nvPr/>
        </p:nvSpPr>
        <p:spPr>
          <a:xfrm>
            <a:off x="581025" y="82486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193" name="Google Shape;193;p22"/>
          <p:cNvGraphicFramePr/>
          <p:nvPr>
            <p:custDataLst>
              <p:tags r:id="rId2"/>
            </p:custDataLst>
          </p:nvPr>
        </p:nvGraphicFramePr>
        <p:xfrm>
          <a:off x="1768475" y="1526540"/>
          <a:ext cx="8654415" cy="4340225"/>
        </p:xfrm>
        <a:graphic>
          <a:graphicData uri="http://schemas.openxmlformats.org/drawingml/2006/table">
            <a:tbl>
              <a:tblPr firstRow="1" bandRow="1">
                <a:noFill/>
                <a:tableStyleId>{563BAAE7-5AD5-439F-8A98-D4DF17002F6F}</a:tableStyleId>
              </a:tblPr>
              <a:tblGrid>
                <a:gridCol w="1471295"/>
                <a:gridCol w="2524760"/>
                <a:gridCol w="1205230"/>
                <a:gridCol w="946785"/>
                <a:gridCol w="887095"/>
                <a:gridCol w="814705"/>
                <a:gridCol w="804545"/>
              </a:tblGrid>
              <a:tr h="437515">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Nhóm tiêu chí</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Tiêu chí đánh giá</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rPr>
                        <a:t>Bộ tìm kiếm</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Ngôn ngữ gốc</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dịch sang Tiếng Anh</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r>
              <a:tr h="63436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altLang="zh-CN" sz="1000" b="1">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rPr>
                        <a:t>Ngôn ngữ dữ liệu kiểm thử</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3215">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truy xuất</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63 %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83 %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80 %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575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5)</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70 %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3)</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60 %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60 %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639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Thứ hạng tương hỗ (MRR)</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62 %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58 %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sinh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trung thực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63 %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82.4 %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88 %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80 %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liên quan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60 %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78 %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84 %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77 %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3401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60 %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88 %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86 %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02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57 %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95 %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93 %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95 %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row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trung bình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12.1 s</a:t>
                      </a:r>
                      <a:endPar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7.3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10.2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7 s</a:t>
                      </a:r>
                      <a:endPar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của 95% mẫu thử</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22.5 s</a:t>
                      </a:r>
                      <a:endPar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13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17.4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10.7 s</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bl>
          </a:graphicData>
        </a:graphic>
      </p:graphicFrame>
      <p:sp>
        <p:nvSpPr>
          <p:cNvPr id="2" name="Text Box 1"/>
          <p:cNvSpPr txBox="1"/>
          <p:nvPr/>
        </p:nvSpPr>
        <p:spPr>
          <a:xfrm>
            <a:off x="581025" y="999490"/>
            <a:ext cx="5986780" cy="306705"/>
          </a:xfrm>
          <a:prstGeom prst="rect">
            <a:avLst/>
          </a:prstGeom>
          <a:noFill/>
        </p:spPr>
        <p:txBody>
          <a:bodyPr wrap="square" rtlCol="0">
            <a:spAutoFit/>
          </a:bodyPr>
          <a:p>
            <a:r>
              <a:rPr lang="en-US"/>
              <a:t>Kiểm tra loại câu hỏi về </a:t>
            </a:r>
            <a:r>
              <a:rPr lang="en-US" b="1"/>
              <a:t>Kiến thức nến thơm (Candle Knowledge)</a:t>
            </a:r>
            <a:endParaRPr lang="en-US" b="1"/>
          </a:p>
        </p:txBody>
      </p:sp>
      <p:sp>
        <p:nvSpPr>
          <p:cNvPr id="16" name="Text Box 15"/>
          <p:cNvSpPr txBox="1"/>
          <p:nvPr/>
        </p:nvSpPr>
        <p:spPr>
          <a:xfrm>
            <a:off x="1109345" y="6086475"/>
            <a:ext cx="9507220" cy="306705"/>
          </a:xfrm>
          <a:prstGeom prst="rect">
            <a:avLst/>
          </a:prstGeom>
          <a:noFill/>
        </p:spPr>
        <p:txBody>
          <a:bodyPr wrap="square" rtlCol="0">
            <a:spAutoFit/>
          </a:bodyPr>
          <a:p>
            <a:pPr algn="ctr"/>
            <a:r>
              <a:rPr lang="en-US">
                <a:latin typeface="Arial" panose="020B0604020202020204" pitchFamily="34" charset="0"/>
                <a:cs typeface="Arial" panose="020B0604020202020204" pitchFamily="34" charset="0"/>
              </a:rPr>
              <a:t>- Hiệu quả về độ chính xác và thời gian khi sử dụng với </a:t>
            </a:r>
            <a:r>
              <a:rPr lang="en-US" b="1">
                <a:latin typeface="Arial" panose="020B0604020202020204" pitchFamily="34" charset="0"/>
                <a:cs typeface="Arial" panose="020B0604020202020204" pitchFamily="34" charset="0"/>
              </a:rPr>
              <a:t>bộ dịch Tiếng Anh </a:t>
            </a:r>
            <a:r>
              <a:rPr lang="en-US">
                <a:latin typeface="Arial" panose="020B0604020202020204" pitchFamily="34" charset="0"/>
                <a:cs typeface="Arial" panose="020B0604020202020204" pitchFamily="34" charset="0"/>
              </a:rPr>
              <a:t>cho cả câu hỏi tiếng anh hay tiếng việt</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8" name="Shape 188"/>
        <p:cNvGrpSpPr/>
        <p:nvPr/>
      </p:nvGrpSpPr>
      <p:grpSpPr>
        <a:xfrm>
          <a:off x="0" y="0"/>
          <a:ext cx="0" cy="0"/>
          <a:chOff x="0" y="0"/>
          <a:chExt cx="0" cy="0"/>
        </a:xfrm>
      </p:grpSpPr>
      <p:pic>
        <p:nvPicPr>
          <p:cNvPr id="189" name="Google Shape;189;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90" name="Google Shape;190;p22"/>
          <p:cNvSpPr txBox="1"/>
          <p:nvPr/>
        </p:nvSpPr>
        <p:spPr>
          <a:xfrm>
            <a:off x="581025" y="217805"/>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So sánh kết quả thực thi (tt 1)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91" name="Google Shape;191;p22"/>
          <p:cNvSpPr/>
          <p:nvPr/>
        </p:nvSpPr>
        <p:spPr>
          <a:xfrm>
            <a:off x="581025" y="81788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490220" y="965200"/>
            <a:ext cx="5986780" cy="306705"/>
          </a:xfrm>
          <a:prstGeom prst="rect">
            <a:avLst/>
          </a:prstGeom>
          <a:noFill/>
        </p:spPr>
        <p:txBody>
          <a:bodyPr wrap="square" rtlCol="0">
            <a:spAutoFit/>
          </a:bodyPr>
          <a:p>
            <a:r>
              <a:rPr lang="en-US"/>
              <a:t>Kiểm tra loại câu hỏi về </a:t>
            </a:r>
            <a:r>
              <a:rPr lang="en-US" b="1">
                <a:sym typeface="+mn-ea"/>
              </a:rPr>
              <a:t>Chương trình khuyến mãi (Discount program)</a:t>
            </a:r>
            <a:endParaRPr lang="en-US" b="1"/>
          </a:p>
        </p:txBody>
      </p:sp>
      <p:sp>
        <p:nvSpPr>
          <p:cNvPr id="16" name="Text Box 15"/>
          <p:cNvSpPr txBox="1"/>
          <p:nvPr/>
        </p:nvSpPr>
        <p:spPr>
          <a:xfrm>
            <a:off x="1342390" y="5968365"/>
            <a:ext cx="9507220" cy="306705"/>
          </a:xfrm>
          <a:prstGeom prst="rect">
            <a:avLst/>
          </a:prstGeom>
          <a:noFill/>
        </p:spPr>
        <p:txBody>
          <a:bodyPr wrap="square" rtlCol="0">
            <a:spAutoFit/>
          </a:bodyPr>
          <a:p>
            <a:pPr algn="ctr"/>
            <a:r>
              <a:rPr lang="en-US">
                <a:latin typeface="Arial" panose="020B0604020202020204" pitchFamily="34" charset="0"/>
                <a:cs typeface="Arial" panose="020B0604020202020204" pitchFamily="34" charset="0"/>
              </a:rPr>
              <a:t>- Hiệu quả về độ chính xác và thời gian khi sử dụng với </a:t>
            </a:r>
            <a:r>
              <a:rPr lang="en-US" b="1">
                <a:latin typeface="Arial" panose="020B0604020202020204" pitchFamily="34" charset="0"/>
                <a:cs typeface="Arial" panose="020B0604020202020204" pitchFamily="34" charset="0"/>
              </a:rPr>
              <a:t>bộ dịch Tiếng Anh</a:t>
            </a:r>
            <a:r>
              <a:rPr lang="en-US">
                <a:latin typeface="Arial" panose="020B0604020202020204" pitchFamily="34" charset="0"/>
                <a:cs typeface="Arial" panose="020B0604020202020204" pitchFamily="34" charset="0"/>
              </a:rPr>
              <a:t> cho cả câu hỏi tiếng anh hay tiếng việt</a:t>
            </a:r>
            <a:endParaRPr lang="en-US">
              <a:latin typeface="Arial" panose="020B0604020202020204" pitchFamily="34" charset="0"/>
              <a:cs typeface="Arial" panose="020B0604020202020204" pitchFamily="34" charset="0"/>
            </a:endParaRPr>
          </a:p>
        </p:txBody>
      </p:sp>
      <p:graphicFrame>
        <p:nvGraphicFramePr>
          <p:cNvPr id="3" name="Google Shape;193;p22"/>
          <p:cNvGraphicFramePr/>
          <p:nvPr>
            <p:custDataLst>
              <p:tags r:id="rId2"/>
            </p:custDataLst>
          </p:nvPr>
        </p:nvGraphicFramePr>
        <p:xfrm>
          <a:off x="1768475" y="1400175"/>
          <a:ext cx="8654415" cy="4340225"/>
        </p:xfrm>
        <a:graphic>
          <a:graphicData uri="http://schemas.openxmlformats.org/drawingml/2006/table">
            <a:tbl>
              <a:tblPr firstRow="1" bandRow="1">
                <a:noFill/>
                <a:tableStyleId>{563BAAE7-5AD5-439F-8A98-D4DF17002F6F}</a:tableStyleId>
              </a:tblPr>
              <a:tblGrid>
                <a:gridCol w="1471295"/>
                <a:gridCol w="2524760"/>
                <a:gridCol w="1205230"/>
                <a:gridCol w="939165"/>
                <a:gridCol w="894715"/>
                <a:gridCol w="814705"/>
                <a:gridCol w="804545"/>
              </a:tblGrid>
              <a:tr h="437515">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Nhóm tiêu chí</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Tiêu chí đánh giá</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rPr>
                        <a:t>Bộ tìm kiếm</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Ngôn ngữ gốc</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dịch sang Tiếng Anh</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r>
              <a:tr h="63436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altLang="zh-CN" sz="1000" b="1">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rPr>
                        <a:t>Ngôn ngữ dữ liệu kiểm thử</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3215">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truy xuất</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85 %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85 %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575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5)</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3)</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639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Thứ hạng tương hỗ (MRR)</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sinh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trung thực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88 %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81 %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83 %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liên quan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91 %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84 %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3401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80 %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79 %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76 %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79 %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02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91 %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88 %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row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trung bình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7.7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6.9 s</a:t>
                      </a:r>
                      <a:endPar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8.1 s</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7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của 95% mẫu thử</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12.8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10.4 s</a:t>
                      </a:r>
                      <a:endPar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14.6 s</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10.9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8" name="Shape 188"/>
        <p:cNvGrpSpPr/>
        <p:nvPr/>
      </p:nvGrpSpPr>
      <p:grpSpPr>
        <a:xfrm>
          <a:off x="0" y="0"/>
          <a:ext cx="0" cy="0"/>
          <a:chOff x="0" y="0"/>
          <a:chExt cx="0" cy="0"/>
        </a:xfrm>
      </p:grpSpPr>
      <p:pic>
        <p:nvPicPr>
          <p:cNvPr id="189" name="Google Shape;189;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90" name="Google Shape;190;p22"/>
          <p:cNvSpPr txBox="1"/>
          <p:nvPr/>
        </p:nvSpPr>
        <p:spPr>
          <a:xfrm>
            <a:off x="581025" y="15494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So sánh kết quả thực thi (tt 2)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91" name="Google Shape;191;p22"/>
          <p:cNvSpPr/>
          <p:nvPr/>
        </p:nvSpPr>
        <p:spPr>
          <a:xfrm>
            <a:off x="581025" y="75501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490220" y="925830"/>
            <a:ext cx="5986780" cy="306705"/>
          </a:xfrm>
          <a:prstGeom prst="rect">
            <a:avLst/>
          </a:prstGeom>
          <a:noFill/>
        </p:spPr>
        <p:txBody>
          <a:bodyPr wrap="square" rtlCol="0">
            <a:spAutoFit/>
          </a:bodyPr>
          <a:p>
            <a:r>
              <a:rPr lang="en-US"/>
              <a:t>Kiểm tra loại câu hỏi về </a:t>
            </a:r>
            <a:r>
              <a:rPr lang="en-US" b="1">
                <a:sym typeface="+mn-ea"/>
              </a:rPr>
              <a:t>Các chính sách (Policies)</a:t>
            </a:r>
            <a:endParaRPr lang="en-US" b="1"/>
          </a:p>
        </p:txBody>
      </p:sp>
      <p:sp>
        <p:nvSpPr>
          <p:cNvPr id="16" name="Text Box 15"/>
          <p:cNvSpPr txBox="1"/>
          <p:nvPr/>
        </p:nvSpPr>
        <p:spPr>
          <a:xfrm>
            <a:off x="1308100" y="5996305"/>
            <a:ext cx="9507220" cy="306705"/>
          </a:xfrm>
          <a:prstGeom prst="rect">
            <a:avLst/>
          </a:prstGeom>
          <a:noFill/>
        </p:spPr>
        <p:txBody>
          <a:bodyPr wrap="square" rtlCol="0">
            <a:spAutoFit/>
          </a:bodyPr>
          <a:p>
            <a:pPr algn="ctr"/>
            <a:r>
              <a:rPr lang="en-US">
                <a:latin typeface="Arial" panose="020B0604020202020204" pitchFamily="34" charset="0"/>
                <a:cs typeface="Arial" panose="020B0604020202020204" pitchFamily="34" charset="0"/>
              </a:rPr>
              <a:t>- Hiệu quả về độ chính xác và thời gian khi sử dụng với </a:t>
            </a:r>
            <a:r>
              <a:rPr lang="en-US" b="1">
                <a:latin typeface="Arial" panose="020B0604020202020204" pitchFamily="34" charset="0"/>
                <a:cs typeface="Arial" panose="020B0604020202020204" pitchFamily="34" charset="0"/>
              </a:rPr>
              <a:t>bộ dịch Tiếng Anh</a:t>
            </a:r>
            <a:r>
              <a:rPr lang="en-US">
                <a:latin typeface="Arial" panose="020B0604020202020204" pitchFamily="34" charset="0"/>
                <a:cs typeface="Arial" panose="020B0604020202020204" pitchFamily="34" charset="0"/>
              </a:rPr>
              <a:t> cho cả câu hỏi tiếng anh hay tiếng việt</a:t>
            </a:r>
            <a:endParaRPr lang="en-US">
              <a:latin typeface="Arial" panose="020B0604020202020204" pitchFamily="34" charset="0"/>
              <a:cs typeface="Arial" panose="020B0604020202020204" pitchFamily="34" charset="0"/>
            </a:endParaRPr>
          </a:p>
        </p:txBody>
      </p:sp>
      <p:graphicFrame>
        <p:nvGraphicFramePr>
          <p:cNvPr id="3" name="Google Shape;193;p22"/>
          <p:cNvGraphicFramePr/>
          <p:nvPr>
            <p:custDataLst>
              <p:tags r:id="rId2"/>
            </p:custDataLst>
          </p:nvPr>
        </p:nvGraphicFramePr>
        <p:xfrm>
          <a:off x="1734185" y="1407160"/>
          <a:ext cx="8654415" cy="4340225"/>
        </p:xfrm>
        <a:graphic>
          <a:graphicData uri="http://schemas.openxmlformats.org/drawingml/2006/table">
            <a:tbl>
              <a:tblPr firstRow="1" bandRow="1">
                <a:noFill/>
                <a:tableStyleId>{563BAAE7-5AD5-439F-8A98-D4DF17002F6F}</a:tableStyleId>
              </a:tblPr>
              <a:tblGrid>
                <a:gridCol w="1471295"/>
                <a:gridCol w="2524760"/>
                <a:gridCol w="1205230"/>
                <a:gridCol w="924560"/>
                <a:gridCol w="909320"/>
                <a:gridCol w="814705"/>
                <a:gridCol w="804545"/>
              </a:tblGrid>
              <a:tr h="437515">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Nhóm tiêu chí</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Tiêu chí đánh giá</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rPr>
                        <a:t>Bộ tìm kiếm</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Ngôn ngữ gốc</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dịch sang Tiếng Anh</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r>
              <a:tr h="63436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altLang="zh-CN" sz="1000" b="1">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rPr>
                        <a:t>Ngôn ngữ dữ liệu kiểm thử</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3215">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truy xuất</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93 %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93 %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575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5)</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3)</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639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Thứ hạng tương hỗ (MRR)</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sinh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trung thực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88 %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86 %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91 %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85 %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liên quan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92 %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94 %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3401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88 %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84 %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02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97 %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row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trung bình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7.3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4.89 s</a:t>
                      </a:r>
                      <a:endPar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7.7 s</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6.6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của 95% mẫu thử</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11.9 s</a:t>
                      </a:r>
                      <a:endPar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6.65 s</a:t>
                      </a:r>
                      <a:endPar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11.7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9.9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8" name="Shape 188"/>
        <p:cNvGrpSpPr/>
        <p:nvPr/>
      </p:nvGrpSpPr>
      <p:grpSpPr>
        <a:xfrm>
          <a:off x="0" y="0"/>
          <a:ext cx="0" cy="0"/>
          <a:chOff x="0" y="0"/>
          <a:chExt cx="0" cy="0"/>
        </a:xfrm>
      </p:grpSpPr>
      <p:pic>
        <p:nvPicPr>
          <p:cNvPr id="189" name="Google Shape;189;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90" name="Google Shape;190;p22"/>
          <p:cNvSpPr txBox="1"/>
          <p:nvPr/>
        </p:nvSpPr>
        <p:spPr>
          <a:xfrm>
            <a:off x="581025" y="22479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So sánh kết quả thực thi (tt 3)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91" name="Google Shape;191;p22"/>
          <p:cNvSpPr/>
          <p:nvPr/>
        </p:nvSpPr>
        <p:spPr>
          <a:xfrm>
            <a:off x="581025" y="82486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490220" y="904875"/>
            <a:ext cx="5986780" cy="306705"/>
          </a:xfrm>
          <a:prstGeom prst="rect">
            <a:avLst/>
          </a:prstGeom>
          <a:noFill/>
        </p:spPr>
        <p:txBody>
          <a:bodyPr wrap="square" rtlCol="0">
            <a:spAutoFit/>
          </a:bodyPr>
          <a:p>
            <a:r>
              <a:rPr lang="en-US"/>
              <a:t>Kiểm tra loại câu hỏi về </a:t>
            </a:r>
            <a:r>
              <a:rPr lang="en-US" b="1">
                <a:sym typeface="+mn-ea"/>
              </a:rPr>
              <a:t>Danh sách sản phẩm (Product catalog)</a:t>
            </a:r>
            <a:endParaRPr lang="en-US" b="1"/>
          </a:p>
        </p:txBody>
      </p:sp>
      <p:sp>
        <p:nvSpPr>
          <p:cNvPr id="16" name="Text Box 15"/>
          <p:cNvSpPr txBox="1"/>
          <p:nvPr/>
        </p:nvSpPr>
        <p:spPr>
          <a:xfrm>
            <a:off x="581025" y="5907405"/>
            <a:ext cx="6641465" cy="521335"/>
          </a:xfrm>
          <a:prstGeom prst="rect">
            <a:avLst/>
          </a:prstGeom>
          <a:noFill/>
        </p:spPr>
        <p:txBody>
          <a:bodyPr wrap="square" rtlCol="0">
            <a:noAutofit/>
          </a:bodyPr>
          <a:p>
            <a:pPr algn="l"/>
            <a:r>
              <a:rPr lang="en-US" sz="1200">
                <a:latin typeface="Arial" panose="020B0604020202020204" pitchFamily="34" charset="0"/>
                <a:cs typeface="Arial" panose="020B0604020202020204" pitchFamily="34" charset="0"/>
              </a:rPr>
              <a:t>- Tìm kiếm bằng </a:t>
            </a:r>
            <a:r>
              <a:rPr lang="en-US" sz="1200" b="1">
                <a:latin typeface="Arial" panose="020B0604020202020204" pitchFamily="34" charset="0"/>
                <a:cs typeface="Arial" panose="020B0604020202020204" pitchFamily="34" charset="0"/>
              </a:rPr>
              <a:t>bộ ngôn ngữ gốc</a:t>
            </a:r>
            <a:r>
              <a:rPr lang="en-US" sz="1200">
                <a:latin typeface="Arial" panose="020B0604020202020204" pitchFamily="34" charset="0"/>
                <a:cs typeface="Arial" panose="020B0604020202020204" pitchFamily="34" charset="0"/>
              </a:rPr>
              <a:t> giúp </a:t>
            </a:r>
            <a:r>
              <a:rPr lang="en-US" sz="1200">
                <a:highlight>
                  <a:srgbClr val="00FF00"/>
                </a:highlight>
                <a:latin typeface="Arial" panose="020B0604020202020204" pitchFamily="34" charset="0"/>
                <a:cs typeface="Arial" panose="020B0604020202020204" pitchFamily="34" charset="0"/>
              </a:rPr>
              <a:t>cải thiện truy xuất và độ chính xác</a:t>
            </a:r>
            <a:endParaRPr lang="en-US" sz="1200">
              <a:latin typeface="Arial" panose="020B0604020202020204" pitchFamily="34" charset="0"/>
              <a:cs typeface="Arial" panose="020B0604020202020204" pitchFamily="34" charset="0"/>
            </a:endParaRPr>
          </a:p>
          <a:p>
            <a:pPr algn="l"/>
            <a:r>
              <a:rPr lang="en-US" sz="1200">
                <a:latin typeface="Arial" panose="020B0604020202020204" pitchFamily="34" charset="0"/>
                <a:cs typeface="Arial" panose="020B0604020202020204" pitchFamily="34" charset="0"/>
              </a:rPr>
              <a:t>- Tìm kiếm bằng </a:t>
            </a:r>
            <a:r>
              <a:rPr lang="en-US" sz="1200" b="1">
                <a:latin typeface="Arial" panose="020B0604020202020204" pitchFamily="34" charset="0"/>
                <a:cs typeface="Arial" panose="020B0604020202020204" pitchFamily="34" charset="0"/>
              </a:rPr>
              <a:t>bộ dịch Tiếng Anh</a:t>
            </a:r>
            <a:r>
              <a:rPr lang="en-US" sz="1200">
                <a:latin typeface="Arial" panose="020B0604020202020204" pitchFamily="34" charset="0"/>
                <a:cs typeface="Arial" panose="020B0604020202020204" pitchFamily="34" charset="0"/>
              </a:rPr>
              <a:t> giúp </a:t>
            </a:r>
            <a:r>
              <a:rPr lang="en-US" sz="1200">
                <a:highlight>
                  <a:srgbClr val="00FF00"/>
                </a:highlight>
                <a:latin typeface="Arial" panose="020B0604020202020204" pitchFamily="34" charset="0"/>
                <a:cs typeface="Arial" panose="020B0604020202020204" pitchFamily="34" charset="0"/>
              </a:rPr>
              <a:t>cải thiện thời gian</a:t>
            </a:r>
            <a:endParaRPr lang="en-US" sz="1200">
              <a:latin typeface="Arial" panose="020B0604020202020204" pitchFamily="34" charset="0"/>
              <a:cs typeface="Arial" panose="020B0604020202020204" pitchFamily="34" charset="0"/>
            </a:endParaRPr>
          </a:p>
        </p:txBody>
      </p:sp>
      <p:sp>
        <p:nvSpPr>
          <p:cNvPr id="17" name="Text Box 16"/>
          <p:cNvSpPr txBox="1"/>
          <p:nvPr/>
        </p:nvSpPr>
        <p:spPr>
          <a:xfrm>
            <a:off x="9138285" y="1818005"/>
            <a:ext cx="2566670" cy="3744595"/>
          </a:xfrm>
          <a:prstGeom prst="rect">
            <a:avLst/>
          </a:prstGeom>
          <a:noFill/>
        </p:spPr>
        <p:txBody>
          <a:bodyPr wrap="square" rtlCol="0">
            <a:noAutofit/>
          </a:bodyPr>
          <a:p>
            <a:pPr algn="just"/>
            <a:r>
              <a:rPr lang="en-US" sz="1200">
                <a:latin typeface="Arial" panose="020B0604020202020204" pitchFamily="34" charset="0"/>
                <a:cs typeface="Arial" panose="020B0604020202020204" pitchFamily="34" charset="0"/>
              </a:rPr>
              <a:t>Khả năng tìm kiếm bằng tiếng việt đạt kết quả vượt trội tùy thuộc vào cấu trúc tập dữ liệu cơ sở</a:t>
            </a:r>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 Trong tập dữ liệu của Danh sách sản phẩm, có các từ khóa (Keyword) tiếng việt, giúp cải thiện khả năng tìm kiếm bằng tiếng Việt</a:t>
            </a:r>
            <a:endParaRPr lang="en-US" sz="1200">
              <a:latin typeface="Arial" panose="020B0604020202020204" pitchFamily="34" charset="0"/>
              <a:cs typeface="Arial" panose="020B0604020202020204" pitchFamily="34" charset="0"/>
            </a:endParaRPr>
          </a:p>
        </p:txBody>
      </p:sp>
      <p:graphicFrame>
        <p:nvGraphicFramePr>
          <p:cNvPr id="3" name="Google Shape;193;p22"/>
          <p:cNvGraphicFramePr/>
          <p:nvPr>
            <p:custDataLst>
              <p:tags r:id="rId2"/>
            </p:custDataLst>
          </p:nvPr>
        </p:nvGraphicFramePr>
        <p:xfrm>
          <a:off x="415925" y="1339850"/>
          <a:ext cx="8654415" cy="4340225"/>
        </p:xfrm>
        <a:graphic>
          <a:graphicData uri="http://schemas.openxmlformats.org/drawingml/2006/table">
            <a:tbl>
              <a:tblPr firstRow="1" bandRow="1">
                <a:noFill/>
                <a:tableStyleId>{563BAAE7-5AD5-439F-8A98-D4DF17002F6F}</a:tableStyleId>
              </a:tblPr>
              <a:tblGrid>
                <a:gridCol w="1471295"/>
                <a:gridCol w="2524760"/>
                <a:gridCol w="1205230"/>
                <a:gridCol w="932180"/>
                <a:gridCol w="901700"/>
                <a:gridCol w="814705"/>
                <a:gridCol w="804545"/>
              </a:tblGrid>
              <a:tr h="437515">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Nhóm tiêu chí</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Tiêu chí đánh giá</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rPr>
                        <a:t>Bộ tìm kiếm</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Ngôn ngữ gốc</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dịch sang Tiếng Anh</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r>
              <a:tr h="63436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altLang="zh-CN" sz="1000" b="1">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rPr>
                        <a:t>Ngôn ngữ dữ liệu kiểm thử</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3215">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truy xuất</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95 %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95 %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95 %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575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5)</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95 %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3)</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639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Thứ hạng tương hỗ (MRR)</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98 %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92 %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91 %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92 %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sinh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trung thực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98 %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96 %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96 %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liên quan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92 %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92 %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86 %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92 %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3401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95 %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86 %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02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95 %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row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trung bình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6.1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4 s</a:t>
                      </a:r>
                      <a:endPar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6.2 s</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4.6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của 95% mẫu thử</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10.9 s</a:t>
                      </a:r>
                      <a:endPar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5 s</a:t>
                      </a:r>
                      <a:endPar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9.5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6.6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bl>
          </a:graphicData>
        </a:graphic>
      </p:graphicFrame>
      <p:pic>
        <p:nvPicPr>
          <p:cNvPr id="4" name="Picture 3"/>
          <p:cNvPicPr>
            <a:picLocks noChangeAspect="1"/>
          </p:cNvPicPr>
          <p:nvPr/>
        </p:nvPicPr>
        <p:blipFill>
          <a:blip r:embed="rId3"/>
          <a:stretch>
            <a:fillRect/>
          </a:stretch>
        </p:blipFill>
        <p:spPr>
          <a:xfrm>
            <a:off x="9204325" y="3189605"/>
            <a:ext cx="2795270" cy="1755140"/>
          </a:xfrm>
          <a:prstGeom prst="rect">
            <a:avLst/>
          </a:prstGeom>
          <a:ln w="19050">
            <a:solidFill>
              <a:schemeClr val="accent1"/>
            </a:solid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8" name="Shape 188"/>
        <p:cNvGrpSpPr/>
        <p:nvPr/>
      </p:nvGrpSpPr>
      <p:grpSpPr>
        <a:xfrm>
          <a:off x="0" y="0"/>
          <a:ext cx="0" cy="0"/>
          <a:chOff x="0" y="0"/>
          <a:chExt cx="0" cy="0"/>
        </a:xfrm>
      </p:grpSpPr>
      <p:pic>
        <p:nvPicPr>
          <p:cNvPr id="189" name="Google Shape;189;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90" name="Google Shape;190;p22"/>
          <p:cNvSpPr txBox="1"/>
          <p:nvPr/>
        </p:nvSpPr>
        <p:spPr>
          <a:xfrm>
            <a:off x="581025" y="154940"/>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So sánh kết quả thực thi (tt 4)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91" name="Google Shape;191;p22"/>
          <p:cNvSpPr/>
          <p:nvPr/>
        </p:nvSpPr>
        <p:spPr>
          <a:xfrm>
            <a:off x="581025" y="755015"/>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490220" y="866775"/>
            <a:ext cx="5986780" cy="306705"/>
          </a:xfrm>
          <a:prstGeom prst="rect">
            <a:avLst/>
          </a:prstGeom>
          <a:noFill/>
        </p:spPr>
        <p:txBody>
          <a:bodyPr wrap="square" rtlCol="0">
            <a:spAutoFit/>
          </a:bodyPr>
          <a:p>
            <a:r>
              <a:rPr lang="en-US"/>
              <a:t>Kiểm tra loại câu hỏi về </a:t>
            </a:r>
            <a:r>
              <a:rPr lang="en-US" b="1">
                <a:sym typeface="+mn-ea"/>
              </a:rPr>
              <a:t>Hướng dẫn sử dụng (User Guidance)</a:t>
            </a:r>
            <a:endParaRPr lang="en-US" b="1"/>
          </a:p>
        </p:txBody>
      </p:sp>
      <p:graphicFrame>
        <p:nvGraphicFramePr>
          <p:cNvPr id="3" name="Google Shape;193;p22"/>
          <p:cNvGraphicFramePr/>
          <p:nvPr>
            <p:custDataLst>
              <p:tags r:id="rId2"/>
            </p:custDataLst>
          </p:nvPr>
        </p:nvGraphicFramePr>
        <p:xfrm>
          <a:off x="1768475" y="1463040"/>
          <a:ext cx="8654415" cy="4340225"/>
        </p:xfrm>
        <a:graphic>
          <a:graphicData uri="http://schemas.openxmlformats.org/drawingml/2006/table">
            <a:tbl>
              <a:tblPr firstRow="1" bandRow="1">
                <a:noFill/>
                <a:tableStyleId>{563BAAE7-5AD5-439F-8A98-D4DF17002F6F}</a:tableStyleId>
              </a:tblPr>
              <a:tblGrid>
                <a:gridCol w="1471295"/>
                <a:gridCol w="2524760"/>
                <a:gridCol w="1205230"/>
                <a:gridCol w="976630"/>
                <a:gridCol w="857250"/>
                <a:gridCol w="814705"/>
                <a:gridCol w="804545"/>
              </a:tblGrid>
              <a:tr h="437515">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Nhóm tiêu chí</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Tiêu chí đánh giá</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rPr>
                        <a:t>Bộ tìm kiếm</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Ngôn ngữ gốc</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dịch sang Tiếng Anh</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r>
              <a:tr h="63436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altLang="zh-CN" sz="1000" b="1">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rPr>
                        <a:t>Ngôn ngữ dữ liệu kiểm thử</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3215">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truy xuất</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575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5)</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3)</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639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Thứ hạng tương hỗ (MRR)</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53 %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80 %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85 %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80 %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sinh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trung thực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91 %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88 %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92 %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liên quan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92 %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92 %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93 %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3401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73 %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92 %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91 %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02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row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trung bình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6.7 s</a:t>
                      </a:r>
                      <a:endPar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5.3 s</a:t>
                      </a:r>
                      <a:endPar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6.3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5.6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của 95% mẫu thử</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9.7 s</a:t>
                      </a:r>
                      <a:endPar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7 s</a:t>
                      </a:r>
                      <a:endPar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8.8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7.1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bl>
          </a:graphicData>
        </a:graphic>
      </p:graphicFrame>
      <p:sp>
        <p:nvSpPr>
          <p:cNvPr id="16" name="Text Box 15"/>
          <p:cNvSpPr txBox="1"/>
          <p:nvPr/>
        </p:nvSpPr>
        <p:spPr>
          <a:xfrm>
            <a:off x="1308100" y="5996305"/>
            <a:ext cx="9507220" cy="306705"/>
          </a:xfrm>
          <a:prstGeom prst="rect">
            <a:avLst/>
          </a:prstGeom>
          <a:noFill/>
        </p:spPr>
        <p:txBody>
          <a:bodyPr wrap="square" rtlCol="0">
            <a:spAutoFit/>
          </a:bodyPr>
          <a:p>
            <a:pPr algn="ctr"/>
            <a:r>
              <a:rPr lang="en-US">
                <a:latin typeface="Arial" panose="020B0604020202020204" pitchFamily="34" charset="0"/>
                <a:cs typeface="Arial" panose="020B0604020202020204" pitchFamily="34" charset="0"/>
              </a:rPr>
              <a:t>- Hiệu quả về độ chính xác và thời gian khi sử dụng với </a:t>
            </a:r>
            <a:r>
              <a:rPr lang="en-US" b="1">
                <a:latin typeface="Arial" panose="020B0604020202020204" pitchFamily="34" charset="0"/>
                <a:cs typeface="Arial" panose="020B0604020202020204" pitchFamily="34" charset="0"/>
              </a:rPr>
              <a:t>bộ dịch Tiếng Anh</a:t>
            </a:r>
            <a:r>
              <a:rPr lang="en-US">
                <a:latin typeface="Arial" panose="020B0604020202020204" pitchFamily="34" charset="0"/>
                <a:cs typeface="Arial" panose="020B0604020202020204" pitchFamily="34" charset="0"/>
              </a:rPr>
              <a:t> cho cả câu hỏi tiếng anh hay tiếng việt</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8" name="Shape 188"/>
        <p:cNvGrpSpPr/>
        <p:nvPr/>
      </p:nvGrpSpPr>
      <p:grpSpPr>
        <a:xfrm>
          <a:off x="0" y="0"/>
          <a:ext cx="0" cy="0"/>
          <a:chOff x="0" y="0"/>
          <a:chExt cx="0" cy="0"/>
        </a:xfrm>
      </p:grpSpPr>
      <p:pic>
        <p:nvPicPr>
          <p:cNvPr id="189" name="Google Shape;189;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90" name="Google Shape;190;p22"/>
          <p:cNvSpPr txBox="1"/>
          <p:nvPr/>
        </p:nvSpPr>
        <p:spPr>
          <a:xfrm>
            <a:off x="581025" y="299085"/>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So sánh kết quả thực thi (tt 5) </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91" name="Google Shape;191;p22"/>
          <p:cNvSpPr/>
          <p:nvPr/>
        </p:nvSpPr>
        <p:spPr>
          <a:xfrm>
            <a:off x="581025" y="89916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Text Box 2"/>
          <p:cNvSpPr txBox="1"/>
          <p:nvPr/>
        </p:nvSpPr>
        <p:spPr>
          <a:xfrm>
            <a:off x="490220" y="996950"/>
            <a:ext cx="5986780" cy="306705"/>
          </a:xfrm>
          <a:prstGeom prst="rect">
            <a:avLst/>
          </a:prstGeom>
          <a:noFill/>
        </p:spPr>
        <p:txBody>
          <a:bodyPr wrap="square" rtlCol="0">
            <a:spAutoFit/>
          </a:bodyPr>
          <a:p>
            <a:r>
              <a:rPr lang="en-US"/>
              <a:t>Tổng hợp các kết quả kiểm tra</a:t>
            </a:r>
            <a:endParaRPr lang="en-US" b="1"/>
          </a:p>
        </p:txBody>
      </p:sp>
      <p:sp>
        <p:nvSpPr>
          <p:cNvPr id="2" name="Text Box 1"/>
          <p:cNvSpPr txBox="1"/>
          <p:nvPr/>
        </p:nvSpPr>
        <p:spPr>
          <a:xfrm>
            <a:off x="1541145" y="5962650"/>
            <a:ext cx="9660255" cy="779780"/>
          </a:xfrm>
          <a:prstGeom prst="rect">
            <a:avLst/>
          </a:prstGeom>
          <a:noFill/>
        </p:spPr>
        <p:txBody>
          <a:bodyPr wrap="square" rtlCol="0">
            <a:noAutofit/>
          </a:bodyPr>
          <a:p>
            <a:pPr algn="l"/>
            <a:r>
              <a:rPr lang="en-US">
                <a:latin typeface="Arial" panose="020B0604020202020204" pitchFamily="34" charset="0"/>
                <a:cs typeface="Arial" panose="020B0604020202020204" pitchFamily="34" charset="0"/>
              </a:rPr>
              <a:t>- Tìm kiếm bằng </a:t>
            </a:r>
            <a:r>
              <a:rPr lang="en-US" b="1">
                <a:latin typeface="Arial" panose="020B0604020202020204" pitchFamily="34" charset="0"/>
                <a:cs typeface="Arial" panose="020B0604020202020204" pitchFamily="34" charset="0"/>
              </a:rPr>
              <a:t>bộ ngôn ngữ gốc</a:t>
            </a:r>
            <a:r>
              <a:rPr lang="en-US">
                <a:latin typeface="Arial" panose="020B0604020202020204" pitchFamily="34" charset="0"/>
                <a:cs typeface="Arial" panose="020B0604020202020204" pitchFamily="34" charset="0"/>
              </a:rPr>
              <a:t> giúp </a:t>
            </a:r>
            <a:r>
              <a:rPr lang="en-US">
                <a:highlight>
                  <a:srgbClr val="00FF00"/>
                </a:highlight>
                <a:latin typeface="Arial" panose="020B0604020202020204" pitchFamily="34" charset="0"/>
                <a:cs typeface="Arial" panose="020B0604020202020204" pitchFamily="34" charset="0"/>
              </a:rPr>
              <a:t>cải thiện khả năng truy xuất nếu ngôn ngữ hỏi giống ngôn ngữ làm tài liệu</a:t>
            </a:r>
            <a:endParaRPr lang="en-US">
              <a:highlight>
                <a:srgbClr val="00FF00"/>
              </a:highlight>
              <a:latin typeface="Arial" panose="020B0604020202020204" pitchFamily="34" charset="0"/>
              <a:cs typeface="Arial" panose="020B0604020202020204" pitchFamily="34" charset="0"/>
            </a:endParaRPr>
          </a:p>
          <a:p>
            <a:pPr algn="l"/>
            <a:r>
              <a:rPr lang="en-US">
                <a:latin typeface="Arial" panose="020B0604020202020204" pitchFamily="34" charset="0"/>
                <a:cs typeface="Arial" panose="020B0604020202020204" pitchFamily="34" charset="0"/>
              </a:rPr>
              <a:t>- Tìm kiếm bằng </a:t>
            </a:r>
            <a:r>
              <a:rPr lang="en-US" b="1">
                <a:latin typeface="Arial" panose="020B0604020202020204" pitchFamily="34" charset="0"/>
                <a:cs typeface="Arial" panose="020B0604020202020204" pitchFamily="34" charset="0"/>
              </a:rPr>
              <a:t>bộ dịch Tiếng Anh</a:t>
            </a:r>
            <a:r>
              <a:rPr lang="en-US">
                <a:latin typeface="Arial" panose="020B0604020202020204" pitchFamily="34" charset="0"/>
                <a:cs typeface="Arial" panose="020B0604020202020204" pitchFamily="34" charset="0"/>
              </a:rPr>
              <a:t> giúp </a:t>
            </a:r>
            <a:r>
              <a:rPr lang="en-US">
                <a:highlight>
                  <a:srgbClr val="00FF00"/>
                </a:highlight>
                <a:latin typeface="Arial" panose="020B0604020202020204" pitchFamily="34" charset="0"/>
                <a:cs typeface="Arial" panose="020B0604020202020204" pitchFamily="34" charset="0"/>
              </a:rPr>
              <a:t>cải thiện thời gian và độ chính xác cao hơn</a:t>
            </a:r>
            <a:endParaRPr lang="en-US">
              <a:highlight>
                <a:srgbClr val="00FF00"/>
              </a:highlight>
              <a:latin typeface="Arial" panose="020B0604020202020204" pitchFamily="34" charset="0"/>
              <a:cs typeface="Arial" panose="020B0604020202020204" pitchFamily="34" charset="0"/>
            </a:endParaRPr>
          </a:p>
          <a:p>
            <a:pPr algn="l"/>
            <a:r>
              <a:rPr lang="en-US">
                <a:latin typeface="Arial" panose="020B0604020202020204" pitchFamily="34" charset="0"/>
                <a:cs typeface="Arial" panose="020B0604020202020204" pitchFamily="34" charset="0"/>
              </a:rPr>
              <a:t>→ Nên dùng </a:t>
            </a:r>
            <a:r>
              <a:rPr lang="en-US" b="1">
                <a:latin typeface="Arial" panose="020B0604020202020204" pitchFamily="34" charset="0"/>
                <a:cs typeface="Arial" panose="020B0604020202020204" pitchFamily="34" charset="0"/>
              </a:rPr>
              <a:t>bộ dịch Tiếng Anh</a:t>
            </a:r>
            <a:r>
              <a:rPr lang="en-US">
                <a:latin typeface="Arial" panose="020B0604020202020204" pitchFamily="34" charset="0"/>
                <a:cs typeface="Arial" panose="020B0604020202020204" pitchFamily="34" charset="0"/>
              </a:rPr>
              <a:t> đem lại nhiều lợi ích hơn và cân bằng về hiệu suất theo nhiều mặt</a:t>
            </a:r>
            <a:endParaRPr lang="en-US" b="1">
              <a:latin typeface="Arial" panose="020B0604020202020204" pitchFamily="34" charset="0"/>
              <a:cs typeface="Arial" panose="020B0604020202020204" pitchFamily="34" charset="0"/>
            </a:endParaRPr>
          </a:p>
        </p:txBody>
      </p:sp>
      <p:graphicFrame>
        <p:nvGraphicFramePr>
          <p:cNvPr id="4" name="Google Shape;193;p22"/>
          <p:cNvGraphicFramePr/>
          <p:nvPr>
            <p:custDataLst>
              <p:tags r:id="rId2"/>
            </p:custDataLst>
          </p:nvPr>
        </p:nvGraphicFramePr>
        <p:xfrm>
          <a:off x="1768475" y="1382395"/>
          <a:ext cx="8654415" cy="4340225"/>
        </p:xfrm>
        <a:graphic>
          <a:graphicData uri="http://schemas.openxmlformats.org/drawingml/2006/table">
            <a:tbl>
              <a:tblPr firstRow="1" bandRow="1">
                <a:noFill/>
                <a:tableStyleId>{563BAAE7-5AD5-439F-8A98-D4DF17002F6F}</a:tableStyleId>
              </a:tblPr>
              <a:tblGrid>
                <a:gridCol w="1471295"/>
                <a:gridCol w="2524760"/>
                <a:gridCol w="1205230"/>
                <a:gridCol w="976630"/>
                <a:gridCol w="857250"/>
                <a:gridCol w="814705"/>
                <a:gridCol w="804545"/>
              </a:tblGrid>
              <a:tr h="437515">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Nhóm tiêu chí</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rowSpan="2">
                  <a:txBody>
                    <a:bodyPr/>
                    <a:p>
                      <a:pPr marL="0" marR="0" lvl="0" indent="0" algn="ctr" rtl="0">
                        <a:spcBef>
                          <a:spcPts val="0"/>
                        </a:spcBef>
                        <a:spcAft>
                          <a:spcPts val="0"/>
                        </a:spcAft>
                        <a:buNone/>
                      </a:pPr>
                      <a:r>
                        <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rPr>
                        <a:t>Tiêu chí đánh giá</a:t>
                      </a:r>
                      <a:endParaRPr lang="en-US" altLang="zh-CN"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rPr>
                        <a:t>Bộ tìm kiếm</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Ngôn ngữ gốc</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gridSpan="2">
                  <a:txBody>
                    <a:bodyPr/>
                    <a:p>
                      <a:pPr marL="0" marR="0" lvl="0" indent="0" algn="ctr" rtl="0">
                        <a:spcBef>
                          <a:spcPts val="0"/>
                        </a:spcBef>
                        <a:spcAft>
                          <a:spcPts val="0"/>
                        </a:spcAft>
                        <a:buNone/>
                      </a:pPr>
                      <a:r>
                        <a:rPr lang="en-US" sz="1000">
                          <a:solidFill>
                            <a:srgbClr val="2C5282"/>
                          </a:solidFill>
                          <a:latin typeface="Inter" panose="02000503000000020004"/>
                          <a:ea typeface="Inter" panose="02000503000000020004"/>
                          <a:cs typeface="Inter" panose="02000503000000020004"/>
                          <a:sym typeface="Inter" panose="02000503000000020004"/>
                        </a:rPr>
                        <a:t>Bộ dịch sang Tiếng Anh</a:t>
                      </a:r>
                      <a:endParaRPr lang="en-US" sz="1000" b="1" i="0" u="none" strike="noStrike" cap="none">
                        <a:solidFill>
                          <a:srgbClr val="2C5282"/>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hMerge="1">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r>
              <a:tr h="63436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altLang="zh-CN" sz="1000" b="1">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rPr>
                        <a:t>Ngôn ngữ dữ liệu kiểm thử</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rgbClr val="EFEAE0"/>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Việt</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a:solidFill>
                            <a:srgbClr val="1A202C"/>
                          </a:solidFill>
                          <a:highlight>
                            <a:srgbClr val="000000">
                              <a:alpha val="0"/>
                            </a:srgbClr>
                          </a:highlight>
                          <a:latin typeface="Inter" panose="02000503000000020004"/>
                          <a:ea typeface="Inter" panose="02000503000000020004"/>
                          <a:cs typeface="Inter" panose="02000503000000020004"/>
                          <a:sym typeface="Inter" panose="02000503000000020004"/>
                        </a:rPr>
                        <a:t>Tiếng Anh</a:t>
                      </a:r>
                      <a:endParaRPr lang="en-US" sz="1000" b="1" i="0" u="none" strike="noStrike" cap="none">
                        <a:solidFill>
                          <a:srgbClr val="2C5282"/>
                        </a:solidFill>
                        <a:highlight>
                          <a:srgbClr val="000000">
                            <a:alpha val="0"/>
                          </a:srgbClr>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3215">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truy xuất</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86.4 %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87.5 %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88.3 %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575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5)</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88.2 %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95 %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100 %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lstStyle/>
                    <a:p>
                      <a:pPr marL="0" marR="0" lvl="0" indent="0" algn="l" rtl="0">
                        <a:spcBef>
                          <a:spcPts val="0"/>
                        </a:spcBef>
                        <a:spcAft>
                          <a:spcPts val="0"/>
                        </a:spcAft>
                        <a:buNone/>
                      </a:pPr>
                      <a:r>
                        <a:rPr lang="en-US" sz="1000">
                          <a:solidFill>
                            <a:srgbClr val="1A202C"/>
                          </a:solidFill>
                          <a:latin typeface="Inter" panose="02000503000000020004"/>
                          <a:ea typeface="Inter" panose="02000503000000020004"/>
                          <a:cs typeface="Inter" panose="02000503000000020004"/>
                          <a:sym typeface="Inter" panose="02000503000000020004"/>
                        </a:rPr>
                        <a:t>Độ truy xuất đúng dữ liệu (Dữ liệu liên quan trong Top 3)</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85.5 %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98.3 %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86.7 %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98.3 %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639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Thứ hạng tương hỗ (MRR)</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80.7 %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90.6 %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83.1 %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90.6 %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rowSpan="4">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sinh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trung thực</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82 %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86.1 %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89.4 %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86.4 %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66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Sự liên quan câu trả lời</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80.9 %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87.5 %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86.2 %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34010">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chính xác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76.2 %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86.3 %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84.3 %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85.7 %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702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Độ truy xuất đúng ngữ cảnh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86.4 %</a:t>
                      </a:r>
                      <a:endParaRPr 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97.2 %</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93.7 %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96.7 %</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row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trung bình</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8.3 s</a:t>
                      </a:r>
                      <a:endPar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6.2 s</a:t>
                      </a:r>
                      <a:endParaRPr lang="en-US" alt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7.9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6.3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r h="324485">
                <a:tc v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gridSpan="2">
                  <a:txBody>
                    <a:bodyPr/>
                    <a:p>
                      <a:pPr marL="0" marR="0" lvl="0" indent="0" algn="l"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Thời gian của 95% mẫu thử</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hMerge="1">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6">
                        <a:lumMod val="60000"/>
                        <a:lumOff val="4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rPr>
                        <a:t>14.3 s</a:t>
                      </a:r>
                      <a:endParaRPr lang="en-US" altLang="en-US" sz="1000" b="0" i="0" u="none" strike="noStrike" cap="none">
                        <a:solidFill>
                          <a:srgbClr val="1A202C"/>
                        </a:solidFill>
                        <a:highlight>
                          <a:srgbClr val="FF00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9.4 s</a:t>
                      </a:r>
                      <a:endParaRPr lang="en-US" alt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rPr>
                        <a:t>12.8 s</a:t>
                      </a:r>
                      <a:endParaRPr lang="en-US" sz="1000" b="0" i="0" u="none" strike="noStrike" cap="none">
                        <a:solidFill>
                          <a:srgbClr val="1A202C"/>
                        </a:solidFill>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4">
                        <a:lumMod val="40000"/>
                        <a:lumOff val="60000"/>
                      </a:schemeClr>
                    </a:solidFill>
                  </a:tcPr>
                </a:tc>
                <a:tc>
                  <a:txBody>
                    <a:bodyPr/>
                    <a:p>
                      <a:pPr marL="0" marR="0" lvl="0" indent="0" algn="ctr" rtl="0">
                        <a:spcBef>
                          <a:spcPts val="0"/>
                        </a:spcBef>
                        <a:spcAft>
                          <a:spcPts val="0"/>
                        </a:spcAft>
                        <a:buNone/>
                      </a:pPr>
                      <a:r>
                        <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rPr>
                        <a:t>9.3 s</a:t>
                      </a:r>
                      <a:endParaRPr lang="en-US" sz="1000" b="0" i="0" u="none" strike="noStrike" cap="none">
                        <a:solidFill>
                          <a:srgbClr val="1A202C"/>
                        </a:solidFill>
                        <a:highlight>
                          <a:srgbClr val="00FF00"/>
                        </a:highlight>
                        <a:latin typeface="Inter" panose="02000503000000020004"/>
                        <a:ea typeface="Inter" panose="02000503000000020004"/>
                        <a:cs typeface="Inter" panose="02000503000000020004"/>
                        <a:sym typeface="Inter" panose="02000503000000020004"/>
                      </a:endParaRPr>
                    </a:p>
                  </a:txBody>
                  <a:tcPr marL="63500" marR="63500" marT="25400" marB="25400" anchor="ctr">
                    <a:lnL w="12700" cap="flat" cmpd="sng">
                      <a:solidFill>
                        <a:schemeClr val="tx1"/>
                      </a:solidFill>
                      <a:prstDash val="solid"/>
                      <a:round/>
                      <a:headEnd type="none" w="sm" len="sm"/>
                      <a:tailEnd type="none" w="sm" len="sm"/>
                    </a:lnL>
                    <a:lnR w="12700" cap="flat" cmpd="sng">
                      <a:solidFill>
                        <a:schemeClr val="tx1"/>
                      </a:solidFill>
                      <a:prstDash val="solid"/>
                      <a:round/>
                      <a:headEnd type="none" w="sm" len="sm"/>
                      <a:tailEnd type="none" w="sm" len="sm"/>
                    </a:lnR>
                    <a:lnT w="12700" cap="flat" cmpd="sng">
                      <a:solidFill>
                        <a:schemeClr val="tx1"/>
                      </a:solidFill>
                      <a:prstDash val="solid"/>
                      <a:round/>
                      <a:headEnd type="none" w="sm" len="sm"/>
                      <a:tailEnd type="none" w="sm" len="sm"/>
                    </a:lnT>
                    <a:lnB w="12700" cap="flat" cmpd="sng">
                      <a:solidFill>
                        <a:schemeClr val="tx1"/>
                      </a:solidFill>
                      <a:prstDash val="solid"/>
                      <a:round/>
                      <a:headEnd type="none" w="sm" len="sm"/>
                      <a:tailEnd type="none" w="sm" len="sm"/>
                    </a:lnB>
                    <a:solidFill>
                      <a:schemeClr val="accent3">
                        <a:lumMod val="40000"/>
                        <a:lumOff val="60000"/>
                      </a:schemeClr>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88" name="Shape 188"/>
        <p:cNvGrpSpPr/>
        <p:nvPr/>
      </p:nvGrpSpPr>
      <p:grpSpPr>
        <a:xfrm>
          <a:off x="0" y="0"/>
          <a:ext cx="0" cy="0"/>
          <a:chOff x="0" y="0"/>
          <a:chExt cx="0" cy="0"/>
        </a:xfrm>
      </p:grpSpPr>
      <p:sp>
        <p:nvSpPr>
          <p:cNvPr id="190" name="Google Shape;190;p22"/>
          <p:cNvSpPr txBox="1"/>
          <p:nvPr/>
        </p:nvSpPr>
        <p:spPr>
          <a:xfrm>
            <a:off x="581025" y="225425"/>
            <a:ext cx="11581447"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Kết quả demo dự án</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91" name="Google Shape;191;p22"/>
          <p:cNvSpPr/>
          <p:nvPr/>
        </p:nvSpPr>
        <p:spPr>
          <a:xfrm>
            <a:off x="581025" y="82550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 name="Text Box 0"/>
          <p:cNvSpPr txBox="1"/>
          <p:nvPr/>
        </p:nvSpPr>
        <p:spPr>
          <a:xfrm>
            <a:off x="3048000" y="6319520"/>
            <a:ext cx="6096000" cy="306705"/>
          </a:xfrm>
          <a:prstGeom prst="rect">
            <a:avLst/>
          </a:prstGeom>
          <a:noFill/>
        </p:spPr>
        <p:txBody>
          <a:bodyPr wrap="square" rtlCol="0" anchor="t">
            <a:spAutoFit/>
          </a:bodyPr>
          <a:p>
            <a:r>
              <a:rPr lang="en-US" altLang="en-US"/>
              <a:t>Link Youtube:</a:t>
            </a:r>
            <a:r>
              <a:rPr lang="en-US" altLang="en-US">
                <a:hlinkClick r:id="rId1" tooltip="" action="ppaction://hlinkfile"/>
              </a:rPr>
              <a:t> https://www.youtube.com/watch?v=kW8ot0YEB9c</a:t>
            </a:r>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218" name="Shape 218"/>
        <p:cNvGrpSpPr/>
        <p:nvPr/>
      </p:nvGrpSpPr>
      <p:grpSpPr>
        <a:xfrm>
          <a:off x="0" y="0"/>
          <a:ext cx="0" cy="0"/>
          <a:chOff x="0" y="0"/>
          <a:chExt cx="0" cy="0"/>
        </a:xfrm>
      </p:grpSpPr>
      <p:pic>
        <p:nvPicPr>
          <p:cNvPr id="219" name="Google Shape;219;p24"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20" name="Google Shape;220;p24"/>
          <p:cNvSpPr txBox="1"/>
          <p:nvPr/>
        </p:nvSpPr>
        <p:spPr>
          <a:xfrm>
            <a:off x="305276" y="1918394"/>
            <a:ext cx="11581447"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Q&amp;A</a:t>
            </a:r>
            <a:endParaRPr lang="en-US" sz="75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221" name="Google Shape;221;p24"/>
          <p:cNvSpPr txBox="1"/>
          <p:nvPr/>
        </p:nvSpPr>
        <p:spPr>
          <a:xfrm>
            <a:off x="581025" y="3366194"/>
            <a:ext cx="11029950" cy="59055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0" i="0" u="none" strike="noStrike" cap="none">
                <a:solidFill>
                  <a:srgbClr val="1A202C"/>
                </a:solidFill>
                <a:latin typeface="Inter SemiBold" panose="02000503000000020004"/>
                <a:ea typeface="Inter SemiBold" panose="02000503000000020004"/>
                <a:cs typeface="Inter SemiBold" panose="02000503000000020004"/>
                <a:sym typeface="Inter SemiBold" panose="02000503000000020004"/>
              </a:rPr>
              <a:t>Cảm ơn Hội đồng đã lắng nghe!</a:t>
            </a:r>
            <a:endParaRPr lang="en-US" sz="2400" b="0" i="0" u="none" strike="noStrike" cap="none">
              <a:solidFill>
                <a:srgbClr val="1A202C"/>
              </a:solidFill>
              <a:latin typeface="Inter SemiBold" panose="02000503000000020004"/>
              <a:ea typeface="Inter SemiBold" panose="02000503000000020004"/>
              <a:cs typeface="Inter SemiBold" panose="02000503000000020004"/>
              <a:sym typeface="Inter SemiBold" panose="02000503000000020004"/>
            </a:endParaRPr>
          </a:p>
        </p:txBody>
      </p:sp>
      <p:sp>
        <p:nvSpPr>
          <p:cNvPr id="222" name="Google Shape;222;p24"/>
          <p:cNvSpPr txBox="1"/>
          <p:nvPr/>
        </p:nvSpPr>
        <p:spPr>
          <a:xfrm>
            <a:off x="581025" y="4444305"/>
            <a:ext cx="11029950" cy="36893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rPr>
              <a:t>Email liên hệ: nguyentrungtin1002@gmail.com</a:t>
            </a:r>
            <a:endParaRPr lang="en-US" sz="1500" b="0" i="0" u="none" strike="noStrike" cap="none">
              <a:solidFill>
                <a:srgbClr val="5A6275"/>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DFBF7"/>
        </a:solidFill>
        <a:effectLst/>
      </p:bgPr>
    </p:bg>
    <p:spTree>
      <p:nvGrpSpPr>
        <p:cNvPr id="113" name="Shape 113"/>
        <p:cNvGrpSpPr/>
        <p:nvPr/>
      </p:nvGrpSpPr>
      <p:grpSpPr>
        <a:xfrm>
          <a:off x="0" y="0"/>
          <a:ext cx="0" cy="0"/>
          <a:chOff x="0" y="0"/>
          <a:chExt cx="0" cy="0"/>
        </a:xfrm>
      </p:grpSpPr>
      <p:pic>
        <p:nvPicPr>
          <p:cNvPr id="114" name="Google Shape;114;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18" name="Google Shape;118;p16"/>
          <p:cNvSpPr txBox="1"/>
          <p:nvPr/>
        </p:nvSpPr>
        <p:spPr>
          <a:xfrm>
            <a:off x="581025" y="184785"/>
            <a:ext cx="11581447"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rPr>
              <a:t>Kiến trúc tổng quát hệ thống</a:t>
            </a:r>
            <a:endParaRPr lang="en-US" sz="3300" b="1" i="0" u="none" strike="noStrike" cap="none">
              <a:solidFill>
                <a:srgbClr val="2C5282"/>
              </a:solidFill>
              <a:latin typeface="Urbanist" panose="020B0A04040200000203"/>
              <a:ea typeface="Urbanist" panose="020B0A04040200000203"/>
              <a:cs typeface="Urbanist" panose="020B0A04040200000203"/>
              <a:sym typeface="Urbanist" panose="020B0A04040200000203"/>
            </a:endParaRPr>
          </a:p>
        </p:txBody>
      </p:sp>
      <p:sp>
        <p:nvSpPr>
          <p:cNvPr id="119" name="Google Shape;119;p16"/>
          <p:cNvSpPr/>
          <p:nvPr/>
        </p:nvSpPr>
        <p:spPr>
          <a:xfrm>
            <a:off x="581025" y="784860"/>
            <a:ext cx="11029950" cy="19050"/>
          </a:xfrm>
          <a:prstGeom prst="rect">
            <a:avLst/>
          </a:prstGeom>
          <a:solidFill>
            <a:srgbClr val="E2DBC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 name="Text Box 5"/>
          <p:cNvSpPr txBox="1"/>
          <p:nvPr/>
        </p:nvSpPr>
        <p:spPr>
          <a:xfrm>
            <a:off x="4090670" y="6327140"/>
            <a:ext cx="4010025" cy="521970"/>
          </a:xfrm>
          <a:prstGeom prst="rect">
            <a:avLst/>
          </a:prstGeom>
          <a:noFill/>
        </p:spPr>
        <p:txBody>
          <a:bodyPr wrap="square" rtlCol="0">
            <a:spAutoFit/>
          </a:bodyPr>
          <a:p>
            <a:pPr algn="ctr"/>
            <a:r>
              <a:rPr lang="en-US"/>
              <a:t>Sơ đồ kiến trúc ứng dụng AI với RAG và LLM (cải tiến phân loại câu hỏi)</a:t>
            </a:r>
            <a:endParaRPr lang="en-US"/>
          </a:p>
        </p:txBody>
      </p:sp>
      <p:pic>
        <p:nvPicPr>
          <p:cNvPr id="2" name="Picture 1"/>
          <p:cNvPicPr>
            <a:picLocks noChangeAspect="1"/>
          </p:cNvPicPr>
          <p:nvPr/>
        </p:nvPicPr>
        <p:blipFill>
          <a:blip r:embed="rId2"/>
          <a:stretch>
            <a:fillRect/>
          </a:stretch>
        </p:blipFill>
        <p:spPr>
          <a:xfrm>
            <a:off x="1254760" y="803910"/>
            <a:ext cx="9542780" cy="5523230"/>
          </a:xfrm>
          <a:prstGeom prst="rect">
            <a:avLst/>
          </a:prstGeom>
        </p:spPr>
      </p:pic>
    </p:spTree>
  </p:cSld>
  <p:clrMapOvr>
    <a:masterClrMapping/>
  </p:clrMapOvr>
  <p:transition/>
</p:sld>
</file>

<file path=ppt/tags/tag1.xml><?xml version="1.0" encoding="utf-8"?>
<p:tagLst xmlns:p="http://schemas.openxmlformats.org/presentationml/2006/main">
  <p:tag name="KSO_WM_DIAGRAM_VIRTUALLY_FRAME" val="{&quot;height&quot;:374.9,&quot;left&quot;:45.75,&quot;top&quot;:115.3,&quot;width&quot;:868.5}"/>
</p:tagLst>
</file>

<file path=ppt/tags/tag2.xml><?xml version="1.0" encoding="utf-8"?>
<p:tagLst xmlns:p="http://schemas.openxmlformats.org/presentationml/2006/main">
  <p:tag name="KSO_WM_DIAGRAM_VIRTUALLY_FRAME" val="{&quot;height&quot;:374.9,&quot;left&quot;:45.75,&quot;top&quot;:115.3,&quot;width&quot;:868.5}"/>
</p:tagLst>
</file>

<file path=ppt/tags/tag3.xml><?xml version="1.0" encoding="utf-8"?>
<p:tagLst xmlns:p="http://schemas.openxmlformats.org/presentationml/2006/main">
  <p:tag name="KSO_WM_DIAGRAM_VIRTUALLY_FRAME" val="{&quot;height&quot;:374.9,&quot;left&quot;:45.75,&quot;top&quot;:115.3,&quot;width&quot;:868.5}"/>
</p:tagLst>
</file>

<file path=ppt/tags/tag4.xml><?xml version="1.0" encoding="utf-8"?>
<p:tagLst xmlns:p="http://schemas.openxmlformats.org/presentationml/2006/main">
  <p:tag name="KSO_WM_DIAGRAM_VIRTUALLY_FRAME" val="{&quot;height&quot;:374.9,&quot;left&quot;:45.75,&quot;top&quot;:115.3,&quot;width&quot;:868.5}"/>
</p:tagLst>
</file>

<file path=ppt/tags/tag5.xml><?xml version="1.0" encoding="utf-8"?>
<p:tagLst xmlns:p="http://schemas.openxmlformats.org/presentationml/2006/main">
  <p:tag name="KSO_WM_DIAGRAM_VIRTUALLY_FRAME" val="{&quot;height&quot;:374.9,&quot;left&quot;:45.75,&quot;top&quot;:115.3,&quot;width&quot;:868.5}"/>
</p:tagLst>
</file>

<file path=ppt/tags/tag6.xml><?xml version="1.0" encoding="utf-8"?>
<p:tagLst xmlns:p="http://schemas.openxmlformats.org/presentationml/2006/main">
  <p:tag name="KSO_WM_DIAGRAM_VIRTUALLY_FRAME" val="{&quot;height&quot;:374.9,&quot;left&quot;:45.75,&quot;top&quot;:115.3,&quot;width&quot;:868.5}"/>
</p:tagLst>
</file>

<file path=ppt/tags/tag7.xml><?xml version="1.0" encoding="utf-8"?>
<p:tagLst xmlns:p="http://schemas.openxmlformats.org/presentationml/2006/main">
  <p:tag name="KSO_WM_DIAGRAM_VIRTUALLY_FRAME" val="{&quot;height&quot;:374.9,&quot;left&quot;:45.75,&quot;top&quot;:115.3,&quot;width&quot;:868.5}"/>
</p:tagLst>
</file>

<file path=ppt/tags/tag8.xml><?xml version="1.0" encoding="utf-8"?>
<p:tagLst xmlns:p="http://schemas.openxmlformats.org/presentationml/2006/main">
  <p:tag name="KSO_WM_DIAGRAM_VIRTUALLY_FRAME" val="{&quot;height&quot;:374.9,&quot;left&quot;:45.75,&quot;top&quot;:115.3,&quot;width&quot;:868.5}"/>
</p:tagLst>
</file>

<file path=ppt/tags/tag9.xml><?xml version="1.0" encoding="utf-8"?>
<p:tagLst xmlns:p="http://schemas.openxmlformats.org/presentationml/2006/main">
  <p:tag name="KSO_WM_DIAGRAM_VIRTUALLY_FRAME" val="{&quot;height&quot;:374.9,&quot;left&quot;:45.75,&quot;top&quot;:115.3,&quot;width&quot;:868.5}"/>
</p:tagLst>
</file>

<file path=ppt/tags/tag10.xml><?xml version="1.0" encoding="utf-8"?>
<p:tagLst xmlns:p="http://schemas.openxmlformats.org/presentationml/2006/main">
  <p:tag name="KSO_WM_DIAGRAM_VIRTUALLY_FRAME" val="{&quot;height&quot;:236.25,&quot;left&quot;:45.75,&quot;top&quot;:191.25,&quot;width&quot;:868.5116535433069}"/>
</p:tagLst>
</file>

<file path=ppt/tags/tag11.xml><?xml version="1.0" encoding="utf-8"?>
<p:tagLst xmlns:p="http://schemas.openxmlformats.org/presentationml/2006/main">
  <p:tag name="KSO_WM_DIAGRAM_VIRTUALLY_FRAME" val="{&quot;height&quot;:236.25,&quot;left&quot;:45.75,&quot;top&quot;:191.25,&quot;width&quot;:868.5116535433069}"/>
</p:tagLst>
</file>

<file path=ppt/tags/tag12.xml><?xml version="1.0" encoding="utf-8"?>
<p:tagLst xmlns:p="http://schemas.openxmlformats.org/presentationml/2006/main">
  <p:tag name="KSO_WM_DIAGRAM_VIRTUALLY_FRAME" val="{&quot;height&quot;:236.25,&quot;left&quot;:45.75,&quot;top&quot;:191.25,&quot;width&quot;:868.5116535433069}"/>
</p:tagLst>
</file>

<file path=ppt/tags/tag13.xml><?xml version="1.0" encoding="utf-8"?>
<p:tagLst xmlns:p="http://schemas.openxmlformats.org/presentationml/2006/main">
  <p:tag name="KSO_WM_DIAGRAM_VIRTUALLY_FRAME" val="{&quot;height&quot;:236.25,&quot;left&quot;:45.75,&quot;top&quot;:191.25,&quot;width&quot;:868.5116535433069}"/>
</p:tagLst>
</file>

<file path=ppt/tags/tag14.xml><?xml version="1.0" encoding="utf-8"?>
<p:tagLst xmlns:p="http://schemas.openxmlformats.org/presentationml/2006/main">
  <p:tag name="KSO_WM_DIAGRAM_VIRTUALLY_FRAME" val="{&quot;height&quot;:236.25,&quot;left&quot;:45.75,&quot;top&quot;:191.25,&quot;width&quot;:868.5116535433069}"/>
</p:tagLst>
</file>

<file path=ppt/tags/tag15.xml><?xml version="1.0" encoding="utf-8"?>
<p:tagLst xmlns:p="http://schemas.openxmlformats.org/presentationml/2006/main">
  <p:tag name="KSO_WM_DIAGRAM_VIRTUALLY_FRAME" val="{&quot;height&quot;:236.25,&quot;left&quot;:45.75,&quot;top&quot;:191.25,&quot;width&quot;:868.5116535433069}"/>
</p:tagLst>
</file>

<file path=ppt/tags/tag16.xml><?xml version="1.0" encoding="utf-8"?>
<p:tagLst xmlns:p="http://schemas.openxmlformats.org/presentationml/2006/main">
  <p:tag name="KSO_WM_DIAGRAM_VIRTUALLY_FRAME" val="{&quot;height&quot;:114.55,&quot;left&quot;:45.75,&quot;top&quot;:254.62496062992128,&quot;width&quot;:415.5}"/>
</p:tagLst>
</file>

<file path=ppt/tags/tag17.xml><?xml version="1.0" encoding="utf-8"?>
<p:tagLst xmlns:p="http://schemas.openxmlformats.org/presentationml/2006/main">
  <p:tag name="KSO_WM_DIAGRAM_VIRTUALLY_FRAME" val="{&quot;height&quot;:114.55,&quot;left&quot;:45.75,&quot;top&quot;:254.62496062992128,&quot;width&quot;:415.5}"/>
</p:tagLst>
</file>

<file path=ppt/tags/tag18.xml><?xml version="1.0" encoding="utf-8"?>
<p:tagLst xmlns:p="http://schemas.openxmlformats.org/presentationml/2006/main">
  <p:tag name="KSO_WM_DIAGRAM_VIRTUALLY_FRAME" val="{&quot;height&quot;:114.55,&quot;left&quot;:45.75,&quot;top&quot;:254.62496062992128,&quot;width&quot;:415.5}"/>
</p:tagLst>
</file>

<file path=ppt/tags/tag19.xml><?xml version="1.0" encoding="utf-8"?>
<p:tagLst xmlns:p="http://schemas.openxmlformats.org/presentationml/2006/main">
  <p:tag name="KSO_WM_DIAGRAM_VIRTUALLY_FRAME" val="{&quot;height&quot;:114.55,&quot;left&quot;:45.75,&quot;top&quot;:254.62496062992128,&quot;width&quot;:415.5}"/>
</p:tagLst>
</file>

<file path=ppt/tags/tag20.xml><?xml version="1.0" encoding="utf-8"?>
<p:tagLst xmlns:p="http://schemas.openxmlformats.org/presentationml/2006/main">
  <p:tag name="KSO_WM_DIAGRAM_VIRTUALLY_FRAME" val="{&quot;height&quot;:114.55,&quot;left&quot;:45.75,&quot;top&quot;:254.62496062992128,&quot;width&quot;:415.5}"/>
</p:tagLst>
</file>

<file path=ppt/tags/tag21.xml><?xml version="1.0" encoding="utf-8"?>
<p:tagLst xmlns:p="http://schemas.openxmlformats.org/presentationml/2006/main">
  <p:tag name="KSO_WM_DIAGRAM_VIRTUALLY_FRAME" val="{&quot;height&quot;:114.55,&quot;left&quot;:45.75,&quot;top&quot;:254.62496062992128,&quot;width&quot;:415.5}"/>
</p:tagLst>
</file>

<file path=ppt/tags/tag22.xml><?xml version="1.0" encoding="utf-8"?>
<p:tagLst xmlns:p="http://schemas.openxmlformats.org/presentationml/2006/main">
  <p:tag name="KSO_WM_DIAGRAM_VIRTUALLY_FRAME" val="{&quot;height&quot;:310.45,&quot;left&quot;:31.7,&quot;top&quot;:53.67496062992126,&quot;width&quot;:882.55}"/>
</p:tagLst>
</file>

<file path=ppt/tags/tag23.xml><?xml version="1.0" encoding="utf-8"?>
<p:tagLst xmlns:p="http://schemas.openxmlformats.org/presentationml/2006/main">
  <p:tag name="KSO_WM_DIAGRAM_VIRTUALLY_FRAME" val="{&quot;height&quot;:310.45,&quot;left&quot;:31.7,&quot;top&quot;:53.67496062992126,&quot;width&quot;:882.55}"/>
</p:tagLst>
</file>

<file path=ppt/tags/tag24.xml><?xml version="1.0" encoding="utf-8"?>
<p:tagLst xmlns:p="http://schemas.openxmlformats.org/presentationml/2006/main">
  <p:tag name="KSO_WM_DIAGRAM_VIRTUALLY_FRAME" val="{&quot;height&quot;:310.45,&quot;left&quot;:31.7,&quot;top&quot;:53.67496062992126,&quot;width&quot;:882.55}"/>
</p:tagLst>
</file>

<file path=ppt/tags/tag25.xml><?xml version="1.0" encoding="utf-8"?>
<p:tagLst xmlns:p="http://schemas.openxmlformats.org/presentationml/2006/main">
  <p:tag name="KSO_WM_DIAGRAM_VIRTUALLY_FRAME" val="{&quot;height&quot;:310.45,&quot;left&quot;:31.7,&quot;top&quot;:53.67496062992126,&quot;width&quot;:882.55}"/>
</p:tagLst>
</file>

<file path=ppt/tags/tag26.xml><?xml version="1.0" encoding="utf-8"?>
<p:tagLst xmlns:p="http://schemas.openxmlformats.org/presentationml/2006/main">
  <p:tag name="KSO_WM_DIAGRAM_VIRTUALLY_FRAME" val="{&quot;height&quot;:310.45,&quot;left&quot;:31.7,&quot;top&quot;:53.67496062992126,&quot;width&quot;:882.55}"/>
</p:tagLst>
</file>

<file path=ppt/tags/tag27.xml><?xml version="1.0" encoding="utf-8"?>
<p:tagLst xmlns:p="http://schemas.openxmlformats.org/presentationml/2006/main">
  <p:tag name="KSO_WM_DIAGRAM_VIRTUALLY_FRAME" val="{&quot;height&quot;:191.00000000000003,&quot;left&quot;:45.75,&quot;top&quot;:173.12496062992125,&quot;width&quot;:604.35}"/>
</p:tagLst>
</file>

<file path=ppt/tags/tag28.xml><?xml version="1.0" encoding="utf-8"?>
<p:tagLst xmlns:p="http://schemas.openxmlformats.org/presentationml/2006/main">
  <p:tag name="KSO_WM_DIAGRAM_VIRTUALLY_FRAME" val="{&quot;height&quot;:191.00000000000003,&quot;left&quot;:45.75,&quot;top&quot;:173.12496062992125,&quot;width&quot;:604.35}"/>
</p:tagLst>
</file>

<file path=ppt/tags/tag29.xml><?xml version="1.0" encoding="utf-8"?>
<p:tagLst xmlns:p="http://schemas.openxmlformats.org/presentationml/2006/main">
  <p:tag name="TABLE_ENDDRAG_ORIGIN_RECT" val="798*329"/>
  <p:tag name="TABLE_ENDDRAG_RECT" val="109*153*798*329"/>
</p:tagLst>
</file>

<file path=ppt/tags/tag30.xml><?xml version="1.0" encoding="utf-8"?>
<p:tagLst xmlns:p="http://schemas.openxmlformats.org/presentationml/2006/main">
  <p:tag name="TABLE_ENDDRAG_ORIGIN_RECT" val="868*259"/>
  <p:tag name="TABLE_ENDDRAG_RECT" val="45*214*868*259"/>
</p:tagLst>
</file>

<file path=ppt/tags/tag31.xml><?xml version="1.0" encoding="utf-8"?>
<p:tagLst xmlns:p="http://schemas.openxmlformats.org/presentationml/2006/main">
  <p:tag name="TABLE_ENDDRAG_ORIGIN_RECT" val="286*114"/>
  <p:tag name="TABLE_ENDDRAG_RECT" val="130*279*287*114"/>
</p:tagLst>
</file>

<file path=ppt/tags/tag32.xml><?xml version="1.0" encoding="utf-8"?>
<p:tagLst xmlns:p="http://schemas.openxmlformats.org/presentationml/2006/main">
  <p:tag name="TABLE_ENDDRAG_ORIGIN_RECT" val="650*188"/>
  <p:tag name="TABLE_ENDDRAG_RECT" val="45*217*650*188"/>
</p:tagLst>
</file>

<file path=ppt/tags/tag33.xml><?xml version="1.0" encoding="utf-8"?>
<p:tagLst xmlns:p="http://schemas.openxmlformats.org/presentationml/2006/main">
  <p:tag name="TABLE_ENDDRAG_ORIGIN_RECT" val="387*57"/>
  <p:tag name="TABLE_ENDDRAG_RECT" val="527*200*387*57"/>
</p:tagLst>
</file>

<file path=ppt/tags/tag34.xml><?xml version="1.0" encoding="utf-8"?>
<p:tagLst xmlns:p="http://schemas.openxmlformats.org/presentationml/2006/main">
  <p:tag name="TABLE_ENDDRAG_ORIGIN_RECT" val="536*216"/>
  <p:tag name="TABLE_ENDDRAG_RECT" val="45*280*536*216"/>
</p:tagLst>
</file>

<file path=ppt/tags/tag35.xml><?xml version="1.0" encoding="utf-8"?>
<p:tagLst xmlns:p="http://schemas.openxmlformats.org/presentationml/2006/main">
  <p:tag name="TABLE_ENDDRAG_ORIGIN_RECT" val="820*325"/>
  <p:tag name="TABLE_ENDDRAG_RECT" val="73*135*820*325"/>
</p:tagLst>
</file>

<file path=ppt/tags/tag36.xml><?xml version="1.0" encoding="utf-8"?>
<p:tagLst xmlns:p="http://schemas.openxmlformats.org/presentationml/2006/main">
  <p:tag name="TABLE_ENDDRAG_ORIGIN_RECT" val="820*325"/>
  <p:tag name="TABLE_ENDDRAG_RECT" val="73*135*820*325"/>
</p:tagLst>
</file>

<file path=ppt/tags/tag37.xml><?xml version="1.0" encoding="utf-8"?>
<p:tagLst xmlns:p="http://schemas.openxmlformats.org/presentationml/2006/main">
  <p:tag name="TABLE_ENDDRAG_ORIGIN_RECT" val="455*206"/>
  <p:tag name="TABLE_ENDDRAG_RECT" val="459*263*455*206"/>
</p:tagLst>
</file>

<file path=ppt/tags/tag38.xml><?xml version="1.0" encoding="utf-8"?>
<p:tagLst xmlns:p="http://schemas.openxmlformats.org/presentationml/2006/main">
  <p:tag name="TABLE_ENDDRAG_ORIGIN_RECT" val="395*118"/>
  <p:tag name="TABLE_ENDDRAG_RECT" val="45*198*396*118"/>
</p:tagLst>
</file>

<file path=ppt/tags/tag39.xml><?xml version="1.0" encoding="utf-8"?>
<p:tagLst xmlns:p="http://schemas.openxmlformats.org/presentationml/2006/main">
  <p:tag name="TABLE_ENDDRAG_ORIGIN_RECT" val="716*263"/>
  <p:tag name="TABLE_ENDDRAG_RECT" val="144*195*716*263"/>
</p:tagLst>
</file>

<file path=ppt/tags/tag40.xml><?xml version="1.0" encoding="utf-8"?>
<p:tagLst xmlns:p="http://schemas.openxmlformats.org/presentationml/2006/main">
  <p:tag name="TABLE_ENDDRAG_ORIGIN_RECT" val="680*432"/>
  <p:tag name="TABLE_ENDDRAG_RECT" val="45*68*680*432"/>
</p:tagLst>
</file>

<file path=ppt/tags/tag41.xml><?xml version="1.0" encoding="utf-8"?>
<p:tagLst xmlns:p="http://schemas.openxmlformats.org/presentationml/2006/main">
  <p:tag name="TABLE_ENDDRAG_ORIGIN_RECT" val="681*341"/>
  <p:tag name="TABLE_ENDDRAG_RECT" val="105*105*681*341"/>
</p:tagLst>
</file>

<file path=ppt/tags/tag42.xml><?xml version="1.0" encoding="utf-8"?>
<p:tagLst xmlns:p="http://schemas.openxmlformats.org/presentationml/2006/main">
  <p:tag name="TABLE_ENDDRAG_ORIGIN_RECT" val="681*341"/>
  <p:tag name="TABLE_ENDDRAG_RECT" val="105*105*681*341"/>
</p:tagLst>
</file>

<file path=ppt/tags/tag43.xml><?xml version="1.0" encoding="utf-8"?>
<p:tagLst xmlns:p="http://schemas.openxmlformats.org/presentationml/2006/main">
  <p:tag name="TABLE_ENDDRAG_ORIGIN_RECT" val="681*341"/>
  <p:tag name="TABLE_ENDDRAG_RECT" val="105*105*681*341"/>
</p:tagLst>
</file>

<file path=ppt/tags/tag44.xml><?xml version="1.0" encoding="utf-8"?>
<p:tagLst xmlns:p="http://schemas.openxmlformats.org/presentationml/2006/main">
  <p:tag name="TABLE_ENDDRAG_ORIGIN_RECT" val="681*341"/>
  <p:tag name="TABLE_ENDDRAG_RECT" val="105*105*681*341"/>
</p:tagLst>
</file>

<file path=ppt/tags/tag45.xml><?xml version="1.0" encoding="utf-8"?>
<p:tagLst xmlns:p="http://schemas.openxmlformats.org/presentationml/2006/main">
  <p:tag name="TABLE_ENDDRAG_ORIGIN_RECT" val="681*341"/>
  <p:tag name="TABLE_ENDDRAG_RECT" val="105*105*681*341"/>
</p:tagLst>
</file>

<file path=ppt/tags/tag46.xml><?xml version="1.0" encoding="utf-8"?>
<p:tagLst xmlns:p="http://schemas.openxmlformats.org/presentationml/2006/main">
  <p:tag name="TABLE_ENDDRAG_ORIGIN_RECT" val="681*341"/>
  <p:tag name="TABLE_ENDDRAG_RECT" val="105*105*681*341"/>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30721</Words>
  <Application>WPS Presentation</Application>
  <PresentationFormat/>
  <Paragraphs>1883</Paragraphs>
  <Slides>42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42</vt:i4>
      </vt:variant>
    </vt:vector>
  </HeadingPairs>
  <TitlesOfParts>
    <vt:vector size="56" baseType="lpstr">
      <vt:lpstr>Arial</vt:lpstr>
      <vt:lpstr>SimSun</vt:lpstr>
      <vt:lpstr>Wingdings</vt:lpstr>
      <vt:lpstr>Arial</vt:lpstr>
      <vt:lpstr>Calibri</vt:lpstr>
      <vt:lpstr>Inter SemiBold</vt:lpstr>
      <vt:lpstr>Urbanist</vt:lpstr>
      <vt:lpstr>Inter Medium</vt:lpstr>
      <vt:lpstr>Inter</vt:lpstr>
      <vt:lpstr>Microsoft YaHei</vt:lpstr>
      <vt:lpstr>Arial Unicode MS</vt:lpstr>
      <vt:lpstr>Cambria Math</vt:lpstr>
      <vt:lpstr>Segoe UI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tin nguyentrung</cp:lastModifiedBy>
  <cp:revision>698</cp:revision>
  <dcterms:created xsi:type="dcterms:W3CDTF">2026-06-14T10:58:00Z</dcterms:created>
  <dcterms:modified xsi:type="dcterms:W3CDTF">2026-07-20T18:21:01Z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494302C7DB4B40E698054F6C7C94A7E2_13</vt:lpwstr>
  </property>
  <property fmtid="{D5CDD505-2E9C-101B-9397-08002B2CF9AE}" pid="3" name="KSOProductBuildVer">
    <vt:lpwstr>1033-12.2.0.23206</vt:lpwstr>
  </property>
</Properties>
</file>